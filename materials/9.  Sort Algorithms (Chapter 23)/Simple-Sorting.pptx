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74" r:id="rId10"/>
    <p:sldId id="263" r:id="rId11"/>
    <p:sldId id="264" r:id="rId12"/>
    <p:sldId id="265" r:id="rId13"/>
    <p:sldId id="266" r:id="rId14"/>
    <p:sldId id="267" r:id="rId15"/>
    <p:sldId id="275" r:id="rId16"/>
    <p:sldId id="268" r:id="rId17"/>
    <p:sldId id="277" r:id="rId18"/>
    <p:sldId id="269" r:id="rId19"/>
    <p:sldId id="270" r:id="rId20"/>
    <p:sldId id="276" r:id="rId21"/>
    <p:sldId id="272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>
      <p:cViewPr varScale="1">
        <p:scale>
          <a:sx n="114" d="100"/>
          <a:sy n="114" d="100"/>
        </p:scale>
        <p:origin x="180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57754" y="2125472"/>
            <a:ext cx="442849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97654" y="3465982"/>
            <a:ext cx="354869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1715" y="193040"/>
            <a:ext cx="456056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0002" y="1060958"/>
            <a:ext cx="7356475" cy="3789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352" y="6522493"/>
            <a:ext cx="254634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667000" y="2438400"/>
            <a:ext cx="3548691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</a:t>
            </a:r>
            <a:r>
              <a:rPr spc="-40" dirty="0"/>
              <a:t> </a:t>
            </a:r>
            <a:r>
              <a:rPr spc="-5" dirty="0"/>
              <a:t>Sorting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8491" y="231140"/>
            <a:ext cx="2286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2" y="1001522"/>
            <a:ext cx="7980680" cy="44970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82550">
              <a:lnSpc>
                <a:spcPts val="2500"/>
              </a:lnSpc>
              <a:spcBef>
                <a:spcPts val="300"/>
              </a:spcBef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Sorting </a:t>
            </a:r>
            <a:r>
              <a:rPr sz="2200" spc="-5" dirty="0">
                <a:latin typeface="Times New Roman"/>
                <a:cs typeface="Times New Roman"/>
              </a:rPr>
              <a:t>is the process of re-arranging data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items such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 they are in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particular order.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Sorting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make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searching</a:t>
            </a:r>
            <a:r>
              <a:rPr sz="2200" dirty="0">
                <a:latin typeface="Times New Roman"/>
                <a:cs typeface="Times New Roman"/>
              </a:rPr>
              <a:t> easy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fast.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Why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sorting?</a:t>
            </a:r>
            <a:endParaRPr sz="2200">
              <a:latin typeface="Times New Roman"/>
              <a:cs typeface="Times New Roman"/>
            </a:endParaRPr>
          </a:p>
          <a:p>
            <a:pPr marL="414020" indent="-230504">
              <a:lnSpc>
                <a:spcPct val="100000"/>
              </a:lnSpc>
              <a:spcBef>
                <a:spcPts val="1750"/>
              </a:spcBef>
              <a:buClr>
                <a:srgbClr val="010000"/>
              </a:buClr>
              <a:buChar char="–"/>
              <a:tabLst>
                <a:tab pos="414655" algn="l"/>
              </a:tabLst>
            </a:pPr>
            <a:r>
              <a:rPr sz="2100" dirty="0">
                <a:latin typeface="Times New Roman"/>
                <a:cs typeface="Times New Roman"/>
              </a:rPr>
              <a:t>Sorting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makes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searching</a:t>
            </a:r>
            <a:r>
              <a:rPr sz="21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easier</a:t>
            </a:r>
            <a:r>
              <a:rPr sz="21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100" spc="-5" dirty="0">
                <a:solidFill>
                  <a:srgbClr val="0000FF"/>
                </a:solidFill>
                <a:latin typeface="Times New Roman"/>
                <a:cs typeface="Times New Roman"/>
              </a:rPr>
              <a:t> fast</a:t>
            </a:r>
            <a:r>
              <a:rPr sz="2100" spc="-5" dirty="0"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  <a:p>
            <a:pPr marL="414020" marR="5080" indent="-230504">
              <a:lnSpc>
                <a:spcPts val="2400"/>
              </a:lnSpc>
              <a:spcBef>
                <a:spcPts val="1935"/>
              </a:spcBef>
              <a:buClr>
                <a:srgbClr val="010000"/>
              </a:buClr>
              <a:buChar char="–"/>
              <a:tabLst>
                <a:tab pos="414655" algn="l"/>
              </a:tabLst>
            </a:pPr>
            <a:r>
              <a:rPr sz="2100" dirty="0">
                <a:latin typeface="Times New Roman"/>
                <a:cs typeface="Times New Roman"/>
              </a:rPr>
              <a:t>Sorting algorithms present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creative approaches to problem solving </a:t>
            </a:r>
            <a:r>
              <a:rPr sz="2100" spc="-5" dirty="0">
                <a:latin typeface="Times New Roman"/>
                <a:cs typeface="Times New Roman"/>
              </a:rPr>
              <a:t>and </a:t>
            </a:r>
            <a:r>
              <a:rPr sz="2100" spc="-50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these approaches can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 applied to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solve other problems.</a:t>
            </a:r>
            <a:endParaRPr sz="2100">
              <a:latin typeface="Times New Roman"/>
              <a:cs typeface="Times New Roman"/>
            </a:endParaRPr>
          </a:p>
          <a:p>
            <a:pPr marL="414020" marR="133985" indent="-230504">
              <a:lnSpc>
                <a:spcPts val="2400"/>
              </a:lnSpc>
              <a:spcBef>
                <a:spcPts val="1875"/>
              </a:spcBef>
              <a:buClr>
                <a:srgbClr val="010000"/>
              </a:buClr>
              <a:buChar char="–"/>
              <a:tabLst>
                <a:tab pos="414655" algn="l"/>
              </a:tabLst>
            </a:pPr>
            <a:r>
              <a:rPr sz="2100" dirty="0">
                <a:latin typeface="Times New Roman"/>
                <a:cs typeface="Times New Roman"/>
              </a:rPr>
              <a:t>Sorting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algorithms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good</a:t>
            </a:r>
            <a:r>
              <a:rPr sz="21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21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practicing</a:t>
            </a:r>
            <a:r>
              <a:rPr sz="21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fundamental</a:t>
            </a:r>
            <a:r>
              <a:rPr sz="21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programming </a:t>
            </a:r>
            <a:r>
              <a:rPr sz="2100" spc="-5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techniques</a:t>
            </a:r>
            <a:r>
              <a:rPr sz="21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using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selection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statements,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loops, methods,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arrays.</a:t>
            </a:r>
            <a:endParaRPr sz="2100">
              <a:latin typeface="Times New Roman"/>
              <a:cs typeface="Times New Roman"/>
            </a:endParaRPr>
          </a:p>
          <a:p>
            <a:pPr marL="414020" marR="264795" indent="-230504">
              <a:lnSpc>
                <a:spcPts val="2400"/>
              </a:lnSpc>
              <a:spcBef>
                <a:spcPts val="1875"/>
              </a:spcBef>
              <a:buClr>
                <a:srgbClr val="010000"/>
              </a:buClr>
              <a:buChar char="–"/>
              <a:tabLst>
                <a:tab pos="414655" algn="l"/>
              </a:tabLst>
            </a:pPr>
            <a:r>
              <a:rPr sz="2100" dirty="0">
                <a:latin typeface="Times New Roman"/>
                <a:cs typeface="Times New Roman"/>
              </a:rPr>
              <a:t>Sorting algorithms are good examples to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demonstrate the concept of </a:t>
            </a:r>
            <a:r>
              <a:rPr sz="2100" spc="-5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algorithm complexity</a:t>
            </a:r>
            <a:r>
              <a:rPr sz="21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1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Times New Roman"/>
                <a:cs typeface="Times New Roman"/>
              </a:rPr>
              <a:t>performance</a:t>
            </a:r>
            <a:r>
              <a:rPr sz="2100" spc="-5" dirty="0"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2742" y="231140"/>
            <a:ext cx="2857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Sort</a:t>
            </a:r>
            <a:r>
              <a:rPr spc="-75" dirty="0"/>
              <a:t> </a:t>
            </a:r>
            <a:r>
              <a:rPr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2" y="876941"/>
            <a:ext cx="7809230" cy="42513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2735" indent="-28067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eriod"/>
              <a:tabLst>
                <a:tab pos="293370" algn="l"/>
              </a:tabLst>
            </a:pP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Internal</a:t>
            </a:r>
            <a:r>
              <a:rPr sz="2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sorting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525780" lvl="1" indent="-233679">
              <a:lnSpc>
                <a:spcPct val="100000"/>
              </a:lnSpc>
              <a:spcBef>
                <a:spcPts val="385"/>
              </a:spcBef>
              <a:buChar char="-"/>
              <a:tabLst>
                <a:tab pos="525780" algn="l"/>
                <a:tab pos="526415" algn="l"/>
              </a:tabLst>
            </a:pP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small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525145" lvl="1" indent="-233045">
              <a:lnSpc>
                <a:spcPct val="100000"/>
              </a:lnSpc>
              <a:spcBef>
                <a:spcPts val="384"/>
              </a:spcBef>
              <a:buChar char="-"/>
              <a:tabLst>
                <a:tab pos="525145" algn="l"/>
                <a:tab pos="525780" algn="l"/>
              </a:tabLst>
            </a:pP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(RAM)</a:t>
            </a:r>
            <a:endParaRPr sz="2200">
              <a:latin typeface="Times New Roman"/>
              <a:cs typeface="Times New Roman"/>
            </a:endParaRPr>
          </a:p>
          <a:p>
            <a:pPr marL="525145" lvl="1" indent="-233045">
              <a:lnSpc>
                <a:spcPct val="100000"/>
              </a:lnSpc>
              <a:spcBef>
                <a:spcPts val="390"/>
              </a:spcBef>
              <a:buChar char="-"/>
              <a:tabLst>
                <a:tab pos="525145" algn="l"/>
                <a:tab pos="525780" algn="l"/>
              </a:tabLst>
            </a:pPr>
            <a:r>
              <a:rPr sz="2200" dirty="0">
                <a:latin typeface="Times New Roman"/>
                <a:cs typeface="Times New Roman"/>
              </a:rPr>
              <a:t>sorting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carried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endParaRPr sz="2200">
              <a:latin typeface="Times New Roman"/>
              <a:cs typeface="Times New Roman"/>
            </a:endParaRPr>
          </a:p>
          <a:p>
            <a:pPr marL="525145" lvl="1" indent="-233045">
              <a:lnSpc>
                <a:spcPct val="100000"/>
              </a:lnSpc>
              <a:spcBef>
                <a:spcPts val="380"/>
              </a:spcBef>
              <a:buChar char="-"/>
              <a:tabLst>
                <a:tab pos="525145" algn="l"/>
                <a:tab pos="525780" algn="l"/>
              </a:tabLst>
            </a:pP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items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1-dimensional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array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295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AutoNum type="arabicPeriod"/>
              <a:tabLst>
                <a:tab pos="293370" algn="l"/>
              </a:tabLst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External</a:t>
            </a:r>
            <a:r>
              <a:rPr sz="22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sorting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525780" lvl="1" indent="-233679">
              <a:lnSpc>
                <a:spcPct val="100000"/>
              </a:lnSpc>
              <a:spcBef>
                <a:spcPts val="380"/>
              </a:spcBef>
              <a:buChar char="-"/>
              <a:tabLst>
                <a:tab pos="525780" algn="l"/>
                <a:tab pos="526415" algn="l"/>
              </a:tabLst>
            </a:pP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525145" lvl="1" indent="-233045">
              <a:lnSpc>
                <a:spcPct val="100000"/>
              </a:lnSpc>
              <a:spcBef>
                <a:spcPts val="385"/>
              </a:spcBef>
              <a:buChar char="-"/>
              <a:tabLst>
                <a:tab pos="525145" algn="l"/>
                <a:tab pos="525780" algn="l"/>
              </a:tabLst>
            </a:pPr>
            <a:r>
              <a:rPr sz="2200" spc="-5" dirty="0">
                <a:latin typeface="Times New Roman"/>
                <a:cs typeface="Times New Roman"/>
              </a:rPr>
              <a:t>all data can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fit 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memory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(RAM) 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once</a:t>
            </a:r>
            <a:endParaRPr sz="2200">
              <a:latin typeface="Times New Roman"/>
              <a:cs typeface="Times New Roman"/>
            </a:endParaRPr>
          </a:p>
          <a:p>
            <a:pPr marL="501650" marR="5080" lvl="1" indent="-208915">
              <a:lnSpc>
                <a:spcPct val="114500"/>
              </a:lnSpc>
              <a:spcBef>
                <a:spcPts val="5"/>
              </a:spcBef>
              <a:buChar char="-"/>
              <a:tabLst>
                <a:tab pos="525145" algn="l"/>
                <a:tab pos="525780" algn="l"/>
              </a:tabLst>
            </a:pPr>
            <a:r>
              <a:rPr sz="2200" spc="-5" dirty="0">
                <a:latin typeface="Times New Roman"/>
                <a:cs typeface="Times New Roman"/>
              </a:rPr>
              <a:t>sorting </a:t>
            </a:r>
            <a:r>
              <a:rPr sz="2200" dirty="0">
                <a:latin typeface="Times New Roman"/>
                <a:cs typeface="Times New Roman"/>
              </a:rPr>
              <a:t>is carried </a:t>
            </a:r>
            <a:r>
              <a:rPr sz="2200" spc="-5" dirty="0">
                <a:latin typeface="Times New Roman"/>
                <a:cs typeface="Times New Roman"/>
              </a:rPr>
              <a:t>out on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secondary storage device where data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stored 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files.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Algorithm</a:t>
            </a:r>
            <a:r>
              <a:rPr spc="10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031" y="1230122"/>
            <a:ext cx="8338184" cy="45218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300"/>
              </a:spcBef>
              <a:tabLst>
                <a:tab pos="1564005" algn="l"/>
              </a:tabLst>
            </a:pPr>
            <a:r>
              <a:rPr sz="2200" spc="-5" dirty="0">
                <a:latin typeface="Times New Roman"/>
                <a:cs typeface="Times New Roman"/>
              </a:rPr>
              <a:t>Sorting algorithms are classified </a:t>
            </a:r>
            <a:r>
              <a:rPr sz="2200" dirty="0">
                <a:latin typeface="Times New Roman"/>
                <a:cs typeface="Times New Roman"/>
              </a:rPr>
              <a:t>based on the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amount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effort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number of </a:t>
            </a:r>
            <a:r>
              <a:rPr sz="2200" spc="-5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comparisons	and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swaps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sort</a:t>
            </a:r>
            <a:r>
              <a:rPr sz="2200" dirty="0">
                <a:latin typeface="Times New Roman"/>
                <a:cs typeface="Times New Roman"/>
              </a:rPr>
              <a:t> a </a:t>
            </a:r>
            <a:r>
              <a:rPr sz="2200" spc="-5" dirty="0">
                <a:latin typeface="Times New Roman"/>
                <a:cs typeface="Times New Roman"/>
              </a:rPr>
              <a:t>list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items.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Simple</a:t>
            </a:r>
            <a:r>
              <a:rPr sz="22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Sorting</a:t>
            </a:r>
            <a:r>
              <a:rPr sz="220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585"/>
              </a:spcBef>
            </a:pPr>
            <a:r>
              <a:rPr sz="2000" i="1" spc="-5" dirty="0">
                <a:latin typeface="Times New Roman"/>
                <a:cs typeface="Times New Roman"/>
              </a:rPr>
              <a:t>O(n^2)</a:t>
            </a:r>
            <a:endParaRPr sz="20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latin typeface="Times New Roman"/>
                <a:cs typeface="Times New Roman"/>
              </a:rPr>
              <a:t>Bubble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(Exchange)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Insertion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Selection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 </a:t>
            </a:r>
            <a:r>
              <a:rPr sz="2000" spc="-10" dirty="0">
                <a:latin typeface="Times New Roman"/>
                <a:cs typeface="Times New Roman"/>
              </a:rPr>
              <a:t>others…</a:t>
            </a:r>
            <a:endParaRPr sz="20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775"/>
              </a:spcBef>
              <a:buClr>
                <a:srgbClr val="000000"/>
              </a:buClr>
              <a:buChar char="-"/>
              <a:tabLst>
                <a:tab pos="245745" algn="l"/>
                <a:tab pos="246379" algn="l"/>
              </a:tabLst>
            </a:pP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Advanced</a:t>
            </a:r>
            <a:r>
              <a:rPr sz="2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Sorting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spcBef>
                <a:spcPts val="470"/>
              </a:spcBef>
            </a:pPr>
            <a:r>
              <a:rPr sz="2000" i="1" spc="-5" dirty="0">
                <a:latin typeface="Times New Roman"/>
                <a:cs typeface="Times New Roman"/>
              </a:rPr>
              <a:t>O(nLogn)</a:t>
            </a:r>
            <a:endParaRPr sz="20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365"/>
              </a:spcBef>
            </a:pPr>
            <a:r>
              <a:rPr sz="2000" spc="-5" dirty="0">
                <a:latin typeface="Times New Roman"/>
                <a:cs typeface="Times New Roman"/>
              </a:rPr>
              <a:t>Quick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</a:t>
            </a:r>
            <a:r>
              <a:rPr sz="2000" spc="-10" dirty="0">
                <a:latin typeface="Times New Roman"/>
                <a:cs typeface="Times New Roman"/>
              </a:rPr>
              <a:t> Merge </a:t>
            </a:r>
            <a:r>
              <a:rPr sz="2000" spc="-5" dirty="0">
                <a:latin typeface="Times New Roman"/>
                <a:cs typeface="Times New Roman"/>
              </a:rPr>
              <a:t>sort, Tree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Heap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 ,</a:t>
            </a:r>
            <a:r>
              <a:rPr sz="2000" spc="-10" dirty="0">
                <a:latin typeface="Times New Roman"/>
                <a:cs typeface="Times New Roman"/>
              </a:rPr>
              <a:t> others…</a:t>
            </a:r>
            <a:endParaRPr sz="20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775"/>
              </a:spcBef>
              <a:buClr>
                <a:srgbClr val="000000"/>
              </a:buClr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Radix</a:t>
            </a:r>
            <a:r>
              <a:rPr sz="2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(Bucket)</a:t>
            </a:r>
            <a:r>
              <a:rPr sz="2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Sorting:</a:t>
            </a:r>
            <a:endParaRPr sz="22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spcBef>
                <a:spcPts val="470"/>
              </a:spcBef>
            </a:pPr>
            <a:r>
              <a:rPr sz="2000" i="1" spc="-5" dirty="0">
                <a:latin typeface="Times New Roman"/>
                <a:cs typeface="Times New Roman"/>
              </a:rPr>
              <a:t>O(k*n)</a:t>
            </a:r>
            <a:endParaRPr sz="20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365"/>
              </a:spcBef>
            </a:pPr>
            <a:r>
              <a:rPr sz="2000" spc="-5" dirty="0">
                <a:latin typeface="Times New Roman"/>
                <a:cs typeface="Times New Roman"/>
              </a:rPr>
              <a:t>Radix sort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integer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(k 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#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digits in the</a:t>
            </a:r>
            <a:r>
              <a:rPr sz="2000" spc="-10" dirty="0">
                <a:latin typeface="Times New Roman"/>
                <a:cs typeface="Times New Roman"/>
              </a:rPr>
              <a:t> largest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 </a:t>
            </a:r>
            <a:r>
              <a:rPr sz="2000" spc="-5" dirty="0">
                <a:latin typeface="Times New Roman"/>
                <a:cs typeface="Times New Roman"/>
              </a:rPr>
              <a:t>in the data</a:t>
            </a:r>
            <a:r>
              <a:rPr sz="2000" spc="-10" dirty="0">
                <a:latin typeface="Times New Roman"/>
                <a:cs typeface="Times New Roman"/>
              </a:rPr>
              <a:t> set).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0792" y="188467"/>
            <a:ext cx="3442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Necessary</a:t>
            </a:r>
            <a:r>
              <a:rPr spc="-55" dirty="0"/>
              <a:t> </a:t>
            </a:r>
            <a:r>
              <a:rPr dirty="0"/>
              <a:t>Math…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2750" y="1051813"/>
            <a:ext cx="5866765" cy="840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imes New Roman"/>
                <a:cs typeface="Times New Roman"/>
              </a:rPr>
              <a:t>Natural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Logarithmic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(base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e):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ln(X)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or log</a:t>
            </a:r>
            <a:r>
              <a:rPr sz="2850" b="1" spc="-7" baseline="-23391" dirty="0">
                <a:latin typeface="Courier New"/>
                <a:cs typeface="Courier New"/>
              </a:rPr>
              <a:t>e</a:t>
            </a:r>
            <a:r>
              <a:rPr sz="2000" b="1" spc="-5" dirty="0">
                <a:latin typeface="Courier New"/>
                <a:cs typeface="Courier New"/>
              </a:rPr>
              <a:t>(X)</a:t>
            </a:r>
            <a:endParaRPr sz="2000">
              <a:latin typeface="Courier New"/>
              <a:cs typeface="Courier New"/>
            </a:endParaRPr>
          </a:p>
          <a:p>
            <a:pPr marR="464820" algn="ctr">
              <a:lnSpc>
                <a:spcPct val="100000"/>
              </a:lnSpc>
              <a:spcBef>
                <a:spcPts val="1490"/>
              </a:spcBef>
            </a:pPr>
            <a:r>
              <a:rPr sz="1800" b="1" spc="-5" dirty="0">
                <a:latin typeface="Courier New"/>
                <a:cs typeface="Courier New"/>
              </a:rPr>
              <a:t>e</a:t>
            </a:r>
            <a:r>
              <a:rPr sz="2850" b="1" spc="-7" baseline="23391" dirty="0">
                <a:latin typeface="Courier New"/>
                <a:cs typeface="Courier New"/>
              </a:rPr>
              <a:t>b</a:t>
            </a:r>
            <a:r>
              <a:rPr sz="2850" b="1" spc="-157" baseline="23391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X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348" y="1640009"/>
          <a:ext cx="1838960" cy="1182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842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ln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X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  <a:tabLst>
                          <a:tab pos="476884" algn="l"/>
                        </a:tabLst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b	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iff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38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ln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39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9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039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624">
                <a:tc>
                  <a:txBody>
                    <a:bodyPr/>
                    <a:lstStyle/>
                    <a:p>
                      <a:pPr marL="31750">
                        <a:lnSpc>
                          <a:spcPts val="2035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ln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ln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945" marR="45720">
                        <a:lnSpc>
                          <a:spcPct val="74600"/>
                        </a:lnSpc>
                        <a:spcBef>
                          <a:spcPts val="42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e = </a:t>
                      </a:r>
                      <a:r>
                        <a:rPr sz="1800" b="1" spc="-10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b="1" spc="-7" baseline="-2469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900" b="1" spc="-10" dirty="0">
                          <a:latin typeface="Courier New"/>
                          <a:cs typeface="Courier New"/>
                        </a:rPr>
                        <a:t>-1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533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035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b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-1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9250" y="2994913"/>
            <a:ext cx="6376670" cy="296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imes New Roman"/>
                <a:cs typeface="Times New Roman"/>
              </a:rPr>
              <a:t>Logarithmic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base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log</a:t>
            </a:r>
            <a:r>
              <a:rPr sz="2850" b="1" spc="-7" baseline="-23391" dirty="0">
                <a:latin typeface="Courier New"/>
                <a:cs typeface="Courier New"/>
              </a:rPr>
              <a:t>1</a:t>
            </a:r>
            <a:r>
              <a:rPr sz="2000" b="1" spc="-5" dirty="0">
                <a:latin typeface="Courier New"/>
                <a:cs typeface="Courier New"/>
              </a:rPr>
              <a:t>(X) = X, no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change.</a:t>
            </a:r>
            <a:endParaRPr sz="200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1665"/>
              </a:spcBef>
            </a:pPr>
            <a:r>
              <a:rPr sz="2200" dirty="0">
                <a:latin typeface="Times New Roman"/>
                <a:cs typeface="Times New Roman"/>
              </a:rPr>
              <a:t>Logarithmic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&gt;1:</a:t>
            </a:r>
            <a:endParaRPr sz="2200">
              <a:latin typeface="Times New Roman"/>
              <a:cs typeface="Times New Roman"/>
            </a:endParaRPr>
          </a:p>
          <a:p>
            <a:pPr marL="434340" marR="2223770">
              <a:lnSpc>
                <a:spcPct val="109600"/>
              </a:lnSpc>
              <a:spcBef>
                <a:spcPts val="1175"/>
              </a:spcBef>
              <a:tabLst>
                <a:tab pos="1807210" algn="l"/>
              </a:tabLst>
            </a:pPr>
            <a:r>
              <a:rPr sz="1800" b="1" spc="-10" dirty="0">
                <a:latin typeface="Courier New"/>
                <a:cs typeface="Courier New"/>
              </a:rPr>
              <a:t>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(X)	</a:t>
            </a:r>
            <a:r>
              <a:rPr sz="1800" b="1" spc="-5" dirty="0">
                <a:latin typeface="Courier New"/>
                <a:cs typeface="Courier New"/>
              </a:rPr>
              <a:t>= Y </a:t>
            </a:r>
            <a:r>
              <a:rPr sz="1800" b="1" spc="-10" dirty="0">
                <a:latin typeface="Courier New"/>
                <a:cs typeface="Courier New"/>
              </a:rPr>
              <a:t>iff </a:t>
            </a:r>
            <a:r>
              <a:rPr sz="1800" b="1" spc="-5" dirty="0">
                <a:latin typeface="Courier New"/>
                <a:cs typeface="Courier New"/>
              </a:rPr>
              <a:t>a</a:t>
            </a:r>
            <a:r>
              <a:rPr sz="2850" b="1" spc="-7" baseline="23391" dirty="0">
                <a:latin typeface="Courier New"/>
                <a:cs typeface="Courier New"/>
              </a:rPr>
              <a:t>Y </a:t>
            </a:r>
            <a:r>
              <a:rPr sz="1800" b="1" spc="-5" dirty="0">
                <a:latin typeface="Courier New"/>
                <a:cs typeface="Courier New"/>
              </a:rPr>
              <a:t>= X </a:t>
            </a:r>
            <a:r>
              <a:rPr sz="1800" b="1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(X*Y) </a:t>
            </a:r>
            <a:r>
              <a:rPr sz="1800" b="1" spc="-5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(X)+Log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(Y) </a:t>
            </a:r>
            <a:r>
              <a:rPr sz="1800" b="1" spc="-10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(X/Y) </a:t>
            </a:r>
            <a:r>
              <a:rPr sz="1800" b="1" spc="-5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(X)-Log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(Y) </a:t>
            </a:r>
            <a:r>
              <a:rPr sz="1800" b="1" spc="-10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</a:t>
            </a:r>
            <a:r>
              <a:rPr sz="2850" b="1" spc="-15" baseline="23391" dirty="0">
                <a:latin typeface="Courier New"/>
                <a:cs typeface="Courier New"/>
              </a:rPr>
              <a:t>Y</a:t>
            </a:r>
            <a:r>
              <a:rPr sz="1800" b="1" spc="-10" dirty="0">
                <a:latin typeface="Courier New"/>
                <a:cs typeface="Courier New"/>
              </a:rPr>
              <a:t>)	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Y*Log</a:t>
            </a:r>
            <a:r>
              <a:rPr sz="2850" b="1" spc="-15" baseline="-2339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(X)</a:t>
            </a:r>
            <a:endParaRPr sz="180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2645"/>
              </a:spcBef>
            </a:pPr>
            <a:r>
              <a:rPr sz="2000" spc="-5" dirty="0">
                <a:latin typeface="Times New Roman"/>
                <a:cs typeface="Times New Roman"/>
              </a:rPr>
              <a:t>Sum of </a:t>
            </a:r>
            <a:r>
              <a:rPr sz="2000" b="1" spc="-5" dirty="0">
                <a:latin typeface="Courier New"/>
                <a:cs typeface="Courier New"/>
              </a:rPr>
              <a:t>1+2+3+…+n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=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(n*(n+1)/2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=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(n</a:t>
            </a:r>
            <a:r>
              <a:rPr sz="2850" b="1" spc="-7" baseline="23391" dirty="0">
                <a:latin typeface="Courier New"/>
                <a:cs typeface="Courier New"/>
              </a:rPr>
              <a:t>2</a:t>
            </a:r>
            <a:r>
              <a:rPr sz="2000" b="1" spc="-5" dirty="0">
                <a:latin typeface="Courier New"/>
                <a:cs typeface="Courier New"/>
              </a:rPr>
              <a:t>+n)/2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188467"/>
            <a:ext cx="6972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Simple</a:t>
            </a:r>
            <a:r>
              <a:rPr spc="10" dirty="0"/>
              <a:t> </a:t>
            </a:r>
            <a:r>
              <a:rPr spc="-5" dirty="0"/>
              <a:t>Sort</a:t>
            </a:r>
            <a:r>
              <a:rPr spc="10" dirty="0"/>
              <a:t> </a:t>
            </a:r>
            <a:r>
              <a:rPr spc="-5" dirty="0"/>
              <a:t>Algorithms</a:t>
            </a:r>
            <a:r>
              <a:rPr spc="10" dirty="0"/>
              <a:t> </a:t>
            </a:r>
            <a:r>
              <a:rPr spc="-5" dirty="0"/>
              <a:t>-</a:t>
            </a:r>
            <a:r>
              <a:rPr spc="10" dirty="0"/>
              <a:t> </a:t>
            </a:r>
            <a:r>
              <a:rPr spc="-5" dirty="0"/>
              <a:t>Bubble</a:t>
            </a:r>
            <a:r>
              <a:rPr spc="10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/>
          <p:nvPr/>
        </p:nvSpPr>
        <p:spPr>
          <a:xfrm>
            <a:off x="3212592" y="3461003"/>
            <a:ext cx="1091565" cy="11430"/>
          </a:xfrm>
          <a:custGeom>
            <a:avLst/>
            <a:gdLst/>
            <a:ahLst/>
            <a:cxnLst/>
            <a:rect l="l" t="t" r="r" b="b"/>
            <a:pathLst>
              <a:path w="1091564" h="11429">
                <a:moveTo>
                  <a:pt x="1091184" y="11429"/>
                </a:moveTo>
                <a:lnTo>
                  <a:pt x="1091184" y="0"/>
                </a:lnTo>
                <a:lnTo>
                  <a:pt x="0" y="0"/>
                </a:lnTo>
                <a:lnTo>
                  <a:pt x="0" y="11429"/>
                </a:lnTo>
                <a:lnTo>
                  <a:pt x="1091184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5415" y="1029964"/>
            <a:ext cx="8269605" cy="30168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365"/>
              </a:spcBef>
              <a:buChar char="-"/>
              <a:tabLst>
                <a:tab pos="245745" algn="l"/>
                <a:tab pos="246379" algn="l"/>
              </a:tabLst>
            </a:pPr>
            <a:r>
              <a:rPr sz="2200" spc="-5" dirty="0">
                <a:latin typeface="Times New Roman"/>
                <a:cs typeface="Times New Roman"/>
              </a:rPr>
              <a:t>They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O(n2)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comparisons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swaps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260"/>
              </a:spcBef>
              <a:buChar char="-"/>
              <a:tabLst>
                <a:tab pos="245110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Procedure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Swap()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 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switch/swap values when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needed.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Bubble</a:t>
            </a:r>
            <a:r>
              <a:rPr sz="22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Sort: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Concept: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Given 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list 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 items,</a:t>
            </a:r>
            <a:endParaRPr sz="20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90100"/>
              </a:lnSpc>
              <a:spcBef>
                <a:spcPts val="1785"/>
              </a:spcBef>
            </a:pPr>
            <a:r>
              <a:rPr sz="2000" spc="-5" dirty="0">
                <a:latin typeface="Times New Roman"/>
                <a:cs typeface="Times New Roman"/>
              </a:rPr>
              <a:t>Step 1: </a:t>
            </a:r>
            <a:r>
              <a:rPr sz="2000" spc="-10" dirty="0">
                <a:latin typeface="Times New Roman"/>
                <a:cs typeface="Times New Roman"/>
              </a:rPr>
              <a:t>Consider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list 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one </a:t>
            </a:r>
            <a:r>
              <a:rPr sz="2000" spc="-10" dirty="0">
                <a:latin typeface="Times New Roman"/>
                <a:cs typeface="Times New Roman"/>
              </a:rPr>
              <a:t>sublist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examine</a:t>
            </a:r>
            <a:r>
              <a:rPr sz="2000" spc="-5" dirty="0">
                <a:latin typeface="Times New Roman"/>
                <a:cs typeface="Times New Roman"/>
              </a:rPr>
              <a:t> each pair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items from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 end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list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towards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beginning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list.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Swap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necessary.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moving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smallest element</a:t>
            </a:r>
            <a:r>
              <a:rPr sz="2000" spc="-5" dirty="0">
                <a:latin typeface="Times New Roman"/>
                <a:cs typeface="Times New Roman"/>
              </a:rPr>
              <a:t> to the </a:t>
            </a:r>
            <a:r>
              <a:rPr sz="2000" spc="-10" dirty="0">
                <a:latin typeface="Times New Roman"/>
                <a:cs typeface="Times New Roman"/>
              </a:rPr>
              <a:t>beginning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the </a:t>
            </a:r>
            <a:r>
              <a:rPr sz="2000" spc="-10" dirty="0">
                <a:latin typeface="Times New Roman"/>
                <a:cs typeface="Times New Roman"/>
              </a:rPr>
              <a:t>list.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572" y="4187185"/>
            <a:ext cx="3749040" cy="1532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Step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2:</a:t>
            </a:r>
            <a:r>
              <a:rPr sz="2000" spc="-10" dirty="0">
                <a:latin typeface="Times New Roman"/>
                <a:cs typeface="Times New Roman"/>
              </a:rPr>
              <a:t> Consider</a:t>
            </a:r>
            <a:r>
              <a:rPr sz="2000" spc="-5" dirty="0">
                <a:latin typeface="Times New Roman"/>
                <a:cs typeface="Times New Roman"/>
              </a:rPr>
              <a:t> the </a:t>
            </a:r>
            <a:r>
              <a:rPr sz="2000" spc="-10" dirty="0">
                <a:latin typeface="Times New Roman"/>
                <a:cs typeface="Times New Roman"/>
              </a:rPr>
              <a:t>unsorted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sublist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 a new sublist and repeat step 1.</a:t>
            </a:r>
            <a:endParaRPr sz="2000">
              <a:latin typeface="Times New Roman"/>
              <a:cs typeface="Times New Roman"/>
            </a:endParaRPr>
          </a:p>
          <a:p>
            <a:pPr marL="12700" marR="113030">
              <a:lnSpc>
                <a:spcPct val="110000"/>
              </a:lnSpc>
              <a:spcBef>
                <a:spcPts val="1305"/>
              </a:spcBef>
            </a:pPr>
            <a:r>
              <a:rPr sz="2000" spc="-5" dirty="0">
                <a:latin typeface="Times New Roman"/>
                <a:cs typeface="Times New Roman"/>
              </a:rPr>
              <a:t>Step 3: </a:t>
            </a:r>
            <a:r>
              <a:rPr sz="2000" spc="-10" dirty="0">
                <a:latin typeface="Times New Roman"/>
                <a:cs typeface="Times New Roman"/>
              </a:rPr>
              <a:t>Continue </a:t>
            </a:r>
            <a:r>
              <a:rPr sz="2000" spc="-5" dirty="0">
                <a:latin typeface="Times New Roman"/>
                <a:cs typeface="Times New Roman"/>
              </a:rPr>
              <a:t>until the entire </a:t>
            </a:r>
            <a:r>
              <a:rPr sz="2000" spc="-10" dirty="0">
                <a:latin typeface="Times New Roman"/>
                <a:cs typeface="Times New Roman"/>
              </a:rPr>
              <a:t>list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sorted.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7A8171-43E1-23F9-D070-E8739EE9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2A457C57-29A1-264C-8565-E3A43CD0F030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C1619603-DC45-4C31-6544-250C985EC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8763000" cy="617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u="sng" dirty="0"/>
              <a:t>Bubble Sorting</a:t>
            </a:r>
          </a:p>
          <a:p>
            <a:pPr>
              <a:lnSpc>
                <a:spcPct val="160000"/>
              </a:lnSpc>
            </a:pPr>
            <a:r>
              <a:rPr lang="en-US" altLang="en-US" sz="1800" dirty="0"/>
              <a:t>- The bubble sort is the oldest and simplest sort in use. </a:t>
            </a:r>
          </a:p>
          <a:p>
            <a:pPr>
              <a:lnSpc>
                <a:spcPct val="160000"/>
              </a:lnSpc>
            </a:pPr>
            <a:r>
              <a:rPr lang="en-US" altLang="en-US" sz="1800" dirty="0"/>
              <a:t>- Unfortunately, it is the slowest sorting technique.</a:t>
            </a:r>
          </a:p>
          <a:p>
            <a:pPr>
              <a:lnSpc>
                <a:spcPct val="160000"/>
              </a:lnSpc>
            </a:pPr>
            <a:r>
              <a:rPr lang="en-US" altLang="en-US" sz="1800" dirty="0"/>
              <a:t>- It works by comparing each item in the list with the item next to it, and swapping them if</a:t>
            </a:r>
          </a:p>
          <a:p>
            <a:pPr>
              <a:lnSpc>
                <a:spcPct val="160000"/>
              </a:lnSpc>
            </a:pPr>
            <a:r>
              <a:rPr lang="en-US" altLang="en-US" sz="1800" dirty="0"/>
              <a:t>  required. </a:t>
            </a:r>
          </a:p>
          <a:p>
            <a:pPr>
              <a:lnSpc>
                <a:spcPct val="160000"/>
              </a:lnSpc>
            </a:pPr>
            <a:r>
              <a:rPr lang="en-US" altLang="en-US" sz="1800" dirty="0"/>
              <a:t>- The algorithm repeats this process until it makes a pass all the way through the list without</a:t>
            </a:r>
          </a:p>
          <a:p>
            <a:pPr algn="just">
              <a:lnSpc>
                <a:spcPct val="160000"/>
              </a:lnSpc>
            </a:pPr>
            <a:r>
              <a:rPr lang="en-US" altLang="en-US" sz="1800" dirty="0"/>
              <a:t>swapping any items. This causes larger values to "bubble" to the end of the list while smaller</a:t>
            </a:r>
          </a:p>
          <a:p>
            <a:pPr algn="just">
              <a:lnSpc>
                <a:spcPct val="160000"/>
              </a:lnSpc>
            </a:pPr>
            <a:r>
              <a:rPr lang="en-US" altLang="en-US" sz="1800" dirty="0"/>
              <a:t>values "sink" towards the beginning of the list.</a:t>
            </a:r>
          </a:p>
          <a:p>
            <a:pPr>
              <a:lnSpc>
                <a:spcPct val="160000"/>
              </a:lnSpc>
            </a:pPr>
            <a:r>
              <a:rPr lang="en-US" altLang="en-US" sz="1800" b="1" u="sng" dirty="0"/>
              <a:t>Algorithm: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Bubble_Sort</a:t>
            </a:r>
            <a:r>
              <a:rPr lang="en-US" altLang="en-US" sz="1800" b="1" dirty="0"/>
              <a:t>(List, N)</a:t>
            </a:r>
          </a:p>
          <a:p>
            <a:pPr>
              <a:lnSpc>
                <a:spcPct val="160000"/>
              </a:lnSpc>
            </a:pPr>
            <a:r>
              <a:rPr lang="en-US" altLang="en-US" sz="1800" dirty="0"/>
              <a:t>Here List is the collection of items and N is the total no. of items.</a:t>
            </a:r>
          </a:p>
          <a:p>
            <a:pPr>
              <a:lnSpc>
                <a:spcPct val="160000"/>
              </a:lnSpc>
              <a:buFontTx/>
              <a:buAutoNum type="arabicPeriod"/>
            </a:pPr>
            <a:r>
              <a:rPr lang="en-US" altLang="en-US" sz="1800" dirty="0"/>
              <a:t>Repeat steps 2 and 3 for I = 1…... N </a:t>
            </a:r>
          </a:p>
          <a:p>
            <a:pPr>
              <a:lnSpc>
                <a:spcPct val="160000"/>
              </a:lnSpc>
              <a:buFontTx/>
              <a:buAutoNum type="arabicPeriod"/>
            </a:pPr>
            <a:r>
              <a:rPr lang="en-US" altLang="en-US" sz="1800" dirty="0"/>
              <a:t>    Repeat step 3 for J = 1…….N  </a:t>
            </a:r>
          </a:p>
          <a:p>
            <a:pPr>
              <a:lnSpc>
                <a:spcPct val="160000"/>
              </a:lnSpc>
              <a:buFontTx/>
              <a:buAutoNum type="arabicPeriod"/>
            </a:pPr>
            <a:r>
              <a:rPr lang="en-US" altLang="en-US" sz="1800" dirty="0"/>
              <a:t>       If  List[J] &gt; List[J+1] then swap(List[J], List[J+1]).</a:t>
            </a:r>
          </a:p>
          <a:p>
            <a:pPr>
              <a:lnSpc>
                <a:spcPct val="160000"/>
              </a:lnSpc>
              <a:buFontTx/>
              <a:buAutoNum type="arabicPeriod"/>
            </a:pPr>
            <a:r>
              <a:rPr lang="en-US" altLang="en-US" sz="1800" dirty="0"/>
              <a:t>End.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1" y="188467"/>
            <a:ext cx="2222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Bubble</a:t>
            </a:r>
            <a:r>
              <a:rPr spc="-90" dirty="0"/>
              <a:t> </a:t>
            </a:r>
            <a:r>
              <a:rPr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450" y="1063243"/>
            <a:ext cx="38284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Given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items,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348" y="1594498"/>
          <a:ext cx="7567293" cy="18037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59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107">
                <a:tc>
                  <a:txBody>
                    <a:bodyPr/>
                    <a:lstStyle/>
                    <a:p>
                      <a:pPr marL="31750">
                        <a:lnSpc>
                          <a:spcPts val="207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50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07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13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207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27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207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207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075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075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908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50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13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27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135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391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50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13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27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135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391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50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27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135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18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391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50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2135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27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2135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27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590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27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2135"/>
                        </a:lnSpc>
                      </a:pPr>
                      <a:r>
                        <a:rPr sz="19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135"/>
                        </a:lnSpc>
                      </a:pPr>
                      <a:r>
                        <a:rPr sz="1900" spc="-5" dirty="0">
                          <a:latin typeface="Times New Roman"/>
                          <a:cs typeface="Times New Roman"/>
                        </a:rPr>
                        <a:t>keep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00050" y="3547618"/>
            <a:ext cx="5577840" cy="937894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Analysis:</a:t>
            </a:r>
            <a:endParaRPr sz="200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1220"/>
              </a:spcBef>
            </a:pPr>
            <a:r>
              <a:rPr sz="1900" b="1" spc="-5" dirty="0">
                <a:latin typeface="Courier New"/>
                <a:cs typeface="Courier New"/>
              </a:rPr>
              <a:t>Comparisons: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1+2+3+…+n-1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52256" y="4526465"/>
          <a:ext cx="5849619" cy="127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016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Min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swaps: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0+0+0+…+0</a:t>
                      </a:r>
                      <a:r>
                        <a:rPr sz="1900" b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ts val="1964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0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333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Max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swaps: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1+2+3+…+n-1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130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b="1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1/2(n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8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BCS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2850" b="1" spc="-7" baseline="-23391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(n)=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1/2(n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r>
                        <a:rPr sz="1900" b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+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2130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9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1/2(n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28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WCS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2850" b="1" spc="-7" baseline="-20467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(n)=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1/2(n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r>
                        <a:rPr sz="1900" b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+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ts val="213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1/2(n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r>
                        <a:rPr sz="19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9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45969" y="5685447"/>
            <a:ext cx="71100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Courier New"/>
                <a:cs typeface="Courier New"/>
              </a:rPr>
              <a:t>Performance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function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F(n)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2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1/2(F</a:t>
            </a:r>
            <a:r>
              <a:rPr sz="2850" b="1" spc="-7" baseline="-23391" dirty="0">
                <a:latin typeface="Courier New"/>
                <a:cs typeface="Courier New"/>
              </a:rPr>
              <a:t>1</a:t>
            </a:r>
            <a:r>
              <a:rPr sz="1900" b="1" spc="-5" dirty="0">
                <a:latin typeface="Courier New"/>
                <a:cs typeface="Courier New"/>
              </a:rPr>
              <a:t>+F</a:t>
            </a:r>
            <a:r>
              <a:rPr sz="2850" b="1" spc="-7" baseline="-2339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)=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3/4(n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D253FAB-B46E-893B-A131-42D0B56E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2A457C57-29A1-264C-8565-E3A43CD0F030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3D3EB1FB-7524-6915-4A42-6E0856606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u="sng"/>
              <a:t>Complexity of Bubble Sort</a:t>
            </a: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2BD040A8-9069-4147-8806-CCB58F15D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14400"/>
            <a:ext cx="8305800" cy="187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en-US" sz="1800" dirty="0"/>
              <a:t>For each pass, there are n number of comparisons in bubble sorting. For n items, there should be n passes. So,</a:t>
            </a:r>
          </a:p>
          <a:p>
            <a:pPr algn="just">
              <a:spcBef>
                <a:spcPct val="50000"/>
              </a:spcBef>
            </a:pPr>
            <a:r>
              <a:rPr lang="en-US" altLang="en-US" sz="1800" dirty="0"/>
              <a:t>   C(n) = n + n +………………..+ n</a:t>
            </a:r>
          </a:p>
          <a:p>
            <a:pPr algn="just">
              <a:spcBef>
                <a:spcPct val="50000"/>
              </a:spcBef>
            </a:pPr>
            <a:r>
              <a:rPr lang="en-US" altLang="en-US" sz="1800" dirty="0"/>
              <a:t>           = n * n</a:t>
            </a:r>
          </a:p>
          <a:p>
            <a:pPr algn="just">
              <a:spcBef>
                <a:spcPct val="50000"/>
              </a:spcBef>
            </a:pPr>
            <a:r>
              <a:rPr lang="en-US" altLang="en-US" sz="1800" dirty="0"/>
              <a:t>           = 0(n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1" y="188467"/>
            <a:ext cx="2222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Bubble</a:t>
            </a:r>
            <a:r>
              <a:rPr spc="-90" dirty="0"/>
              <a:t> </a:t>
            </a:r>
            <a:r>
              <a:rPr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450" y="1067054"/>
            <a:ext cx="5270500" cy="972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u="sng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HW:</a:t>
            </a:r>
            <a:r>
              <a:rPr sz="200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Re-write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algorithm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 list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forward.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6854" y="2819400"/>
            <a:ext cx="337820" cy="203200"/>
          </a:xfrm>
          <a:custGeom>
            <a:avLst/>
            <a:gdLst/>
            <a:ahLst/>
            <a:cxnLst/>
            <a:rect l="l" t="t" r="r" b="b"/>
            <a:pathLst>
              <a:path w="337819" h="203200">
                <a:moveTo>
                  <a:pt x="337566" y="202691"/>
                </a:moveTo>
                <a:lnTo>
                  <a:pt x="337566" y="0"/>
                </a:lnTo>
                <a:lnTo>
                  <a:pt x="0" y="0"/>
                </a:lnTo>
                <a:lnTo>
                  <a:pt x="0" y="202691"/>
                </a:lnTo>
                <a:lnTo>
                  <a:pt x="337566" y="20269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7459" y="2784604"/>
            <a:ext cx="126428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" dirty="0">
                <a:latin typeface="Times New Roman"/>
                <a:cs typeface="Times New Roman"/>
              </a:rPr>
              <a:t>2  5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9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8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882" y="3179064"/>
            <a:ext cx="351155" cy="2279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750" spc="5" dirty="0">
                <a:latin typeface="Times New Roman"/>
                <a:cs typeface="Times New Roman"/>
              </a:rPr>
              <a:t>4</a:t>
            </a:r>
            <a:r>
              <a:rPr sz="1750" spc="39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289" y="3542538"/>
            <a:ext cx="337820" cy="24637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750" spc="5" dirty="0">
                <a:latin typeface="Times New Roman"/>
                <a:cs typeface="Times New Roman"/>
              </a:rPr>
              <a:t>8</a:t>
            </a:r>
            <a:r>
              <a:rPr sz="1750" spc="37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409" y="3868168"/>
            <a:ext cx="81534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" dirty="0">
                <a:latin typeface="Times New Roman"/>
                <a:cs typeface="Times New Roman"/>
              </a:rPr>
              <a:t>2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</a:t>
            </a:r>
            <a:r>
              <a:rPr sz="1750" spc="409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8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1317" y="3902202"/>
            <a:ext cx="337820" cy="2247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0"/>
              </a:lnSpc>
            </a:pP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spc="36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950" y="4342132"/>
            <a:ext cx="1039494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10" dirty="0">
                <a:latin typeface="Times New Roman"/>
                <a:cs typeface="Times New Roman"/>
              </a:rPr>
              <a:t>(a)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1st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79854" y="2366772"/>
            <a:ext cx="1270" cy="1964055"/>
          </a:xfrm>
          <a:custGeom>
            <a:avLst/>
            <a:gdLst/>
            <a:ahLst/>
            <a:cxnLst/>
            <a:rect l="l" t="t" r="r" b="b"/>
            <a:pathLst>
              <a:path w="1269" h="1964054">
                <a:moveTo>
                  <a:pt x="0" y="0"/>
                </a:moveTo>
                <a:lnTo>
                  <a:pt x="762" y="1963674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7459" y="3145030"/>
            <a:ext cx="188341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14400" algn="l"/>
                <a:tab pos="1530350" algn="l"/>
              </a:tabLst>
            </a:pPr>
            <a:r>
              <a:rPr sz="1750" spc="5" dirty="0">
                <a:latin typeface="Times New Roman"/>
                <a:cs typeface="Times New Roman"/>
              </a:rPr>
              <a:t>2 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	8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1	2</a:t>
            </a:r>
            <a:r>
              <a:rPr sz="1750" spc="38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409" y="3507742"/>
            <a:ext cx="211836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37920" algn="l"/>
                <a:tab pos="1541780" algn="l"/>
              </a:tabLst>
            </a:pPr>
            <a:r>
              <a:rPr sz="1750" spc="5" dirty="0">
                <a:latin typeface="Times New Roman"/>
                <a:cs typeface="Times New Roman"/>
              </a:rPr>
              <a:t>2 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	1	2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</a:t>
            </a:r>
            <a:r>
              <a:rPr sz="1750" spc="40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3645" y="2763268"/>
            <a:ext cx="13779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33422" y="2797301"/>
            <a:ext cx="337820" cy="2247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0"/>
              </a:lnSpc>
            </a:pPr>
            <a:r>
              <a:rPr sz="1750" spc="5" dirty="0">
                <a:latin typeface="Times New Roman"/>
                <a:cs typeface="Times New Roman"/>
              </a:rPr>
              <a:t>4</a:t>
            </a:r>
            <a:r>
              <a:rPr sz="1750" spc="36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9548" y="3179064"/>
            <a:ext cx="340995" cy="2279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750" spc="5" dirty="0">
                <a:latin typeface="Times New Roman"/>
                <a:cs typeface="Times New Roman"/>
              </a:rPr>
              <a:t>5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8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06623" y="3542538"/>
            <a:ext cx="337820" cy="24637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spc="36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8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41973" y="3507742"/>
            <a:ext cx="13779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i="1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4898" y="4342132"/>
            <a:ext cx="112903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10" dirty="0">
                <a:latin typeface="Times New Roman"/>
                <a:cs typeface="Times New Roman"/>
              </a:rPr>
              <a:t>(b)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2nd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77767" y="2366772"/>
            <a:ext cx="1905" cy="1964055"/>
          </a:xfrm>
          <a:custGeom>
            <a:avLst/>
            <a:gdLst/>
            <a:ahLst/>
            <a:cxnLst/>
            <a:rect l="l" t="t" r="r" b="b"/>
            <a:pathLst>
              <a:path w="1904" h="1964054">
                <a:moveTo>
                  <a:pt x="0" y="0"/>
                </a:moveTo>
                <a:lnTo>
                  <a:pt x="1524" y="1963674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671513" y="2763268"/>
            <a:ext cx="1014094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88365" algn="l"/>
              </a:tabLst>
            </a:pPr>
            <a:r>
              <a:rPr sz="1750" spc="5" dirty="0">
                <a:latin typeface="Times New Roman"/>
                <a:cs typeface="Times New Roman"/>
              </a:rPr>
              <a:t>8 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9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5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7635" y="3145030"/>
            <a:ext cx="995044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41985" algn="l"/>
              </a:tabLst>
            </a:pP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9	</a:t>
            </a:r>
            <a:r>
              <a:rPr sz="1750" spc="5" dirty="0">
                <a:latin typeface="Times New Roman"/>
                <a:cs typeface="Times New Roman"/>
              </a:rPr>
              <a:t>2</a:t>
            </a:r>
            <a:r>
              <a:rPr sz="1750" spc="38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7140" y="2797301"/>
            <a:ext cx="337820" cy="2247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0"/>
              </a:lnSpc>
            </a:pPr>
            <a:r>
              <a:rPr sz="1750" spc="5" dirty="0">
                <a:latin typeface="Times New Roman"/>
                <a:cs typeface="Times New Roman"/>
              </a:rPr>
              <a:t>4</a:t>
            </a:r>
            <a:r>
              <a:rPr sz="1750" spc="36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25366" y="2763268"/>
            <a:ext cx="58610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spc="400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8</a:t>
            </a:r>
            <a:r>
              <a:rPr sz="1750" i="1" spc="39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11167" y="3179064"/>
            <a:ext cx="340995" cy="2279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49479" y="3145030"/>
            <a:ext cx="36195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i="1" spc="5" dirty="0">
                <a:latin typeface="Times New Roman"/>
                <a:cs typeface="Times New Roman"/>
              </a:rPr>
              <a:t>8</a:t>
            </a:r>
            <a:r>
              <a:rPr sz="1750" i="1" spc="35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60902" y="4342132"/>
            <a:ext cx="107759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10" dirty="0">
                <a:latin typeface="Times New Roman"/>
                <a:cs typeface="Times New Roman"/>
              </a:rPr>
              <a:t>(c)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3rd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08626" y="2343911"/>
            <a:ext cx="1905" cy="1964055"/>
          </a:xfrm>
          <a:custGeom>
            <a:avLst/>
            <a:gdLst/>
            <a:ahLst/>
            <a:cxnLst/>
            <a:rect l="l" t="t" r="r" b="b"/>
            <a:pathLst>
              <a:path w="1904" h="1964054">
                <a:moveTo>
                  <a:pt x="0" y="0"/>
                </a:moveTo>
                <a:lnTo>
                  <a:pt x="1524" y="1963674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100320" y="2806702"/>
            <a:ext cx="13779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40096" y="2840735"/>
            <a:ext cx="337820" cy="24955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0"/>
              </a:lnSpc>
            </a:pPr>
            <a:r>
              <a:rPr sz="1750" spc="5" dirty="0">
                <a:latin typeface="Times New Roman"/>
                <a:cs typeface="Times New Roman"/>
              </a:rPr>
              <a:t>1</a:t>
            </a:r>
            <a:r>
              <a:rPr sz="1750" spc="360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78165" y="2806702"/>
            <a:ext cx="58674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i="1" spc="5" dirty="0">
                <a:latin typeface="Times New Roman"/>
                <a:cs typeface="Times New Roman"/>
              </a:rPr>
              <a:t>5</a:t>
            </a:r>
            <a:r>
              <a:rPr sz="1750" i="1" spc="39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8</a:t>
            </a:r>
            <a:r>
              <a:rPr sz="1750" i="1" spc="40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03011" y="4363468"/>
            <a:ext cx="107823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10" dirty="0">
                <a:latin typeface="Times New Roman"/>
                <a:cs typeface="Times New Roman"/>
              </a:rPr>
              <a:t>(d)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4th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62343" y="2366772"/>
            <a:ext cx="1270" cy="1964055"/>
          </a:xfrm>
          <a:custGeom>
            <a:avLst/>
            <a:gdLst/>
            <a:ahLst/>
            <a:cxnLst/>
            <a:rect l="l" t="t" r="r" b="b"/>
            <a:pathLst>
              <a:path w="1270" h="1964054">
                <a:moveTo>
                  <a:pt x="0" y="0"/>
                </a:moveTo>
                <a:lnTo>
                  <a:pt x="762" y="1963674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430472" y="2403290"/>
          <a:ext cx="1374137" cy="293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1938470" y="2403290"/>
          <a:ext cx="1440814" cy="271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marL="6985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537146" y="2403290"/>
          <a:ext cx="1396999" cy="271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marL="7048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068004" y="2403290"/>
          <a:ext cx="1416684" cy="271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marL="7112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6688778" y="2403290"/>
          <a:ext cx="1419225" cy="271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marL="7175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005"/>
                        </a:lnSpc>
                        <a:spcBef>
                          <a:spcPts val="30"/>
                        </a:spcBef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7045706" y="4342132"/>
            <a:ext cx="106489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10" dirty="0">
                <a:latin typeface="Times New Roman"/>
                <a:cs typeface="Times New Roman"/>
              </a:rPr>
              <a:t>(e)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5th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966966" y="2662427"/>
            <a:ext cx="0" cy="20955"/>
          </a:xfrm>
          <a:custGeom>
            <a:avLst/>
            <a:gdLst/>
            <a:ahLst/>
            <a:cxnLst/>
            <a:rect l="l" t="t" r="r" b="b"/>
            <a:pathLst>
              <a:path h="20955">
                <a:moveTo>
                  <a:pt x="0" y="0"/>
                </a:moveTo>
                <a:lnTo>
                  <a:pt x="0" y="20573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66966" y="2411729"/>
            <a:ext cx="0" cy="22860"/>
          </a:xfrm>
          <a:custGeom>
            <a:avLst/>
            <a:gdLst/>
            <a:ahLst/>
            <a:cxnLst/>
            <a:rect l="l" t="t" r="r" b="b"/>
            <a:pathLst>
              <a:path h="22860">
                <a:moveTo>
                  <a:pt x="0" y="0"/>
                </a:moveTo>
                <a:lnTo>
                  <a:pt x="0" y="22860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7992" y="188467"/>
            <a:ext cx="252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Insertion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6645" y="3387852"/>
            <a:ext cx="7715884" cy="2105025"/>
            <a:chOff x="596645" y="3387852"/>
            <a:chExt cx="7715884" cy="2105025"/>
          </a:xfrm>
        </p:grpSpPr>
        <p:sp>
          <p:nvSpPr>
            <p:cNvPr id="4" name="object 4"/>
            <p:cNvSpPr/>
            <p:nvPr/>
          </p:nvSpPr>
          <p:spPr>
            <a:xfrm>
              <a:off x="596645" y="3387852"/>
              <a:ext cx="7696200" cy="13335"/>
            </a:xfrm>
            <a:custGeom>
              <a:avLst/>
              <a:gdLst/>
              <a:ahLst/>
              <a:cxnLst/>
              <a:rect l="l" t="t" r="r" b="b"/>
              <a:pathLst>
                <a:path w="7696200" h="13335">
                  <a:moveTo>
                    <a:pt x="0" y="12953"/>
                  </a:moveTo>
                  <a:lnTo>
                    <a:pt x="7696200" y="12953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12953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" y="3400806"/>
              <a:ext cx="7696200" cy="2085975"/>
            </a:xfrm>
            <a:custGeom>
              <a:avLst/>
              <a:gdLst/>
              <a:ahLst/>
              <a:cxnLst/>
              <a:rect l="l" t="t" r="r" b="b"/>
              <a:pathLst>
                <a:path w="7696200" h="2085975">
                  <a:moveTo>
                    <a:pt x="7696200" y="2085594"/>
                  </a:moveTo>
                  <a:lnTo>
                    <a:pt x="7696200" y="0"/>
                  </a:lnTo>
                  <a:lnTo>
                    <a:pt x="0" y="0"/>
                  </a:lnTo>
                  <a:lnTo>
                    <a:pt x="0" y="2085594"/>
                  </a:lnTo>
                  <a:lnTo>
                    <a:pt x="7696200" y="2085594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3400044"/>
              <a:ext cx="7696200" cy="2086610"/>
            </a:xfrm>
            <a:custGeom>
              <a:avLst/>
              <a:gdLst/>
              <a:ahLst/>
              <a:cxnLst/>
              <a:rect l="l" t="t" r="r" b="b"/>
              <a:pathLst>
                <a:path w="7696200" h="2086610">
                  <a:moveTo>
                    <a:pt x="0" y="0"/>
                  </a:moveTo>
                  <a:lnTo>
                    <a:pt x="0" y="2086356"/>
                  </a:lnTo>
                  <a:lnTo>
                    <a:pt x="7696200" y="2086355"/>
                  </a:lnTo>
                  <a:lnTo>
                    <a:pt x="7696200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7987" y="1003046"/>
            <a:ext cx="8279765" cy="442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Concept:</a:t>
            </a:r>
            <a:r>
              <a:rPr sz="21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Given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5" dirty="0">
                <a:latin typeface="Times New Roman"/>
                <a:cs typeface="Times New Roman"/>
              </a:rPr>
              <a:t> list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items,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1: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Consider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first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element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as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sorted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sublist</a:t>
            </a:r>
            <a:endParaRPr sz="2100">
              <a:latin typeface="Times New Roman"/>
              <a:cs typeface="Times New Roman"/>
            </a:endParaRPr>
          </a:p>
          <a:p>
            <a:pPr marL="813435" marR="5080" indent="-801370">
              <a:lnSpc>
                <a:spcPts val="2900"/>
              </a:lnSpc>
              <a:spcBef>
                <a:spcPts val="160"/>
              </a:spcBef>
            </a:pP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2: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Consider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second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element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and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insert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it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proper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position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 </a:t>
            </a:r>
            <a:r>
              <a:rPr sz="2100" spc="-509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sort</a:t>
            </a:r>
            <a:r>
              <a:rPr sz="2100" spc="-10" dirty="0">
                <a:latin typeface="Times New Roman"/>
                <a:cs typeface="Times New Roman"/>
              </a:rPr>
              <a:t> sublist.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3: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Repeat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2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for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every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other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element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unsorted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sublist.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50">
              <a:latin typeface="Times New Roman"/>
              <a:cs typeface="Times New Roman"/>
            </a:endParaRPr>
          </a:p>
          <a:p>
            <a:pPr marL="399415" marR="5141595">
              <a:lnSpc>
                <a:spcPts val="1950"/>
              </a:lnSpc>
            </a:pP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//</a:t>
            </a:r>
            <a:r>
              <a:rPr sz="1800" b="1" spc="-3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Using</a:t>
            </a:r>
            <a:r>
              <a:rPr sz="1800" b="1" spc="-3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swap</a:t>
            </a:r>
            <a:r>
              <a:rPr sz="1800" b="1" spc="-3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method </a:t>
            </a:r>
            <a:r>
              <a:rPr sz="1800" b="1" spc="-106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For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2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to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n</a:t>
            </a:r>
            <a:endParaRPr sz="1800">
              <a:latin typeface="Courier New"/>
              <a:cs typeface="Courier New"/>
            </a:endParaRPr>
          </a:p>
          <a:p>
            <a:pPr marL="673100">
              <a:lnSpc>
                <a:spcPts val="1814"/>
              </a:lnSpc>
            </a:pPr>
            <a:r>
              <a:rPr sz="1800" b="1" spc="-5" dirty="0">
                <a:latin typeface="Courier New"/>
                <a:cs typeface="Courier New"/>
              </a:rPr>
              <a:t>For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k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i-1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to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082675">
              <a:lnSpc>
                <a:spcPts val="1950"/>
              </a:lnSpc>
            </a:pPr>
            <a:r>
              <a:rPr sz="1800" b="1" spc="-5" dirty="0">
                <a:latin typeface="Courier New"/>
                <a:cs typeface="Courier New"/>
              </a:rPr>
              <a:t>IF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(A[k]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&gt;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A[k+1])</a:t>
            </a:r>
            <a:endParaRPr sz="1800">
              <a:latin typeface="Courier New"/>
              <a:cs typeface="Courier New"/>
            </a:endParaRPr>
          </a:p>
          <a:p>
            <a:pPr marL="1082675" marR="1044575" indent="409575">
              <a:lnSpc>
                <a:spcPts val="1950"/>
              </a:lnSpc>
              <a:spcBef>
                <a:spcPts val="135"/>
              </a:spcBef>
            </a:pPr>
            <a:r>
              <a:rPr sz="1800" b="1" spc="-5" dirty="0">
                <a:latin typeface="Courier New"/>
                <a:cs typeface="Courier New"/>
              </a:rPr>
              <a:t>swap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(A[k],A[k+1]);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//swap</a:t>
            </a:r>
            <a:r>
              <a:rPr sz="1800" b="1" spc="-2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A[k]</a:t>
            </a:r>
            <a:r>
              <a:rPr sz="1800" b="1" spc="-2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and</a:t>
            </a:r>
            <a:r>
              <a:rPr sz="1800" b="1" spc="-2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A[k+1] </a:t>
            </a:r>
            <a:r>
              <a:rPr sz="1800" b="1" spc="-106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Else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Exit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Loop;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//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done</a:t>
            </a:r>
            <a:endParaRPr sz="1800">
              <a:latin typeface="Courier New"/>
              <a:cs typeface="Courier New"/>
            </a:endParaRPr>
          </a:p>
          <a:p>
            <a:pPr marL="673100">
              <a:lnSpc>
                <a:spcPts val="1814"/>
              </a:lnSpc>
            </a:pPr>
            <a:r>
              <a:rPr sz="1800" b="1" spc="-10" dirty="0">
                <a:latin typeface="Courier New"/>
                <a:cs typeface="Courier New"/>
              </a:rPr>
              <a:t>End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loop</a:t>
            </a:r>
            <a:endParaRPr sz="1800">
              <a:latin typeface="Courier New"/>
              <a:cs typeface="Courier New"/>
            </a:endParaRPr>
          </a:p>
          <a:p>
            <a:pPr marL="399415">
              <a:lnSpc>
                <a:spcPts val="2055"/>
              </a:lnSpc>
            </a:pPr>
            <a:r>
              <a:rPr sz="1800" b="1" spc="-5" dirty="0">
                <a:latin typeface="Courier New"/>
                <a:cs typeface="Courier New"/>
              </a:rPr>
              <a:t>End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loop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7992" y="188467"/>
            <a:ext cx="252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Insertion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501" y="1014475"/>
            <a:ext cx="6356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010" algn="l"/>
              </a:tabLst>
            </a:pPr>
            <a:r>
              <a:rPr sz="2200" spc="-5" dirty="0">
                <a:latin typeface="Times New Roman"/>
                <a:cs typeface="Times New Roman"/>
              </a:rPr>
              <a:t>Example:	int[]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myList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{2,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9, 5,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4, 8,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1, 6};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// </a:t>
            </a:r>
            <a:r>
              <a:rPr sz="2200" spc="-5" dirty="0">
                <a:solidFill>
                  <a:srgbClr val="FF3300"/>
                </a:solidFill>
                <a:latin typeface="Times New Roman"/>
                <a:cs typeface="Times New Roman"/>
              </a:rPr>
              <a:t>Unsorted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2734" y="1774903"/>
            <a:ext cx="254381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  <a:tab pos="823594" algn="l"/>
                <a:tab pos="1229360" algn="l"/>
                <a:tab pos="1635125" algn="l"/>
                <a:tab pos="2039620" algn="l"/>
                <a:tab pos="2444750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2	</a:t>
            </a:r>
            <a:r>
              <a:rPr sz="1350" spc="-5" dirty="0">
                <a:latin typeface="Times New Roman"/>
                <a:cs typeface="Times New Roman"/>
              </a:rPr>
              <a:t>9	5	4	8	1	6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98339" y="1552575"/>
            <a:ext cx="135890" cy="257175"/>
            <a:chOff x="4998339" y="1552575"/>
            <a:chExt cx="135890" cy="257175"/>
          </a:xfrm>
        </p:grpSpPr>
        <p:sp>
          <p:nvSpPr>
            <p:cNvPr id="6" name="object 6"/>
            <p:cNvSpPr/>
            <p:nvPr/>
          </p:nvSpPr>
          <p:spPr>
            <a:xfrm>
              <a:off x="4998720" y="1552955"/>
              <a:ext cx="135255" cy="256540"/>
            </a:xfrm>
            <a:custGeom>
              <a:avLst/>
              <a:gdLst/>
              <a:ahLst/>
              <a:cxnLst/>
              <a:rect l="l" t="t" r="r" b="b"/>
              <a:pathLst>
                <a:path w="135254" h="256539">
                  <a:moveTo>
                    <a:pt x="67056" y="170687"/>
                  </a:moveTo>
                  <a:lnTo>
                    <a:pt x="0" y="128015"/>
                  </a:lnTo>
                  <a:lnTo>
                    <a:pt x="44958" y="213844"/>
                  </a:lnTo>
                  <a:lnTo>
                    <a:pt x="44958" y="170687"/>
                  </a:lnTo>
                  <a:lnTo>
                    <a:pt x="67056" y="170687"/>
                  </a:lnTo>
                  <a:close/>
                </a:path>
                <a:path w="135254" h="256539">
                  <a:moveTo>
                    <a:pt x="67056" y="170687"/>
                  </a:moveTo>
                  <a:lnTo>
                    <a:pt x="67056" y="0"/>
                  </a:lnTo>
                  <a:lnTo>
                    <a:pt x="44958" y="0"/>
                  </a:lnTo>
                  <a:lnTo>
                    <a:pt x="44958" y="156625"/>
                  </a:lnTo>
                  <a:lnTo>
                    <a:pt x="67056" y="170687"/>
                  </a:lnTo>
                  <a:close/>
                </a:path>
                <a:path w="135254" h="256539">
                  <a:moveTo>
                    <a:pt x="134874" y="128015"/>
                  </a:moveTo>
                  <a:lnTo>
                    <a:pt x="67056" y="170687"/>
                  </a:lnTo>
                  <a:lnTo>
                    <a:pt x="44958" y="170687"/>
                  </a:lnTo>
                  <a:lnTo>
                    <a:pt x="44958" y="213844"/>
                  </a:lnTo>
                  <a:lnTo>
                    <a:pt x="67056" y="256031"/>
                  </a:lnTo>
                  <a:lnTo>
                    <a:pt x="134874" y="128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8720" y="1552955"/>
              <a:ext cx="135255" cy="256540"/>
            </a:xfrm>
            <a:custGeom>
              <a:avLst/>
              <a:gdLst/>
              <a:ahLst/>
              <a:cxnLst/>
              <a:rect l="l" t="t" r="r" b="b"/>
              <a:pathLst>
                <a:path w="135254" h="256539">
                  <a:moveTo>
                    <a:pt x="44958" y="170687"/>
                  </a:moveTo>
                  <a:lnTo>
                    <a:pt x="44958" y="0"/>
                  </a:lnTo>
                  <a:lnTo>
                    <a:pt x="67056" y="0"/>
                  </a:lnTo>
                  <a:lnTo>
                    <a:pt x="67056" y="170687"/>
                  </a:lnTo>
                  <a:lnTo>
                    <a:pt x="44958" y="170687"/>
                  </a:lnTo>
                  <a:close/>
                </a:path>
                <a:path w="135254" h="256539">
                  <a:moveTo>
                    <a:pt x="67056" y="170687"/>
                  </a:moveTo>
                  <a:lnTo>
                    <a:pt x="134874" y="128015"/>
                  </a:lnTo>
                  <a:lnTo>
                    <a:pt x="67056" y="256031"/>
                  </a:lnTo>
                  <a:lnTo>
                    <a:pt x="0" y="128015"/>
                  </a:lnTo>
                  <a:lnTo>
                    <a:pt x="67056" y="17068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8809" y="1710895"/>
            <a:ext cx="3421379" cy="4438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35"/>
              </a:spcBef>
            </a:pPr>
            <a:r>
              <a:rPr sz="1350" spc="10" dirty="0">
                <a:latin typeface="Times New Roman"/>
                <a:cs typeface="Times New Roman"/>
              </a:rPr>
              <a:t>Step </a:t>
            </a:r>
            <a:r>
              <a:rPr sz="1350" spc="15" dirty="0">
                <a:latin typeface="Times New Roman"/>
                <a:cs typeface="Times New Roman"/>
              </a:rPr>
              <a:t>1: </a:t>
            </a:r>
            <a:r>
              <a:rPr sz="1350" spc="5" dirty="0">
                <a:latin typeface="Times New Roman"/>
                <a:cs typeface="Times New Roman"/>
              </a:rPr>
              <a:t>Initia </a:t>
            </a:r>
            <a:r>
              <a:rPr sz="1350" spc="-5" dirty="0">
                <a:latin typeface="Times New Roman"/>
                <a:cs typeface="Times New Roman"/>
              </a:rPr>
              <a:t>lly, </a:t>
            </a:r>
            <a:r>
              <a:rPr sz="1350" spc="60" dirty="0">
                <a:latin typeface="Times New Roman"/>
                <a:cs typeface="Times New Roman"/>
              </a:rPr>
              <a:t>the </a:t>
            </a:r>
            <a:r>
              <a:rPr sz="1350" spc="30" dirty="0">
                <a:latin typeface="Times New Roman"/>
                <a:cs typeface="Times New Roman"/>
              </a:rPr>
              <a:t>sorted </a:t>
            </a:r>
            <a:r>
              <a:rPr sz="1350" dirty="0">
                <a:latin typeface="Times New Roman"/>
                <a:cs typeface="Times New Roman"/>
              </a:rPr>
              <a:t>sublist </a:t>
            </a:r>
            <a:r>
              <a:rPr sz="1350" spc="10" dirty="0">
                <a:latin typeface="Times New Roman"/>
                <a:cs typeface="Times New Roman"/>
              </a:rPr>
              <a:t>contains </a:t>
            </a:r>
            <a:r>
              <a:rPr sz="1350" spc="60" dirty="0">
                <a:latin typeface="Times New Roman"/>
                <a:cs typeface="Times New Roman"/>
              </a:rPr>
              <a:t>the </a:t>
            </a:r>
            <a:r>
              <a:rPr sz="1350" spc="65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fi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35" dirty="0">
                <a:latin typeface="Times New Roman"/>
                <a:cs typeface="Times New Roman"/>
              </a:rPr>
              <a:t>rst</a:t>
            </a:r>
            <a:r>
              <a:rPr sz="1350" spc="17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elemen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t </a:t>
            </a:r>
            <a:r>
              <a:rPr sz="1350" spc="-15" dirty="0">
                <a:latin typeface="Times New Roman"/>
                <a:cs typeface="Times New Roman"/>
              </a:rPr>
              <a:t>in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130" dirty="0">
                <a:latin typeface="Times New Roman"/>
                <a:cs typeface="Times New Roman"/>
              </a:rPr>
              <a:t> </a:t>
            </a:r>
            <a:r>
              <a:rPr sz="1350" spc="-15" dirty="0">
                <a:latin typeface="Times New Roman"/>
                <a:cs typeface="Times New Roman"/>
              </a:rPr>
              <a:t>list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.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20" dirty="0">
                <a:latin typeface="Times New Roman"/>
                <a:cs typeface="Times New Roman"/>
              </a:rPr>
              <a:t>Insert</a:t>
            </a:r>
            <a:r>
              <a:rPr sz="1350" spc="-5" dirty="0">
                <a:latin typeface="Times New Roman"/>
                <a:cs typeface="Times New Roman"/>
              </a:rPr>
              <a:t> 9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into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the</a:t>
            </a:r>
            <a:r>
              <a:rPr sz="1350" spc="-5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subli</a:t>
            </a:r>
            <a:r>
              <a:rPr sz="1350" spc="-185" dirty="0">
                <a:latin typeface="Times New Roman"/>
                <a:cs typeface="Times New Roman"/>
              </a:rPr>
              <a:t> </a:t>
            </a:r>
            <a:r>
              <a:rPr sz="1350" spc="-15" dirty="0">
                <a:latin typeface="Times New Roman"/>
                <a:cs typeface="Times New Roman"/>
              </a:rPr>
              <a:t>st.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2734" y="2542999"/>
            <a:ext cx="254381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  <a:tab pos="823594" algn="l"/>
                <a:tab pos="1229360" algn="l"/>
                <a:tab pos="1634489" algn="l"/>
                <a:tab pos="2040255" algn="l"/>
                <a:tab pos="2445385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2	9	</a:t>
            </a:r>
            <a:r>
              <a:rPr sz="1350" spc="-5" dirty="0">
                <a:latin typeface="Times New Roman"/>
                <a:cs typeface="Times New Roman"/>
              </a:rPr>
              <a:t>5	4	8	1	6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98339" y="2320670"/>
            <a:ext cx="485140" cy="406400"/>
            <a:chOff x="4998339" y="2320670"/>
            <a:chExt cx="485140" cy="406400"/>
          </a:xfrm>
        </p:grpSpPr>
        <p:sp>
          <p:nvSpPr>
            <p:cNvPr id="11" name="object 11"/>
            <p:cNvSpPr/>
            <p:nvPr/>
          </p:nvSpPr>
          <p:spPr>
            <a:xfrm>
              <a:off x="5471838" y="2342381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696"/>
                  </a:moveTo>
                  <a:lnTo>
                    <a:pt x="0" y="0"/>
                  </a:lnTo>
                </a:path>
              </a:pathLst>
            </a:custGeom>
            <a:ln w="22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5695" y="2342380"/>
              <a:ext cx="406400" cy="0"/>
            </a:xfrm>
            <a:custGeom>
              <a:avLst/>
              <a:gdLst/>
              <a:ahLst/>
              <a:cxnLst/>
              <a:rect l="l" t="t" r="r" b="b"/>
              <a:pathLst>
                <a:path w="406400">
                  <a:moveTo>
                    <a:pt x="406143" y="0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1496" y="2598420"/>
              <a:ext cx="314960" cy="128270"/>
            </a:xfrm>
            <a:custGeom>
              <a:avLst/>
              <a:gdLst/>
              <a:ahLst/>
              <a:cxnLst/>
              <a:rect l="l" t="t" r="r" b="b"/>
              <a:pathLst>
                <a:path w="314960" h="128269">
                  <a:moveTo>
                    <a:pt x="224789" y="64008"/>
                  </a:moveTo>
                  <a:lnTo>
                    <a:pt x="0" y="64008"/>
                  </a:lnTo>
                  <a:lnTo>
                    <a:pt x="22097" y="85344"/>
                  </a:lnTo>
                  <a:lnTo>
                    <a:pt x="209803" y="85344"/>
                  </a:lnTo>
                  <a:lnTo>
                    <a:pt x="224789" y="64008"/>
                  </a:lnTo>
                  <a:close/>
                </a:path>
                <a:path w="314960" h="128269">
                  <a:moveTo>
                    <a:pt x="314705" y="64008"/>
                  </a:moveTo>
                  <a:lnTo>
                    <a:pt x="179831" y="0"/>
                  </a:lnTo>
                  <a:lnTo>
                    <a:pt x="224789" y="64008"/>
                  </a:lnTo>
                  <a:lnTo>
                    <a:pt x="224789" y="106680"/>
                  </a:lnTo>
                  <a:lnTo>
                    <a:pt x="314705" y="64008"/>
                  </a:lnTo>
                  <a:close/>
                </a:path>
                <a:path w="314960" h="128269">
                  <a:moveTo>
                    <a:pt x="224789" y="106680"/>
                  </a:moveTo>
                  <a:lnTo>
                    <a:pt x="224789" y="85344"/>
                  </a:lnTo>
                  <a:lnTo>
                    <a:pt x="209803" y="85344"/>
                  </a:lnTo>
                  <a:lnTo>
                    <a:pt x="179831" y="128016"/>
                  </a:lnTo>
                  <a:lnTo>
                    <a:pt x="224789" y="106680"/>
                  </a:lnTo>
                  <a:close/>
                </a:path>
                <a:path w="314960" h="128269">
                  <a:moveTo>
                    <a:pt x="224789" y="85344"/>
                  </a:moveTo>
                  <a:lnTo>
                    <a:pt x="224789" y="64008"/>
                  </a:lnTo>
                  <a:lnTo>
                    <a:pt x="209803" y="85344"/>
                  </a:lnTo>
                  <a:lnTo>
                    <a:pt x="224789" y="85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11496" y="2598420"/>
              <a:ext cx="314960" cy="128270"/>
            </a:xfrm>
            <a:custGeom>
              <a:avLst/>
              <a:gdLst/>
              <a:ahLst/>
              <a:cxnLst/>
              <a:rect l="l" t="t" r="r" b="b"/>
              <a:pathLst>
                <a:path w="314960" h="128269">
                  <a:moveTo>
                    <a:pt x="224789" y="85344"/>
                  </a:moveTo>
                  <a:lnTo>
                    <a:pt x="22097" y="85344"/>
                  </a:lnTo>
                  <a:lnTo>
                    <a:pt x="0" y="64008"/>
                  </a:lnTo>
                  <a:lnTo>
                    <a:pt x="224789" y="64008"/>
                  </a:lnTo>
                  <a:lnTo>
                    <a:pt x="224789" y="85344"/>
                  </a:lnTo>
                  <a:close/>
                </a:path>
                <a:path w="314960" h="128269">
                  <a:moveTo>
                    <a:pt x="224789" y="64008"/>
                  </a:moveTo>
                  <a:lnTo>
                    <a:pt x="179831" y="0"/>
                  </a:lnTo>
                  <a:lnTo>
                    <a:pt x="314705" y="64008"/>
                  </a:lnTo>
                  <a:lnTo>
                    <a:pt x="179831" y="128016"/>
                  </a:lnTo>
                  <a:lnTo>
                    <a:pt x="224789" y="6400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98720" y="2321051"/>
              <a:ext cx="135255" cy="256540"/>
            </a:xfrm>
            <a:custGeom>
              <a:avLst/>
              <a:gdLst/>
              <a:ahLst/>
              <a:cxnLst/>
              <a:rect l="l" t="t" r="r" b="b"/>
              <a:pathLst>
                <a:path w="135254" h="256539">
                  <a:moveTo>
                    <a:pt x="134874" y="128015"/>
                  </a:moveTo>
                  <a:lnTo>
                    <a:pt x="67056" y="170687"/>
                  </a:lnTo>
                  <a:lnTo>
                    <a:pt x="0" y="128015"/>
                  </a:lnTo>
                  <a:lnTo>
                    <a:pt x="44958" y="213844"/>
                  </a:lnTo>
                  <a:lnTo>
                    <a:pt x="44958" y="170687"/>
                  </a:lnTo>
                  <a:lnTo>
                    <a:pt x="67056" y="192023"/>
                  </a:lnTo>
                  <a:lnTo>
                    <a:pt x="67056" y="256031"/>
                  </a:lnTo>
                  <a:lnTo>
                    <a:pt x="134874" y="128015"/>
                  </a:lnTo>
                  <a:close/>
                </a:path>
                <a:path w="135254" h="256539">
                  <a:moveTo>
                    <a:pt x="67056" y="170687"/>
                  </a:moveTo>
                  <a:lnTo>
                    <a:pt x="67056" y="0"/>
                  </a:lnTo>
                  <a:lnTo>
                    <a:pt x="44958" y="0"/>
                  </a:lnTo>
                  <a:lnTo>
                    <a:pt x="44958" y="156625"/>
                  </a:lnTo>
                  <a:lnTo>
                    <a:pt x="67056" y="170687"/>
                  </a:lnTo>
                  <a:close/>
                </a:path>
                <a:path w="135254" h="256539">
                  <a:moveTo>
                    <a:pt x="67056" y="256031"/>
                  </a:moveTo>
                  <a:lnTo>
                    <a:pt x="67056" y="192023"/>
                  </a:lnTo>
                  <a:lnTo>
                    <a:pt x="44958" y="170687"/>
                  </a:lnTo>
                  <a:lnTo>
                    <a:pt x="44958" y="213844"/>
                  </a:lnTo>
                  <a:lnTo>
                    <a:pt x="67056" y="256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8339" y="2320670"/>
              <a:ext cx="135635" cy="2567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38746" y="2500327"/>
            <a:ext cx="3442335" cy="4235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20"/>
              </a:lnSpc>
              <a:spcBef>
                <a:spcPts val="225"/>
              </a:spcBef>
            </a:pPr>
            <a:r>
              <a:rPr sz="1350" spc="15" dirty="0">
                <a:latin typeface="Times New Roman"/>
                <a:cs typeface="Times New Roman"/>
              </a:rPr>
              <a:t>Step2: </a:t>
            </a:r>
            <a:r>
              <a:rPr sz="1350" spc="30" dirty="0">
                <a:latin typeface="Times New Roman"/>
                <a:cs typeface="Times New Roman"/>
              </a:rPr>
              <a:t>The </a:t>
            </a:r>
            <a:r>
              <a:rPr sz="1350" spc="-15" dirty="0">
                <a:latin typeface="Times New Roman"/>
                <a:cs typeface="Times New Roman"/>
              </a:rPr>
              <a:t>sort </a:t>
            </a:r>
            <a:r>
              <a:rPr sz="1350" spc="-40" dirty="0">
                <a:latin typeface="Times New Roman"/>
                <a:cs typeface="Times New Roman"/>
              </a:rPr>
              <a:t>ed </a:t>
            </a:r>
            <a:r>
              <a:rPr sz="1350" spc="30" dirty="0">
                <a:latin typeface="Times New Roman"/>
                <a:cs typeface="Times New Roman"/>
              </a:rPr>
              <a:t>sublist </a:t>
            </a:r>
            <a:r>
              <a:rPr sz="1350" spc="-15" dirty="0">
                <a:latin typeface="Times New Roman"/>
                <a:cs typeface="Times New Roman"/>
              </a:rPr>
              <a:t>is </a:t>
            </a:r>
            <a:r>
              <a:rPr sz="1350" spc="25" dirty="0">
                <a:latin typeface="Times New Roman"/>
                <a:cs typeface="Times New Roman"/>
              </a:rPr>
              <a:t>{2, 9}. </a:t>
            </a:r>
            <a:r>
              <a:rPr sz="1350" spc="-50" dirty="0">
                <a:latin typeface="Times New Roman"/>
                <a:cs typeface="Times New Roman"/>
              </a:rPr>
              <a:t>In </a:t>
            </a:r>
            <a:r>
              <a:rPr sz="1350" dirty="0">
                <a:latin typeface="Times New Roman"/>
                <a:cs typeface="Times New Roman"/>
              </a:rPr>
              <a:t>sert </a:t>
            </a:r>
            <a:r>
              <a:rPr sz="1350" spc="-5" dirty="0">
                <a:latin typeface="Times New Roman"/>
                <a:cs typeface="Times New Roman"/>
              </a:rPr>
              <a:t>5 i </a:t>
            </a:r>
            <a:r>
              <a:rPr sz="1350" dirty="0">
                <a:latin typeface="Times New Roman"/>
                <a:cs typeface="Times New Roman"/>
              </a:rPr>
              <a:t>nto </a:t>
            </a:r>
            <a:r>
              <a:rPr sz="1350" spc="-3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12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sublist.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5594" y="3290522"/>
            <a:ext cx="47117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2	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36044" y="3290522"/>
            <a:ext cx="1732914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  <a:tab pos="822960" algn="l"/>
                <a:tab pos="1228725" algn="l"/>
                <a:tab pos="1633855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9	</a:t>
            </a:r>
            <a:r>
              <a:rPr sz="1350" spc="-5" dirty="0">
                <a:latin typeface="Times New Roman"/>
                <a:cs typeface="Times New Roman"/>
              </a:rPr>
              <a:t>4	8	1	6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809" y="3247849"/>
            <a:ext cx="3331210" cy="42290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35"/>
              </a:spcBef>
            </a:pPr>
            <a:r>
              <a:rPr sz="1350" spc="55" dirty="0">
                <a:latin typeface="Times New Roman"/>
                <a:cs typeface="Times New Roman"/>
              </a:rPr>
              <a:t>Step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3:</a:t>
            </a:r>
            <a:r>
              <a:rPr sz="1350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The</a:t>
            </a:r>
            <a:r>
              <a:rPr sz="1350" spc="-55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sorted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sublis</a:t>
            </a:r>
            <a:r>
              <a:rPr sz="1350" spc="-15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t </a:t>
            </a:r>
            <a:r>
              <a:rPr sz="1350" spc="-15" dirty="0">
                <a:latin typeface="Times New Roman"/>
                <a:cs typeface="Times New Roman"/>
              </a:rPr>
              <a:t>is</a:t>
            </a:r>
            <a:r>
              <a:rPr sz="1350" spc="25" dirty="0">
                <a:latin typeface="Times New Roman"/>
                <a:cs typeface="Times New Roman"/>
              </a:rPr>
              <a:t> {2,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5,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spc="25" dirty="0">
                <a:latin typeface="Times New Roman"/>
                <a:cs typeface="Times New Roman"/>
              </a:rPr>
              <a:t>9}.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spc="20" dirty="0">
                <a:latin typeface="Times New Roman"/>
                <a:cs typeface="Times New Roman"/>
              </a:rPr>
              <a:t>Insert</a:t>
            </a:r>
            <a:r>
              <a:rPr sz="1350" spc="-5" dirty="0">
                <a:latin typeface="Times New Roman"/>
                <a:cs typeface="Times New Roman"/>
              </a:rPr>
              <a:t> 4 </a:t>
            </a:r>
            <a:r>
              <a:rPr sz="1350" spc="-320" dirty="0">
                <a:latin typeface="Times New Roman"/>
                <a:cs typeface="Times New Roman"/>
              </a:rPr>
              <a:t> </a:t>
            </a:r>
            <a:r>
              <a:rPr sz="1350" spc="40" dirty="0">
                <a:latin typeface="Times New Roman"/>
                <a:cs typeface="Times New Roman"/>
              </a:rPr>
              <a:t>into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130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sublist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80635" y="4015945"/>
            <a:ext cx="47117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2	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1394" y="4015945"/>
            <a:ext cx="11112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1830" y="4015945"/>
            <a:ext cx="132715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  <a:tab pos="822960" algn="l"/>
                <a:tab pos="1228090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9	</a:t>
            </a:r>
            <a:r>
              <a:rPr sz="1350" spc="-5" dirty="0">
                <a:latin typeface="Times New Roman"/>
                <a:cs typeface="Times New Roman"/>
              </a:rPr>
              <a:t>8	1	6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5950" y="3973273"/>
            <a:ext cx="3534410" cy="42290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35"/>
              </a:spcBef>
            </a:pPr>
            <a:r>
              <a:rPr sz="1350" spc="-45" dirty="0">
                <a:latin typeface="Times New Roman"/>
                <a:cs typeface="Times New Roman"/>
              </a:rPr>
              <a:t>S</a:t>
            </a:r>
            <a:r>
              <a:rPr sz="1350" spc="15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p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4</a:t>
            </a:r>
            <a:r>
              <a:rPr sz="1350" spc="-5" dirty="0">
                <a:latin typeface="Times New Roman"/>
                <a:cs typeface="Times New Roman"/>
              </a:rPr>
              <a:t>:</a:t>
            </a:r>
            <a:r>
              <a:rPr sz="1350" dirty="0">
                <a:latin typeface="Times New Roman"/>
                <a:cs typeface="Times New Roman"/>
              </a:rPr>
              <a:t> 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</a:t>
            </a:r>
            <a:r>
              <a:rPr sz="1350" spc="30" dirty="0">
                <a:latin typeface="Times New Roman"/>
                <a:cs typeface="Times New Roman"/>
              </a:rPr>
              <a:t>h</a:t>
            </a:r>
            <a:r>
              <a:rPr sz="1350" spc="-5" dirty="0">
                <a:latin typeface="Times New Roman"/>
                <a:cs typeface="Times New Roman"/>
              </a:rPr>
              <a:t>e</a:t>
            </a:r>
            <a:r>
              <a:rPr sz="1350" spc="125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30" dirty="0">
                <a:latin typeface="Times New Roman"/>
                <a:cs typeface="Times New Roman"/>
              </a:rPr>
              <a:t>o</a:t>
            </a:r>
            <a:r>
              <a:rPr sz="1350" spc="80" dirty="0">
                <a:latin typeface="Times New Roman"/>
                <a:cs typeface="Times New Roman"/>
              </a:rPr>
              <a:t>r</a:t>
            </a:r>
            <a:r>
              <a:rPr sz="1350" spc="-2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d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-155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u</a:t>
            </a:r>
            <a:r>
              <a:rPr sz="1350" spc="35" dirty="0">
                <a:latin typeface="Times New Roman"/>
                <a:cs typeface="Times New Roman"/>
              </a:rPr>
              <a:t>b</a:t>
            </a:r>
            <a:r>
              <a:rPr sz="1350" spc="-25" dirty="0">
                <a:latin typeface="Times New Roman"/>
                <a:cs typeface="Times New Roman"/>
              </a:rPr>
              <a:t>li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5" dirty="0">
                <a:latin typeface="Times New Roman"/>
                <a:cs typeface="Times New Roman"/>
              </a:rPr>
              <a:t>t i</a:t>
            </a:r>
            <a:r>
              <a:rPr sz="1350" spc="-18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spc="55" dirty="0">
                <a:latin typeface="Times New Roman"/>
                <a:cs typeface="Times New Roman"/>
              </a:rPr>
              <a:t>{</a:t>
            </a:r>
            <a:r>
              <a:rPr sz="1350" spc="-145" dirty="0">
                <a:latin typeface="Times New Roman"/>
                <a:cs typeface="Times New Roman"/>
              </a:rPr>
              <a:t>2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4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4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5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50" dirty="0">
                <a:latin typeface="Times New Roman"/>
                <a:cs typeface="Times New Roman"/>
              </a:rPr>
              <a:t> </a:t>
            </a:r>
            <a:r>
              <a:rPr sz="1350" spc="35" dirty="0">
                <a:latin typeface="Times New Roman"/>
                <a:cs typeface="Times New Roman"/>
              </a:rPr>
              <a:t>9</a:t>
            </a:r>
            <a:r>
              <a:rPr sz="1350" spc="55" dirty="0">
                <a:latin typeface="Times New Roman"/>
                <a:cs typeface="Times New Roman"/>
              </a:rPr>
              <a:t>}</a:t>
            </a:r>
            <a:r>
              <a:rPr sz="1350" spc="-5" dirty="0">
                <a:latin typeface="Times New Roman"/>
                <a:cs typeface="Times New Roman"/>
              </a:rPr>
              <a:t>.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80" dirty="0">
                <a:latin typeface="Times New Roman"/>
                <a:cs typeface="Times New Roman"/>
              </a:rPr>
              <a:t>I</a:t>
            </a:r>
            <a:r>
              <a:rPr sz="1350" spc="30" dirty="0">
                <a:latin typeface="Times New Roman"/>
                <a:cs typeface="Times New Roman"/>
              </a:rPr>
              <a:t>n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75" dirty="0">
                <a:latin typeface="Times New Roman"/>
                <a:cs typeface="Times New Roman"/>
              </a:rPr>
              <a:t>e</a:t>
            </a:r>
            <a:r>
              <a:rPr sz="1350" spc="80" dirty="0">
                <a:latin typeface="Times New Roman"/>
                <a:cs typeface="Times New Roman"/>
              </a:rPr>
              <a:t>r</a:t>
            </a:r>
            <a:r>
              <a:rPr sz="1350" spc="-5" dirty="0">
                <a:latin typeface="Times New Roman"/>
                <a:cs typeface="Times New Roman"/>
              </a:rPr>
              <a:t>t 8  into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the</a:t>
            </a:r>
            <a:r>
              <a:rPr sz="1350" spc="-50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subl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20" dirty="0">
                <a:latin typeface="Times New Roman"/>
                <a:cs typeface="Times New Roman"/>
              </a:rPr>
              <a:t>ist.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80635" y="4762705"/>
            <a:ext cx="47117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2	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36417" y="4762705"/>
            <a:ext cx="11112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86682" y="4762705"/>
            <a:ext cx="128206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  <a:tab pos="777875" algn="l"/>
                <a:tab pos="1183640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8	9	</a:t>
            </a:r>
            <a:r>
              <a:rPr sz="1350" spc="-5" dirty="0">
                <a:latin typeface="Times New Roman"/>
                <a:cs typeface="Times New Roman"/>
              </a:rPr>
              <a:t>1	6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5950" y="4720033"/>
            <a:ext cx="3586479" cy="42290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35"/>
              </a:spcBef>
            </a:pPr>
            <a:r>
              <a:rPr sz="1350" spc="-45" dirty="0">
                <a:latin typeface="Times New Roman"/>
                <a:cs typeface="Times New Roman"/>
              </a:rPr>
              <a:t>S</a:t>
            </a:r>
            <a:r>
              <a:rPr sz="1350" spc="15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p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5</a:t>
            </a:r>
            <a:r>
              <a:rPr sz="1350" spc="-5" dirty="0">
                <a:latin typeface="Times New Roman"/>
                <a:cs typeface="Times New Roman"/>
              </a:rPr>
              <a:t>:</a:t>
            </a:r>
            <a:r>
              <a:rPr sz="1350" dirty="0">
                <a:latin typeface="Times New Roman"/>
                <a:cs typeface="Times New Roman"/>
              </a:rPr>
              <a:t> 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</a:t>
            </a:r>
            <a:r>
              <a:rPr sz="1350" spc="30" dirty="0">
                <a:latin typeface="Times New Roman"/>
                <a:cs typeface="Times New Roman"/>
              </a:rPr>
              <a:t>h</a:t>
            </a:r>
            <a:r>
              <a:rPr sz="1350" spc="-5" dirty="0">
                <a:latin typeface="Times New Roman"/>
                <a:cs typeface="Times New Roman"/>
              </a:rPr>
              <a:t>e</a:t>
            </a:r>
            <a:r>
              <a:rPr sz="1350" spc="125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30" dirty="0">
                <a:latin typeface="Times New Roman"/>
                <a:cs typeface="Times New Roman"/>
              </a:rPr>
              <a:t>o</a:t>
            </a:r>
            <a:r>
              <a:rPr sz="1350" spc="80" dirty="0">
                <a:latin typeface="Times New Roman"/>
                <a:cs typeface="Times New Roman"/>
              </a:rPr>
              <a:t>r</a:t>
            </a:r>
            <a:r>
              <a:rPr sz="1350" spc="-2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d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-155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u</a:t>
            </a:r>
            <a:r>
              <a:rPr sz="1350" spc="35" dirty="0">
                <a:latin typeface="Times New Roman"/>
                <a:cs typeface="Times New Roman"/>
              </a:rPr>
              <a:t>b</a:t>
            </a:r>
            <a:r>
              <a:rPr sz="1350" spc="-25" dirty="0">
                <a:latin typeface="Times New Roman"/>
                <a:cs typeface="Times New Roman"/>
              </a:rPr>
              <a:t>li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5" dirty="0">
                <a:latin typeface="Times New Roman"/>
                <a:cs typeface="Times New Roman"/>
              </a:rPr>
              <a:t>t i</a:t>
            </a:r>
            <a:r>
              <a:rPr sz="1350" spc="-18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spc="55" dirty="0">
                <a:latin typeface="Times New Roman"/>
                <a:cs typeface="Times New Roman"/>
              </a:rPr>
              <a:t>{</a:t>
            </a:r>
            <a:r>
              <a:rPr sz="1350" spc="-145" dirty="0">
                <a:latin typeface="Times New Roman"/>
                <a:cs typeface="Times New Roman"/>
              </a:rPr>
              <a:t>2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4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4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5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50" dirty="0">
                <a:latin typeface="Times New Roman"/>
                <a:cs typeface="Times New Roman"/>
              </a:rPr>
              <a:t> </a:t>
            </a:r>
            <a:r>
              <a:rPr sz="1350" spc="35" dirty="0">
                <a:latin typeface="Times New Roman"/>
                <a:cs typeface="Times New Roman"/>
              </a:rPr>
              <a:t>8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9</a:t>
            </a:r>
            <a:r>
              <a:rPr sz="1350" spc="-125" dirty="0">
                <a:latin typeface="Times New Roman"/>
                <a:cs typeface="Times New Roman"/>
              </a:rPr>
              <a:t> }</a:t>
            </a:r>
            <a:r>
              <a:rPr sz="1350" spc="-5" dirty="0">
                <a:latin typeface="Times New Roman"/>
                <a:cs typeface="Times New Roman"/>
              </a:rPr>
              <a:t>.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spc="70" dirty="0">
                <a:latin typeface="Times New Roman"/>
                <a:cs typeface="Times New Roman"/>
              </a:rPr>
              <a:t>I</a:t>
            </a:r>
            <a:r>
              <a:rPr sz="1350" spc="35" dirty="0">
                <a:latin typeface="Times New Roman"/>
                <a:cs typeface="Times New Roman"/>
              </a:rPr>
              <a:t>n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105" dirty="0">
                <a:latin typeface="Times New Roman"/>
                <a:cs typeface="Times New Roman"/>
              </a:rPr>
              <a:t>e</a:t>
            </a:r>
            <a:r>
              <a:rPr sz="1350" spc="-95" dirty="0">
                <a:latin typeface="Times New Roman"/>
                <a:cs typeface="Times New Roman"/>
              </a:rPr>
              <a:t>r</a:t>
            </a:r>
            <a:r>
              <a:rPr sz="1350" spc="-5" dirty="0">
                <a:latin typeface="Times New Roman"/>
                <a:cs typeface="Times New Roman"/>
              </a:rPr>
              <a:t>t  1</a:t>
            </a:r>
            <a:r>
              <a:rPr sz="1350" spc="4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into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the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subl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15" dirty="0">
                <a:latin typeface="Times New Roman"/>
                <a:cs typeface="Times New Roman"/>
              </a:rPr>
              <a:t>ist.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80635" y="5531563"/>
            <a:ext cx="47117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110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1	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91223" y="5531563"/>
            <a:ext cx="11112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86341" y="5531563"/>
            <a:ext cx="11112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36317" y="5531563"/>
            <a:ext cx="83248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  <a:tab pos="734060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8	9	</a:t>
            </a:r>
            <a:r>
              <a:rPr sz="1350" spc="-5" dirty="0">
                <a:latin typeface="Times New Roman"/>
                <a:cs typeface="Times New Roman"/>
              </a:rPr>
              <a:t>6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5950" y="5488891"/>
            <a:ext cx="3311525" cy="4438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35"/>
              </a:spcBef>
            </a:pPr>
            <a:r>
              <a:rPr sz="1350" spc="-45" dirty="0">
                <a:latin typeface="Times New Roman"/>
                <a:cs typeface="Times New Roman"/>
              </a:rPr>
              <a:t>S</a:t>
            </a:r>
            <a:r>
              <a:rPr sz="1350" spc="15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p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6</a:t>
            </a:r>
            <a:r>
              <a:rPr sz="1350" spc="-5" dirty="0">
                <a:latin typeface="Times New Roman"/>
                <a:cs typeface="Times New Roman"/>
              </a:rPr>
              <a:t>:</a:t>
            </a:r>
            <a:r>
              <a:rPr sz="1350" dirty="0">
                <a:latin typeface="Times New Roman"/>
                <a:cs typeface="Times New Roman"/>
              </a:rPr>
              <a:t> 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</a:t>
            </a:r>
            <a:r>
              <a:rPr sz="1350" spc="30" dirty="0">
                <a:latin typeface="Times New Roman"/>
                <a:cs typeface="Times New Roman"/>
              </a:rPr>
              <a:t>h</a:t>
            </a:r>
            <a:r>
              <a:rPr sz="1350" spc="-5" dirty="0">
                <a:latin typeface="Times New Roman"/>
                <a:cs typeface="Times New Roman"/>
              </a:rPr>
              <a:t>e</a:t>
            </a:r>
            <a:r>
              <a:rPr sz="1350" spc="125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30" dirty="0">
                <a:latin typeface="Times New Roman"/>
                <a:cs typeface="Times New Roman"/>
              </a:rPr>
              <a:t>o</a:t>
            </a:r>
            <a:r>
              <a:rPr sz="1350" spc="80" dirty="0">
                <a:latin typeface="Times New Roman"/>
                <a:cs typeface="Times New Roman"/>
              </a:rPr>
              <a:t>r</a:t>
            </a:r>
            <a:r>
              <a:rPr sz="1350" spc="-2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d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-155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u</a:t>
            </a:r>
            <a:r>
              <a:rPr sz="1350" spc="35" dirty="0">
                <a:latin typeface="Times New Roman"/>
                <a:cs typeface="Times New Roman"/>
              </a:rPr>
              <a:t>b</a:t>
            </a:r>
            <a:r>
              <a:rPr sz="1350" spc="-25" dirty="0">
                <a:latin typeface="Times New Roman"/>
                <a:cs typeface="Times New Roman"/>
              </a:rPr>
              <a:t>li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5" dirty="0">
                <a:latin typeface="Times New Roman"/>
                <a:cs typeface="Times New Roman"/>
              </a:rPr>
              <a:t>t i</a:t>
            </a:r>
            <a:r>
              <a:rPr sz="1350" spc="-18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spc="55" dirty="0">
                <a:latin typeface="Times New Roman"/>
                <a:cs typeface="Times New Roman"/>
              </a:rPr>
              <a:t>{</a:t>
            </a:r>
            <a:r>
              <a:rPr sz="1350" spc="-145" dirty="0">
                <a:latin typeface="Times New Roman"/>
                <a:cs typeface="Times New Roman"/>
              </a:rPr>
              <a:t>1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2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4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4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50" dirty="0">
                <a:latin typeface="Times New Roman"/>
                <a:cs typeface="Times New Roman"/>
              </a:rPr>
              <a:t> </a:t>
            </a:r>
            <a:r>
              <a:rPr sz="1350" spc="35" dirty="0">
                <a:latin typeface="Times New Roman"/>
                <a:cs typeface="Times New Roman"/>
              </a:rPr>
              <a:t>5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8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,</a:t>
            </a:r>
            <a:r>
              <a:rPr sz="1350" spc="-15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9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-120" dirty="0">
                <a:latin typeface="Times New Roman"/>
                <a:cs typeface="Times New Roman"/>
              </a:rPr>
              <a:t>}</a:t>
            </a:r>
            <a:r>
              <a:rPr sz="1350" spc="-5" dirty="0">
                <a:latin typeface="Times New Roman"/>
                <a:cs typeface="Times New Roman"/>
              </a:rPr>
              <a:t>.  </a:t>
            </a:r>
            <a:r>
              <a:rPr sz="1350" spc="-100" dirty="0">
                <a:latin typeface="Times New Roman"/>
                <a:cs typeface="Times New Roman"/>
              </a:rPr>
              <a:t>I</a:t>
            </a:r>
            <a:r>
              <a:rPr sz="1350" spc="-5" dirty="0">
                <a:latin typeface="Times New Roman"/>
                <a:cs typeface="Times New Roman"/>
              </a:rPr>
              <a:t>n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75" dirty="0">
                <a:latin typeface="Times New Roman"/>
                <a:cs typeface="Times New Roman"/>
              </a:rPr>
              <a:t>e</a:t>
            </a:r>
            <a:r>
              <a:rPr sz="1350" spc="80" dirty="0">
                <a:latin typeface="Times New Roman"/>
                <a:cs typeface="Times New Roman"/>
              </a:rPr>
              <a:t>r</a:t>
            </a:r>
            <a:r>
              <a:rPr sz="1350" spc="-5" dirty="0">
                <a:latin typeface="Times New Roman"/>
                <a:cs typeface="Times New Roman"/>
              </a:rPr>
              <a:t>t 6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i</a:t>
            </a:r>
            <a:r>
              <a:rPr sz="1350" spc="30" dirty="0">
                <a:latin typeface="Times New Roman"/>
                <a:cs typeface="Times New Roman"/>
              </a:rPr>
              <a:t>n</a:t>
            </a:r>
            <a:r>
              <a:rPr sz="1350" spc="-5" dirty="0">
                <a:latin typeface="Times New Roman"/>
                <a:cs typeface="Times New Roman"/>
              </a:rPr>
              <a:t>t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5" dirty="0">
                <a:latin typeface="Times New Roman"/>
                <a:cs typeface="Times New Roman"/>
              </a:rPr>
              <a:t>o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t</a:t>
            </a:r>
            <a:r>
              <a:rPr sz="1350" spc="30" dirty="0">
                <a:latin typeface="Times New Roman"/>
                <a:cs typeface="Times New Roman"/>
              </a:rPr>
              <a:t>h</a:t>
            </a:r>
            <a:r>
              <a:rPr sz="1350" spc="-5" dirty="0">
                <a:latin typeface="Times New Roman"/>
                <a:cs typeface="Times New Roman"/>
              </a:rPr>
              <a:t>e</a:t>
            </a:r>
            <a:r>
              <a:rPr sz="1350" spc="-50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5" dirty="0">
                <a:latin typeface="Times New Roman"/>
                <a:cs typeface="Times New Roman"/>
              </a:rPr>
              <a:t>u</a:t>
            </a:r>
            <a:r>
              <a:rPr sz="1350" spc="-125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b</a:t>
            </a:r>
            <a:r>
              <a:rPr sz="1350" spc="-25" dirty="0">
                <a:latin typeface="Times New Roman"/>
                <a:cs typeface="Times New Roman"/>
              </a:rPr>
              <a:t>li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25" dirty="0">
                <a:latin typeface="Times New Roman"/>
                <a:cs typeface="Times New Roman"/>
              </a:rPr>
              <a:t>t.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80635" y="6256986"/>
            <a:ext cx="47117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1	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91018" y="6256986"/>
            <a:ext cx="11112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86478" y="6256986"/>
            <a:ext cx="128206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  <a:tab pos="822325" algn="l"/>
                <a:tab pos="1183640" algn="l"/>
              </a:tabLst>
            </a:pPr>
            <a:r>
              <a:rPr sz="1350" spc="-5" dirty="0">
                <a:solidFill>
                  <a:srgbClr val="FF0000"/>
                </a:solidFill>
                <a:latin typeface="Times New Roman"/>
                <a:cs typeface="Times New Roman"/>
              </a:rPr>
              <a:t>5	6	8	9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5950" y="6235650"/>
            <a:ext cx="265874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45" dirty="0">
                <a:latin typeface="Times New Roman"/>
                <a:cs typeface="Times New Roman"/>
              </a:rPr>
              <a:t>S</a:t>
            </a:r>
            <a:r>
              <a:rPr sz="1350" spc="155" dirty="0">
                <a:latin typeface="Times New Roman"/>
                <a:cs typeface="Times New Roman"/>
              </a:rPr>
              <a:t>t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-5" dirty="0">
                <a:latin typeface="Times New Roman"/>
                <a:cs typeface="Times New Roman"/>
              </a:rPr>
              <a:t>p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7</a:t>
            </a:r>
            <a:r>
              <a:rPr sz="1350" spc="-5" dirty="0">
                <a:latin typeface="Times New Roman"/>
                <a:cs typeface="Times New Roman"/>
              </a:rPr>
              <a:t>:</a:t>
            </a:r>
            <a:r>
              <a:rPr sz="1350" dirty="0">
                <a:latin typeface="Times New Roman"/>
                <a:cs typeface="Times New Roman"/>
              </a:rPr>
              <a:t> 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spc="60" dirty="0">
                <a:latin typeface="Times New Roman"/>
                <a:cs typeface="Times New Roman"/>
              </a:rPr>
              <a:t>T</a:t>
            </a:r>
            <a:r>
              <a:rPr sz="1350" spc="30" dirty="0">
                <a:latin typeface="Times New Roman"/>
                <a:cs typeface="Times New Roman"/>
              </a:rPr>
              <a:t>h</a:t>
            </a:r>
            <a:r>
              <a:rPr sz="1350" spc="-5" dirty="0">
                <a:latin typeface="Times New Roman"/>
                <a:cs typeface="Times New Roman"/>
              </a:rPr>
              <a:t>e</a:t>
            </a:r>
            <a:r>
              <a:rPr sz="1350" spc="125" dirty="0">
                <a:latin typeface="Times New Roman"/>
                <a:cs typeface="Times New Roman"/>
              </a:rPr>
              <a:t> </a:t>
            </a:r>
            <a:r>
              <a:rPr sz="1350" spc="-70" dirty="0">
                <a:latin typeface="Times New Roman"/>
                <a:cs typeface="Times New Roman"/>
              </a:rPr>
              <a:t>e</a:t>
            </a:r>
            <a:r>
              <a:rPr sz="1350" spc="30" dirty="0">
                <a:latin typeface="Times New Roman"/>
                <a:cs typeface="Times New Roman"/>
              </a:rPr>
              <a:t>n</a:t>
            </a:r>
            <a:r>
              <a:rPr sz="1350" spc="-5" dirty="0">
                <a:latin typeface="Times New Roman"/>
                <a:cs typeface="Times New Roman"/>
              </a:rPr>
              <a:t>t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i</a:t>
            </a:r>
            <a:r>
              <a:rPr sz="1350" spc="80" dirty="0">
                <a:latin typeface="Times New Roman"/>
                <a:cs typeface="Times New Roman"/>
              </a:rPr>
              <a:t>r</a:t>
            </a:r>
            <a:r>
              <a:rPr sz="1350" spc="-5" dirty="0">
                <a:latin typeface="Times New Roman"/>
                <a:cs typeface="Times New Roman"/>
              </a:rPr>
              <a:t>e</a:t>
            </a:r>
            <a:r>
              <a:rPr sz="1350" spc="-55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l</a:t>
            </a:r>
            <a:r>
              <a:rPr sz="1350" spc="-5" dirty="0">
                <a:latin typeface="Times New Roman"/>
                <a:cs typeface="Times New Roman"/>
              </a:rPr>
              <a:t>i</a:t>
            </a:r>
            <a:r>
              <a:rPr sz="1350" spc="-180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-5" dirty="0">
                <a:latin typeface="Times New Roman"/>
                <a:cs typeface="Times New Roman"/>
              </a:rPr>
              <a:t>t </a:t>
            </a:r>
            <a:r>
              <a:rPr sz="1350" spc="-25" dirty="0">
                <a:latin typeface="Times New Roman"/>
                <a:cs typeface="Times New Roman"/>
              </a:rPr>
              <a:t>i</a:t>
            </a:r>
            <a:r>
              <a:rPr sz="1350" spc="-5" dirty="0">
                <a:latin typeface="Times New Roman"/>
                <a:cs typeface="Times New Roman"/>
              </a:rPr>
              <a:t>s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spc="30" dirty="0">
                <a:latin typeface="Times New Roman"/>
                <a:cs typeface="Times New Roman"/>
              </a:rPr>
              <a:t>no</a:t>
            </a:r>
            <a:r>
              <a:rPr sz="1350" spc="-5" dirty="0">
                <a:latin typeface="Times New Roman"/>
                <a:cs typeface="Times New Roman"/>
              </a:rPr>
              <a:t>w</a:t>
            </a:r>
            <a:r>
              <a:rPr sz="1350" spc="110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s</a:t>
            </a:r>
            <a:r>
              <a:rPr sz="1350" spc="30" dirty="0">
                <a:latin typeface="Times New Roman"/>
                <a:cs typeface="Times New Roman"/>
              </a:rPr>
              <a:t>o</a:t>
            </a:r>
            <a:r>
              <a:rPr sz="1350" spc="70" dirty="0">
                <a:latin typeface="Times New Roman"/>
                <a:cs typeface="Times New Roman"/>
              </a:rPr>
              <a:t>r</a:t>
            </a:r>
            <a:r>
              <a:rPr sz="1350" spc="-20" dirty="0">
                <a:latin typeface="Times New Roman"/>
                <a:cs typeface="Times New Roman"/>
              </a:rPr>
              <a:t>t</a:t>
            </a:r>
            <a:r>
              <a:rPr sz="1350" spc="-75" dirty="0">
                <a:latin typeface="Times New Roman"/>
                <a:cs typeface="Times New Roman"/>
              </a:rPr>
              <a:t>e</a:t>
            </a:r>
            <a:r>
              <a:rPr sz="1350" spc="35" dirty="0">
                <a:latin typeface="Times New Roman"/>
                <a:cs typeface="Times New Roman"/>
              </a:rPr>
              <a:t>d</a:t>
            </a:r>
            <a:r>
              <a:rPr sz="1350" spc="-5" dirty="0"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75478" y="3068193"/>
            <a:ext cx="912494" cy="406400"/>
            <a:chOff x="4975478" y="3068193"/>
            <a:chExt cx="912494" cy="406400"/>
          </a:xfrm>
        </p:grpSpPr>
        <p:sp>
          <p:nvSpPr>
            <p:cNvPr id="39" name="object 39"/>
            <p:cNvSpPr/>
            <p:nvPr/>
          </p:nvSpPr>
          <p:spPr>
            <a:xfrm>
              <a:off x="5065695" y="3089905"/>
              <a:ext cx="811530" cy="213360"/>
            </a:xfrm>
            <a:custGeom>
              <a:avLst/>
              <a:gdLst/>
              <a:ahLst/>
              <a:cxnLst/>
              <a:rect l="l" t="t" r="r" b="b"/>
              <a:pathLst>
                <a:path w="811529" h="213360">
                  <a:moveTo>
                    <a:pt x="811516" y="213359"/>
                  </a:moveTo>
                  <a:lnTo>
                    <a:pt x="811516" y="0"/>
                  </a:lnTo>
                  <a:lnTo>
                    <a:pt x="0" y="0"/>
                  </a:lnTo>
                </a:path>
              </a:pathLst>
            </a:custGeom>
            <a:ln w="21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83935" y="3345941"/>
              <a:ext cx="270510" cy="128270"/>
            </a:xfrm>
            <a:custGeom>
              <a:avLst/>
              <a:gdLst/>
              <a:ahLst/>
              <a:cxnLst/>
              <a:rect l="l" t="t" r="r" b="b"/>
              <a:pathLst>
                <a:path w="270510" h="128270">
                  <a:moveTo>
                    <a:pt x="180594" y="64008"/>
                  </a:moveTo>
                  <a:lnTo>
                    <a:pt x="0" y="64008"/>
                  </a:lnTo>
                  <a:lnTo>
                    <a:pt x="0" y="85344"/>
                  </a:lnTo>
                  <a:lnTo>
                    <a:pt x="165608" y="85344"/>
                  </a:lnTo>
                  <a:lnTo>
                    <a:pt x="180594" y="64008"/>
                  </a:lnTo>
                  <a:close/>
                </a:path>
                <a:path w="270510" h="128270">
                  <a:moveTo>
                    <a:pt x="270510" y="64008"/>
                  </a:moveTo>
                  <a:lnTo>
                    <a:pt x="135636" y="0"/>
                  </a:lnTo>
                  <a:lnTo>
                    <a:pt x="180594" y="64008"/>
                  </a:lnTo>
                  <a:lnTo>
                    <a:pt x="180594" y="106680"/>
                  </a:lnTo>
                  <a:lnTo>
                    <a:pt x="270510" y="64008"/>
                  </a:lnTo>
                  <a:close/>
                </a:path>
                <a:path w="270510" h="128270">
                  <a:moveTo>
                    <a:pt x="180594" y="106680"/>
                  </a:moveTo>
                  <a:lnTo>
                    <a:pt x="180594" y="85344"/>
                  </a:lnTo>
                  <a:lnTo>
                    <a:pt x="165608" y="85344"/>
                  </a:lnTo>
                  <a:lnTo>
                    <a:pt x="135636" y="128016"/>
                  </a:lnTo>
                  <a:lnTo>
                    <a:pt x="180594" y="106680"/>
                  </a:lnTo>
                  <a:close/>
                </a:path>
                <a:path w="270510" h="128270">
                  <a:moveTo>
                    <a:pt x="180594" y="85344"/>
                  </a:moveTo>
                  <a:lnTo>
                    <a:pt x="180594" y="64008"/>
                  </a:lnTo>
                  <a:lnTo>
                    <a:pt x="165608" y="85344"/>
                  </a:lnTo>
                  <a:lnTo>
                    <a:pt x="180594" y="85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61837" y="3345941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5" h="128270">
                  <a:moveTo>
                    <a:pt x="202691" y="85344"/>
                  </a:moveTo>
                  <a:lnTo>
                    <a:pt x="22097" y="85344"/>
                  </a:lnTo>
                  <a:lnTo>
                    <a:pt x="22097" y="64008"/>
                  </a:lnTo>
                  <a:lnTo>
                    <a:pt x="0" y="64008"/>
                  </a:lnTo>
                  <a:lnTo>
                    <a:pt x="202691" y="64008"/>
                  </a:lnTo>
                  <a:lnTo>
                    <a:pt x="202691" y="85344"/>
                  </a:lnTo>
                  <a:close/>
                </a:path>
                <a:path w="292735" h="128270">
                  <a:moveTo>
                    <a:pt x="202691" y="64008"/>
                  </a:moveTo>
                  <a:lnTo>
                    <a:pt x="157733" y="0"/>
                  </a:lnTo>
                  <a:lnTo>
                    <a:pt x="292607" y="64008"/>
                  </a:lnTo>
                  <a:lnTo>
                    <a:pt x="157733" y="128016"/>
                  </a:lnTo>
                  <a:lnTo>
                    <a:pt x="202691" y="6400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111495" y="3345941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5" h="128270">
                  <a:moveTo>
                    <a:pt x="202691" y="64008"/>
                  </a:moveTo>
                  <a:lnTo>
                    <a:pt x="0" y="64008"/>
                  </a:lnTo>
                  <a:lnTo>
                    <a:pt x="0" y="85344"/>
                  </a:lnTo>
                  <a:lnTo>
                    <a:pt x="187451" y="85344"/>
                  </a:lnTo>
                  <a:lnTo>
                    <a:pt x="202691" y="64008"/>
                  </a:lnTo>
                  <a:close/>
                </a:path>
                <a:path w="292735" h="128270">
                  <a:moveTo>
                    <a:pt x="292607" y="64008"/>
                  </a:moveTo>
                  <a:lnTo>
                    <a:pt x="156971" y="0"/>
                  </a:lnTo>
                  <a:lnTo>
                    <a:pt x="202691" y="64008"/>
                  </a:lnTo>
                  <a:lnTo>
                    <a:pt x="224789" y="64008"/>
                  </a:lnTo>
                  <a:lnTo>
                    <a:pt x="224789" y="96012"/>
                  </a:lnTo>
                  <a:lnTo>
                    <a:pt x="292607" y="64008"/>
                  </a:lnTo>
                  <a:close/>
                </a:path>
                <a:path w="292735" h="128270">
                  <a:moveTo>
                    <a:pt x="224789" y="96012"/>
                  </a:moveTo>
                  <a:lnTo>
                    <a:pt x="224789" y="64008"/>
                  </a:lnTo>
                  <a:lnTo>
                    <a:pt x="202691" y="85344"/>
                  </a:lnTo>
                  <a:lnTo>
                    <a:pt x="187451" y="85344"/>
                  </a:lnTo>
                  <a:lnTo>
                    <a:pt x="156971" y="128016"/>
                  </a:lnTo>
                  <a:lnTo>
                    <a:pt x="224789" y="96012"/>
                  </a:lnTo>
                  <a:close/>
                </a:path>
                <a:path w="292735" h="128270">
                  <a:moveTo>
                    <a:pt x="224789" y="64008"/>
                  </a:moveTo>
                  <a:lnTo>
                    <a:pt x="202691" y="64008"/>
                  </a:lnTo>
                  <a:lnTo>
                    <a:pt x="187451" y="85344"/>
                  </a:lnTo>
                  <a:lnTo>
                    <a:pt x="202691" y="85344"/>
                  </a:lnTo>
                  <a:lnTo>
                    <a:pt x="224789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88635" y="3345941"/>
              <a:ext cx="315595" cy="128270"/>
            </a:xfrm>
            <a:custGeom>
              <a:avLst/>
              <a:gdLst/>
              <a:ahLst/>
              <a:cxnLst/>
              <a:rect l="l" t="t" r="r" b="b"/>
              <a:pathLst>
                <a:path w="315595" h="128270">
                  <a:moveTo>
                    <a:pt x="225551" y="85344"/>
                  </a:moveTo>
                  <a:lnTo>
                    <a:pt x="22859" y="85344"/>
                  </a:lnTo>
                  <a:lnTo>
                    <a:pt x="22859" y="64008"/>
                  </a:lnTo>
                  <a:lnTo>
                    <a:pt x="0" y="64008"/>
                  </a:lnTo>
                  <a:lnTo>
                    <a:pt x="247649" y="64008"/>
                  </a:lnTo>
                  <a:lnTo>
                    <a:pt x="225551" y="85344"/>
                  </a:lnTo>
                  <a:close/>
                </a:path>
                <a:path w="315595" h="128270">
                  <a:moveTo>
                    <a:pt x="225551" y="64008"/>
                  </a:moveTo>
                  <a:lnTo>
                    <a:pt x="179831" y="0"/>
                  </a:lnTo>
                  <a:lnTo>
                    <a:pt x="315467" y="64008"/>
                  </a:lnTo>
                  <a:lnTo>
                    <a:pt x="179831" y="128016"/>
                  </a:lnTo>
                  <a:lnTo>
                    <a:pt x="225551" y="6400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5478" y="3068193"/>
              <a:ext cx="136397" cy="235457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5854065" y="3772280"/>
            <a:ext cx="439420" cy="427990"/>
            <a:chOff x="5854065" y="3772280"/>
            <a:chExt cx="439420" cy="427990"/>
          </a:xfrm>
        </p:grpSpPr>
        <p:sp>
          <p:nvSpPr>
            <p:cNvPr id="46" name="object 46"/>
            <p:cNvSpPr/>
            <p:nvPr/>
          </p:nvSpPr>
          <p:spPr>
            <a:xfrm>
              <a:off x="5922172" y="3793988"/>
              <a:ext cx="360680" cy="234950"/>
            </a:xfrm>
            <a:custGeom>
              <a:avLst/>
              <a:gdLst/>
              <a:ahLst/>
              <a:cxnLst/>
              <a:rect l="l" t="t" r="r" b="b"/>
              <a:pathLst>
                <a:path w="360679" h="234950">
                  <a:moveTo>
                    <a:pt x="360414" y="234696"/>
                  </a:moveTo>
                  <a:lnTo>
                    <a:pt x="360414" y="0"/>
                  </a:lnTo>
                  <a:lnTo>
                    <a:pt x="0" y="0"/>
                  </a:lnTo>
                </a:path>
              </a:pathLst>
            </a:custGeom>
            <a:ln w="21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54446" y="3772661"/>
              <a:ext cx="135255" cy="256540"/>
            </a:xfrm>
            <a:custGeom>
              <a:avLst/>
              <a:gdLst/>
              <a:ahLst/>
              <a:cxnLst/>
              <a:rect l="l" t="t" r="r" b="b"/>
              <a:pathLst>
                <a:path w="135254" h="256539">
                  <a:moveTo>
                    <a:pt x="134874" y="128015"/>
                  </a:moveTo>
                  <a:lnTo>
                    <a:pt x="67818" y="170687"/>
                  </a:lnTo>
                  <a:lnTo>
                    <a:pt x="0" y="128015"/>
                  </a:lnTo>
                  <a:lnTo>
                    <a:pt x="44958" y="212880"/>
                  </a:lnTo>
                  <a:lnTo>
                    <a:pt x="44958" y="170687"/>
                  </a:lnTo>
                  <a:lnTo>
                    <a:pt x="67818" y="192023"/>
                  </a:lnTo>
                  <a:lnTo>
                    <a:pt x="67818" y="256031"/>
                  </a:lnTo>
                  <a:lnTo>
                    <a:pt x="134874" y="128015"/>
                  </a:lnTo>
                  <a:close/>
                </a:path>
                <a:path w="135254" h="256539">
                  <a:moveTo>
                    <a:pt x="67818" y="170687"/>
                  </a:moveTo>
                  <a:lnTo>
                    <a:pt x="67818" y="0"/>
                  </a:lnTo>
                  <a:lnTo>
                    <a:pt x="44958" y="0"/>
                  </a:lnTo>
                  <a:lnTo>
                    <a:pt x="44958" y="156304"/>
                  </a:lnTo>
                  <a:lnTo>
                    <a:pt x="67818" y="170687"/>
                  </a:lnTo>
                  <a:close/>
                </a:path>
                <a:path w="135254" h="256539">
                  <a:moveTo>
                    <a:pt x="67818" y="256031"/>
                  </a:moveTo>
                  <a:lnTo>
                    <a:pt x="67818" y="192023"/>
                  </a:lnTo>
                  <a:lnTo>
                    <a:pt x="44958" y="170687"/>
                  </a:lnTo>
                  <a:lnTo>
                    <a:pt x="44958" y="212880"/>
                  </a:lnTo>
                  <a:lnTo>
                    <a:pt x="67818" y="256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65" y="3772280"/>
              <a:ext cx="135635" cy="25679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944362" y="4071366"/>
              <a:ext cx="293370" cy="128270"/>
            </a:xfrm>
            <a:custGeom>
              <a:avLst/>
              <a:gdLst/>
              <a:ahLst/>
              <a:cxnLst/>
              <a:rect l="l" t="t" r="r" b="b"/>
              <a:pathLst>
                <a:path w="293370" h="128270">
                  <a:moveTo>
                    <a:pt x="202691" y="64007"/>
                  </a:moveTo>
                  <a:lnTo>
                    <a:pt x="0" y="64007"/>
                  </a:lnTo>
                  <a:lnTo>
                    <a:pt x="0" y="85343"/>
                  </a:lnTo>
                  <a:lnTo>
                    <a:pt x="187705" y="85343"/>
                  </a:lnTo>
                  <a:lnTo>
                    <a:pt x="202691" y="64007"/>
                  </a:lnTo>
                  <a:close/>
                </a:path>
                <a:path w="293370" h="128270">
                  <a:moveTo>
                    <a:pt x="293369" y="64007"/>
                  </a:moveTo>
                  <a:lnTo>
                    <a:pt x="157733" y="0"/>
                  </a:lnTo>
                  <a:lnTo>
                    <a:pt x="202691" y="64007"/>
                  </a:lnTo>
                  <a:lnTo>
                    <a:pt x="202691" y="106799"/>
                  </a:lnTo>
                  <a:lnTo>
                    <a:pt x="293369" y="64007"/>
                  </a:lnTo>
                  <a:close/>
                </a:path>
                <a:path w="293370" h="128270">
                  <a:moveTo>
                    <a:pt x="202691" y="106799"/>
                  </a:moveTo>
                  <a:lnTo>
                    <a:pt x="202691" y="85343"/>
                  </a:lnTo>
                  <a:lnTo>
                    <a:pt x="187705" y="85343"/>
                  </a:lnTo>
                  <a:lnTo>
                    <a:pt x="157733" y="128015"/>
                  </a:lnTo>
                  <a:lnTo>
                    <a:pt x="202691" y="106799"/>
                  </a:lnTo>
                  <a:close/>
                </a:path>
                <a:path w="293370" h="128270">
                  <a:moveTo>
                    <a:pt x="202691" y="85343"/>
                  </a:moveTo>
                  <a:lnTo>
                    <a:pt x="202691" y="64007"/>
                  </a:lnTo>
                  <a:lnTo>
                    <a:pt x="187705" y="85343"/>
                  </a:lnTo>
                  <a:lnTo>
                    <a:pt x="202691" y="85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44362" y="4071366"/>
              <a:ext cx="293370" cy="128270"/>
            </a:xfrm>
            <a:custGeom>
              <a:avLst/>
              <a:gdLst/>
              <a:ahLst/>
              <a:cxnLst/>
              <a:rect l="l" t="t" r="r" b="b"/>
              <a:pathLst>
                <a:path w="293370" h="128270">
                  <a:moveTo>
                    <a:pt x="202691" y="64007"/>
                  </a:moveTo>
                  <a:lnTo>
                    <a:pt x="202691" y="85343"/>
                  </a:lnTo>
                  <a:lnTo>
                    <a:pt x="0" y="85343"/>
                  </a:lnTo>
                  <a:lnTo>
                    <a:pt x="0" y="64007"/>
                  </a:lnTo>
                  <a:lnTo>
                    <a:pt x="202691" y="64007"/>
                  </a:lnTo>
                  <a:close/>
                </a:path>
                <a:path w="293370" h="128270">
                  <a:moveTo>
                    <a:pt x="202691" y="64007"/>
                  </a:moveTo>
                  <a:lnTo>
                    <a:pt x="157733" y="0"/>
                  </a:lnTo>
                  <a:lnTo>
                    <a:pt x="293369" y="64007"/>
                  </a:lnTo>
                  <a:lnTo>
                    <a:pt x="157733" y="128015"/>
                  </a:lnTo>
                  <a:lnTo>
                    <a:pt x="202691" y="6400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570095" y="4530088"/>
            <a:ext cx="2185035" cy="416559"/>
            <a:chOff x="4570095" y="4530088"/>
            <a:chExt cx="2185035" cy="416559"/>
          </a:xfrm>
        </p:grpSpPr>
        <p:sp>
          <p:nvSpPr>
            <p:cNvPr id="52" name="object 52"/>
            <p:cNvSpPr/>
            <p:nvPr/>
          </p:nvSpPr>
          <p:spPr>
            <a:xfrm>
              <a:off x="6732920" y="4540746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234696"/>
                  </a:moveTo>
                  <a:lnTo>
                    <a:pt x="0" y="0"/>
                  </a:lnTo>
                </a:path>
              </a:pathLst>
            </a:custGeom>
            <a:ln w="22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70476" y="4540758"/>
              <a:ext cx="135890" cy="256540"/>
            </a:xfrm>
            <a:custGeom>
              <a:avLst/>
              <a:gdLst/>
              <a:ahLst/>
              <a:cxnLst/>
              <a:rect l="l" t="t" r="r" b="b"/>
              <a:pathLst>
                <a:path w="135889" h="256539">
                  <a:moveTo>
                    <a:pt x="67818" y="170687"/>
                  </a:moveTo>
                  <a:lnTo>
                    <a:pt x="0" y="128015"/>
                  </a:lnTo>
                  <a:lnTo>
                    <a:pt x="44958" y="212880"/>
                  </a:lnTo>
                  <a:lnTo>
                    <a:pt x="44958" y="170687"/>
                  </a:lnTo>
                  <a:lnTo>
                    <a:pt x="67818" y="170687"/>
                  </a:lnTo>
                  <a:close/>
                </a:path>
                <a:path w="135889" h="256539">
                  <a:moveTo>
                    <a:pt x="67818" y="170687"/>
                  </a:moveTo>
                  <a:lnTo>
                    <a:pt x="67818" y="0"/>
                  </a:lnTo>
                  <a:lnTo>
                    <a:pt x="44958" y="0"/>
                  </a:lnTo>
                  <a:lnTo>
                    <a:pt x="44958" y="156304"/>
                  </a:lnTo>
                  <a:lnTo>
                    <a:pt x="67818" y="170687"/>
                  </a:lnTo>
                  <a:close/>
                </a:path>
                <a:path w="135889" h="256539">
                  <a:moveTo>
                    <a:pt x="135636" y="128015"/>
                  </a:moveTo>
                  <a:lnTo>
                    <a:pt x="67818" y="170687"/>
                  </a:lnTo>
                  <a:lnTo>
                    <a:pt x="44958" y="170687"/>
                  </a:lnTo>
                  <a:lnTo>
                    <a:pt x="44958" y="212880"/>
                  </a:lnTo>
                  <a:lnTo>
                    <a:pt x="67818" y="256031"/>
                  </a:lnTo>
                  <a:lnTo>
                    <a:pt x="135636" y="128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70476" y="4540758"/>
              <a:ext cx="135890" cy="256540"/>
            </a:xfrm>
            <a:custGeom>
              <a:avLst/>
              <a:gdLst/>
              <a:ahLst/>
              <a:cxnLst/>
              <a:rect l="l" t="t" r="r" b="b"/>
              <a:pathLst>
                <a:path w="135889" h="256539">
                  <a:moveTo>
                    <a:pt x="44958" y="170687"/>
                  </a:moveTo>
                  <a:lnTo>
                    <a:pt x="44958" y="0"/>
                  </a:lnTo>
                  <a:lnTo>
                    <a:pt x="67818" y="0"/>
                  </a:lnTo>
                  <a:lnTo>
                    <a:pt x="67818" y="170687"/>
                  </a:lnTo>
                  <a:lnTo>
                    <a:pt x="44958" y="170687"/>
                  </a:lnTo>
                  <a:close/>
                </a:path>
                <a:path w="135889" h="256539">
                  <a:moveTo>
                    <a:pt x="67818" y="170687"/>
                  </a:moveTo>
                  <a:lnTo>
                    <a:pt x="135636" y="128015"/>
                  </a:lnTo>
                  <a:lnTo>
                    <a:pt x="67818" y="256031"/>
                  </a:lnTo>
                  <a:lnTo>
                    <a:pt x="0" y="128015"/>
                  </a:lnTo>
                  <a:lnTo>
                    <a:pt x="67818" y="17068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38222" y="4540757"/>
              <a:ext cx="2117090" cy="0"/>
            </a:xfrm>
            <a:custGeom>
              <a:avLst/>
              <a:gdLst/>
              <a:ahLst/>
              <a:cxnLst/>
              <a:rect l="l" t="t" r="r" b="b"/>
              <a:pathLst>
                <a:path w="2117090">
                  <a:moveTo>
                    <a:pt x="2116798" y="0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72606" y="4818126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4" h="128270">
                  <a:moveTo>
                    <a:pt x="202691" y="64007"/>
                  </a:moveTo>
                  <a:lnTo>
                    <a:pt x="0" y="64007"/>
                  </a:lnTo>
                  <a:lnTo>
                    <a:pt x="0" y="85343"/>
                  </a:lnTo>
                  <a:lnTo>
                    <a:pt x="187705" y="85343"/>
                  </a:lnTo>
                  <a:lnTo>
                    <a:pt x="202691" y="64007"/>
                  </a:lnTo>
                  <a:close/>
                </a:path>
                <a:path w="292734" h="128270">
                  <a:moveTo>
                    <a:pt x="292607" y="64007"/>
                  </a:moveTo>
                  <a:lnTo>
                    <a:pt x="157733" y="0"/>
                  </a:lnTo>
                  <a:lnTo>
                    <a:pt x="202691" y="64007"/>
                  </a:lnTo>
                  <a:lnTo>
                    <a:pt x="202691" y="106679"/>
                  </a:lnTo>
                  <a:lnTo>
                    <a:pt x="292607" y="64007"/>
                  </a:lnTo>
                  <a:close/>
                </a:path>
                <a:path w="292734" h="128270">
                  <a:moveTo>
                    <a:pt x="202691" y="106679"/>
                  </a:moveTo>
                  <a:lnTo>
                    <a:pt x="202691" y="85343"/>
                  </a:lnTo>
                  <a:lnTo>
                    <a:pt x="187705" y="85343"/>
                  </a:lnTo>
                  <a:lnTo>
                    <a:pt x="157733" y="128015"/>
                  </a:lnTo>
                  <a:lnTo>
                    <a:pt x="202691" y="106679"/>
                  </a:lnTo>
                  <a:close/>
                </a:path>
                <a:path w="292734" h="128270">
                  <a:moveTo>
                    <a:pt x="202691" y="85343"/>
                  </a:moveTo>
                  <a:lnTo>
                    <a:pt x="202691" y="64007"/>
                  </a:lnTo>
                  <a:lnTo>
                    <a:pt x="187705" y="85343"/>
                  </a:lnTo>
                  <a:lnTo>
                    <a:pt x="202691" y="85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72606" y="4818126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4" h="128270">
                  <a:moveTo>
                    <a:pt x="202691" y="64007"/>
                  </a:moveTo>
                  <a:lnTo>
                    <a:pt x="202691" y="85343"/>
                  </a:lnTo>
                  <a:lnTo>
                    <a:pt x="0" y="85343"/>
                  </a:lnTo>
                  <a:lnTo>
                    <a:pt x="0" y="64007"/>
                  </a:lnTo>
                  <a:lnTo>
                    <a:pt x="202691" y="64007"/>
                  </a:lnTo>
                  <a:close/>
                </a:path>
                <a:path w="292734" h="128270">
                  <a:moveTo>
                    <a:pt x="202691" y="64007"/>
                  </a:moveTo>
                  <a:lnTo>
                    <a:pt x="157733" y="0"/>
                  </a:lnTo>
                  <a:lnTo>
                    <a:pt x="292607" y="64007"/>
                  </a:lnTo>
                  <a:lnTo>
                    <a:pt x="157733" y="128015"/>
                  </a:lnTo>
                  <a:lnTo>
                    <a:pt x="202691" y="6400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89320" y="4818126"/>
              <a:ext cx="293370" cy="128270"/>
            </a:xfrm>
            <a:custGeom>
              <a:avLst/>
              <a:gdLst/>
              <a:ahLst/>
              <a:cxnLst/>
              <a:rect l="l" t="t" r="r" b="b"/>
              <a:pathLst>
                <a:path w="293370" h="128270">
                  <a:moveTo>
                    <a:pt x="202691" y="64007"/>
                  </a:moveTo>
                  <a:lnTo>
                    <a:pt x="0" y="64007"/>
                  </a:lnTo>
                  <a:lnTo>
                    <a:pt x="0" y="85343"/>
                  </a:lnTo>
                  <a:lnTo>
                    <a:pt x="187705" y="85343"/>
                  </a:lnTo>
                  <a:lnTo>
                    <a:pt x="202691" y="64007"/>
                  </a:lnTo>
                  <a:close/>
                </a:path>
                <a:path w="293370" h="128270">
                  <a:moveTo>
                    <a:pt x="293369" y="64007"/>
                  </a:moveTo>
                  <a:lnTo>
                    <a:pt x="157733" y="0"/>
                  </a:lnTo>
                  <a:lnTo>
                    <a:pt x="202691" y="64007"/>
                  </a:lnTo>
                  <a:lnTo>
                    <a:pt x="202691" y="106799"/>
                  </a:lnTo>
                  <a:lnTo>
                    <a:pt x="293369" y="64007"/>
                  </a:lnTo>
                  <a:close/>
                </a:path>
                <a:path w="293370" h="128270">
                  <a:moveTo>
                    <a:pt x="202691" y="106799"/>
                  </a:moveTo>
                  <a:lnTo>
                    <a:pt x="202691" y="85343"/>
                  </a:lnTo>
                  <a:lnTo>
                    <a:pt x="187705" y="85343"/>
                  </a:lnTo>
                  <a:lnTo>
                    <a:pt x="157733" y="128015"/>
                  </a:lnTo>
                  <a:lnTo>
                    <a:pt x="202691" y="106799"/>
                  </a:lnTo>
                  <a:close/>
                </a:path>
                <a:path w="293370" h="128270">
                  <a:moveTo>
                    <a:pt x="202691" y="85343"/>
                  </a:moveTo>
                  <a:lnTo>
                    <a:pt x="202691" y="64007"/>
                  </a:lnTo>
                  <a:lnTo>
                    <a:pt x="187705" y="85343"/>
                  </a:lnTo>
                  <a:lnTo>
                    <a:pt x="202691" y="85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89320" y="4818126"/>
              <a:ext cx="293370" cy="128270"/>
            </a:xfrm>
            <a:custGeom>
              <a:avLst/>
              <a:gdLst/>
              <a:ahLst/>
              <a:cxnLst/>
              <a:rect l="l" t="t" r="r" b="b"/>
              <a:pathLst>
                <a:path w="293370" h="128270">
                  <a:moveTo>
                    <a:pt x="202691" y="64007"/>
                  </a:moveTo>
                  <a:lnTo>
                    <a:pt x="202691" y="85343"/>
                  </a:lnTo>
                  <a:lnTo>
                    <a:pt x="0" y="85343"/>
                  </a:lnTo>
                  <a:lnTo>
                    <a:pt x="0" y="64007"/>
                  </a:lnTo>
                  <a:lnTo>
                    <a:pt x="202691" y="64007"/>
                  </a:lnTo>
                  <a:close/>
                </a:path>
                <a:path w="293370" h="128270">
                  <a:moveTo>
                    <a:pt x="202691" y="64007"/>
                  </a:moveTo>
                  <a:lnTo>
                    <a:pt x="157733" y="0"/>
                  </a:lnTo>
                  <a:lnTo>
                    <a:pt x="293369" y="64007"/>
                  </a:lnTo>
                  <a:lnTo>
                    <a:pt x="157733" y="128015"/>
                  </a:lnTo>
                  <a:lnTo>
                    <a:pt x="202691" y="6400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561838" y="4818126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5" h="128270">
                  <a:moveTo>
                    <a:pt x="202691" y="64007"/>
                  </a:moveTo>
                  <a:lnTo>
                    <a:pt x="0" y="64007"/>
                  </a:lnTo>
                  <a:lnTo>
                    <a:pt x="22097" y="85343"/>
                  </a:lnTo>
                  <a:lnTo>
                    <a:pt x="187705" y="85343"/>
                  </a:lnTo>
                  <a:lnTo>
                    <a:pt x="202691" y="64007"/>
                  </a:lnTo>
                  <a:close/>
                </a:path>
                <a:path w="292735" h="128270">
                  <a:moveTo>
                    <a:pt x="292607" y="64007"/>
                  </a:moveTo>
                  <a:lnTo>
                    <a:pt x="157733" y="0"/>
                  </a:lnTo>
                  <a:lnTo>
                    <a:pt x="202691" y="64007"/>
                  </a:lnTo>
                  <a:lnTo>
                    <a:pt x="202691" y="106679"/>
                  </a:lnTo>
                  <a:lnTo>
                    <a:pt x="292607" y="64007"/>
                  </a:lnTo>
                  <a:close/>
                </a:path>
                <a:path w="292735" h="128270">
                  <a:moveTo>
                    <a:pt x="202691" y="106679"/>
                  </a:moveTo>
                  <a:lnTo>
                    <a:pt x="202691" y="85343"/>
                  </a:lnTo>
                  <a:lnTo>
                    <a:pt x="187705" y="85343"/>
                  </a:lnTo>
                  <a:lnTo>
                    <a:pt x="157733" y="128015"/>
                  </a:lnTo>
                  <a:lnTo>
                    <a:pt x="202691" y="106679"/>
                  </a:lnTo>
                  <a:close/>
                </a:path>
                <a:path w="292735" h="128270">
                  <a:moveTo>
                    <a:pt x="202691" y="85343"/>
                  </a:moveTo>
                  <a:lnTo>
                    <a:pt x="202691" y="64007"/>
                  </a:lnTo>
                  <a:lnTo>
                    <a:pt x="187705" y="85343"/>
                  </a:lnTo>
                  <a:lnTo>
                    <a:pt x="202691" y="85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61457" y="4817745"/>
              <a:ext cx="293369" cy="12877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088636" y="4818126"/>
              <a:ext cx="270510" cy="128270"/>
            </a:xfrm>
            <a:custGeom>
              <a:avLst/>
              <a:gdLst/>
              <a:ahLst/>
              <a:cxnLst/>
              <a:rect l="l" t="t" r="r" b="b"/>
              <a:pathLst>
                <a:path w="270510" h="128270">
                  <a:moveTo>
                    <a:pt x="179832" y="64007"/>
                  </a:moveTo>
                  <a:lnTo>
                    <a:pt x="164846" y="42671"/>
                  </a:lnTo>
                  <a:lnTo>
                    <a:pt x="0" y="42671"/>
                  </a:lnTo>
                  <a:lnTo>
                    <a:pt x="0" y="64007"/>
                  </a:lnTo>
                  <a:lnTo>
                    <a:pt x="179832" y="64007"/>
                  </a:lnTo>
                  <a:close/>
                </a:path>
                <a:path w="270510" h="128270">
                  <a:moveTo>
                    <a:pt x="270510" y="64007"/>
                  </a:moveTo>
                  <a:lnTo>
                    <a:pt x="134874" y="0"/>
                  </a:lnTo>
                  <a:lnTo>
                    <a:pt x="164846" y="42671"/>
                  </a:lnTo>
                  <a:lnTo>
                    <a:pt x="179832" y="42671"/>
                  </a:lnTo>
                  <a:lnTo>
                    <a:pt x="202692" y="64007"/>
                  </a:lnTo>
                  <a:lnTo>
                    <a:pt x="202692" y="96011"/>
                  </a:lnTo>
                  <a:lnTo>
                    <a:pt x="270510" y="64007"/>
                  </a:lnTo>
                  <a:close/>
                </a:path>
                <a:path w="270510" h="128270">
                  <a:moveTo>
                    <a:pt x="202692" y="96011"/>
                  </a:moveTo>
                  <a:lnTo>
                    <a:pt x="202692" y="64007"/>
                  </a:lnTo>
                  <a:lnTo>
                    <a:pt x="179832" y="64007"/>
                  </a:lnTo>
                  <a:lnTo>
                    <a:pt x="134874" y="128015"/>
                  </a:lnTo>
                  <a:lnTo>
                    <a:pt x="202692" y="96011"/>
                  </a:lnTo>
                  <a:close/>
                </a:path>
                <a:path w="270510" h="128270">
                  <a:moveTo>
                    <a:pt x="202692" y="64007"/>
                  </a:moveTo>
                  <a:lnTo>
                    <a:pt x="179832" y="42671"/>
                  </a:lnTo>
                  <a:lnTo>
                    <a:pt x="164846" y="42671"/>
                  </a:lnTo>
                  <a:lnTo>
                    <a:pt x="179832" y="64007"/>
                  </a:lnTo>
                  <a:lnTo>
                    <a:pt x="202692" y="640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8255" y="4817745"/>
              <a:ext cx="271271" cy="12877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683252" y="4818126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5" h="128270">
                  <a:moveTo>
                    <a:pt x="202691" y="64007"/>
                  </a:moveTo>
                  <a:lnTo>
                    <a:pt x="187705" y="42671"/>
                  </a:lnTo>
                  <a:lnTo>
                    <a:pt x="0" y="42671"/>
                  </a:lnTo>
                  <a:lnTo>
                    <a:pt x="0" y="64007"/>
                  </a:lnTo>
                  <a:lnTo>
                    <a:pt x="202691" y="64007"/>
                  </a:lnTo>
                  <a:close/>
                </a:path>
                <a:path w="292735" h="128270">
                  <a:moveTo>
                    <a:pt x="292607" y="64007"/>
                  </a:moveTo>
                  <a:lnTo>
                    <a:pt x="157733" y="0"/>
                  </a:lnTo>
                  <a:lnTo>
                    <a:pt x="187705" y="42671"/>
                  </a:lnTo>
                  <a:lnTo>
                    <a:pt x="202691" y="42671"/>
                  </a:lnTo>
                  <a:lnTo>
                    <a:pt x="202691" y="106679"/>
                  </a:lnTo>
                  <a:lnTo>
                    <a:pt x="292607" y="64007"/>
                  </a:lnTo>
                  <a:close/>
                </a:path>
                <a:path w="292735" h="128270">
                  <a:moveTo>
                    <a:pt x="202691" y="106679"/>
                  </a:moveTo>
                  <a:lnTo>
                    <a:pt x="202691" y="64007"/>
                  </a:lnTo>
                  <a:lnTo>
                    <a:pt x="157733" y="128015"/>
                  </a:lnTo>
                  <a:lnTo>
                    <a:pt x="202691" y="106679"/>
                  </a:lnTo>
                  <a:close/>
                </a:path>
                <a:path w="292735" h="128270">
                  <a:moveTo>
                    <a:pt x="202691" y="64007"/>
                  </a:moveTo>
                  <a:lnTo>
                    <a:pt x="202691" y="42671"/>
                  </a:lnTo>
                  <a:lnTo>
                    <a:pt x="187705" y="42671"/>
                  </a:lnTo>
                  <a:lnTo>
                    <a:pt x="202691" y="640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83252" y="4818126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5" h="128270">
                  <a:moveTo>
                    <a:pt x="202691" y="42671"/>
                  </a:moveTo>
                  <a:lnTo>
                    <a:pt x="202691" y="64007"/>
                  </a:lnTo>
                  <a:lnTo>
                    <a:pt x="0" y="64007"/>
                  </a:lnTo>
                  <a:lnTo>
                    <a:pt x="0" y="42671"/>
                  </a:lnTo>
                  <a:lnTo>
                    <a:pt x="202691" y="42671"/>
                  </a:lnTo>
                  <a:close/>
                </a:path>
                <a:path w="292735" h="128270">
                  <a:moveTo>
                    <a:pt x="202691" y="64007"/>
                  </a:moveTo>
                  <a:lnTo>
                    <a:pt x="157733" y="0"/>
                  </a:lnTo>
                  <a:lnTo>
                    <a:pt x="292607" y="64007"/>
                  </a:lnTo>
                  <a:lnTo>
                    <a:pt x="157733" y="128015"/>
                  </a:lnTo>
                  <a:lnTo>
                    <a:pt x="202691" y="6400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6327266" y="5287136"/>
            <a:ext cx="822325" cy="257810"/>
            <a:chOff x="6327266" y="5287136"/>
            <a:chExt cx="822325" cy="257810"/>
          </a:xfrm>
        </p:grpSpPr>
        <p:sp>
          <p:nvSpPr>
            <p:cNvPr id="67" name="object 67"/>
            <p:cNvSpPr/>
            <p:nvPr/>
          </p:nvSpPr>
          <p:spPr>
            <a:xfrm>
              <a:off x="7138307" y="5308853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235451"/>
                  </a:moveTo>
                  <a:lnTo>
                    <a:pt x="0" y="0"/>
                  </a:lnTo>
                </a:path>
              </a:pathLst>
            </a:custGeom>
            <a:ln w="22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27647" y="5287517"/>
              <a:ext cx="135255" cy="257175"/>
            </a:xfrm>
            <a:custGeom>
              <a:avLst/>
              <a:gdLst/>
              <a:ahLst/>
              <a:cxnLst/>
              <a:rect l="l" t="t" r="r" b="b"/>
              <a:pathLst>
                <a:path w="135254" h="257175">
                  <a:moveTo>
                    <a:pt x="134873" y="128778"/>
                  </a:moveTo>
                  <a:lnTo>
                    <a:pt x="67055" y="171450"/>
                  </a:lnTo>
                  <a:lnTo>
                    <a:pt x="0" y="128778"/>
                  </a:lnTo>
                  <a:lnTo>
                    <a:pt x="67055" y="256794"/>
                  </a:lnTo>
                  <a:lnTo>
                    <a:pt x="67055" y="192786"/>
                  </a:lnTo>
                  <a:lnTo>
                    <a:pt x="89915" y="192786"/>
                  </a:lnTo>
                  <a:lnTo>
                    <a:pt x="89915" y="213642"/>
                  </a:lnTo>
                  <a:lnTo>
                    <a:pt x="134873" y="128778"/>
                  </a:lnTo>
                  <a:close/>
                </a:path>
                <a:path w="135254" h="257175">
                  <a:moveTo>
                    <a:pt x="89915" y="157066"/>
                  </a:moveTo>
                  <a:lnTo>
                    <a:pt x="89915" y="21335"/>
                  </a:lnTo>
                  <a:lnTo>
                    <a:pt x="67055" y="0"/>
                  </a:lnTo>
                  <a:lnTo>
                    <a:pt x="67055" y="171450"/>
                  </a:lnTo>
                  <a:lnTo>
                    <a:pt x="89915" y="157066"/>
                  </a:lnTo>
                  <a:close/>
                </a:path>
                <a:path w="135254" h="257175">
                  <a:moveTo>
                    <a:pt x="89915" y="213642"/>
                  </a:moveTo>
                  <a:lnTo>
                    <a:pt x="89915" y="192786"/>
                  </a:lnTo>
                  <a:lnTo>
                    <a:pt x="67055" y="192786"/>
                  </a:lnTo>
                  <a:lnTo>
                    <a:pt x="67055" y="256794"/>
                  </a:lnTo>
                  <a:lnTo>
                    <a:pt x="89915" y="213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7266" y="5287136"/>
              <a:ext cx="135635" cy="25755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417464" y="5308851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720842" y="0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6822567" y="5607939"/>
            <a:ext cx="293370" cy="128905"/>
            <a:chOff x="6822567" y="5607939"/>
            <a:chExt cx="293370" cy="128905"/>
          </a:xfrm>
        </p:grpSpPr>
        <p:sp>
          <p:nvSpPr>
            <p:cNvPr id="72" name="object 72"/>
            <p:cNvSpPr/>
            <p:nvPr/>
          </p:nvSpPr>
          <p:spPr>
            <a:xfrm>
              <a:off x="6822948" y="5608320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4" h="128270">
                  <a:moveTo>
                    <a:pt x="202692" y="64008"/>
                  </a:moveTo>
                  <a:lnTo>
                    <a:pt x="187706" y="42672"/>
                  </a:lnTo>
                  <a:lnTo>
                    <a:pt x="22860" y="42672"/>
                  </a:lnTo>
                  <a:lnTo>
                    <a:pt x="0" y="64008"/>
                  </a:lnTo>
                  <a:lnTo>
                    <a:pt x="202692" y="64008"/>
                  </a:lnTo>
                  <a:close/>
                </a:path>
                <a:path w="292734" h="128270">
                  <a:moveTo>
                    <a:pt x="292608" y="64008"/>
                  </a:moveTo>
                  <a:lnTo>
                    <a:pt x="157734" y="0"/>
                  </a:lnTo>
                  <a:lnTo>
                    <a:pt x="187706" y="42672"/>
                  </a:lnTo>
                  <a:lnTo>
                    <a:pt x="202692" y="42672"/>
                  </a:lnTo>
                  <a:lnTo>
                    <a:pt x="202692" y="106680"/>
                  </a:lnTo>
                  <a:lnTo>
                    <a:pt x="292608" y="64008"/>
                  </a:lnTo>
                  <a:close/>
                </a:path>
                <a:path w="292734" h="128270">
                  <a:moveTo>
                    <a:pt x="202692" y="106680"/>
                  </a:moveTo>
                  <a:lnTo>
                    <a:pt x="202692" y="64008"/>
                  </a:lnTo>
                  <a:lnTo>
                    <a:pt x="157734" y="128016"/>
                  </a:lnTo>
                  <a:lnTo>
                    <a:pt x="202692" y="106680"/>
                  </a:lnTo>
                  <a:close/>
                </a:path>
                <a:path w="292734" h="128270">
                  <a:moveTo>
                    <a:pt x="202692" y="64008"/>
                  </a:moveTo>
                  <a:lnTo>
                    <a:pt x="202692" y="42672"/>
                  </a:lnTo>
                  <a:lnTo>
                    <a:pt x="187706" y="42672"/>
                  </a:lnTo>
                  <a:lnTo>
                    <a:pt x="202692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22567" y="5607939"/>
              <a:ext cx="293370" cy="128778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6462141" y="5607939"/>
            <a:ext cx="293370" cy="128905"/>
            <a:chOff x="6462141" y="5607939"/>
            <a:chExt cx="293370" cy="128905"/>
          </a:xfrm>
        </p:grpSpPr>
        <p:sp>
          <p:nvSpPr>
            <p:cNvPr id="75" name="object 75"/>
            <p:cNvSpPr/>
            <p:nvPr/>
          </p:nvSpPr>
          <p:spPr>
            <a:xfrm>
              <a:off x="6462522" y="5608320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4" h="128270">
                  <a:moveTo>
                    <a:pt x="202691" y="64008"/>
                  </a:moveTo>
                  <a:lnTo>
                    <a:pt x="187705" y="42672"/>
                  </a:lnTo>
                  <a:lnTo>
                    <a:pt x="0" y="42672"/>
                  </a:lnTo>
                  <a:lnTo>
                    <a:pt x="0" y="64008"/>
                  </a:lnTo>
                  <a:lnTo>
                    <a:pt x="202691" y="64008"/>
                  </a:lnTo>
                  <a:close/>
                </a:path>
                <a:path w="292734" h="128270">
                  <a:moveTo>
                    <a:pt x="292607" y="64008"/>
                  </a:moveTo>
                  <a:lnTo>
                    <a:pt x="157733" y="0"/>
                  </a:lnTo>
                  <a:lnTo>
                    <a:pt x="187705" y="42672"/>
                  </a:lnTo>
                  <a:lnTo>
                    <a:pt x="202691" y="42672"/>
                  </a:lnTo>
                  <a:lnTo>
                    <a:pt x="202691" y="106680"/>
                  </a:lnTo>
                  <a:lnTo>
                    <a:pt x="292607" y="64008"/>
                  </a:lnTo>
                  <a:close/>
                </a:path>
                <a:path w="292734" h="128270">
                  <a:moveTo>
                    <a:pt x="202691" y="106680"/>
                  </a:moveTo>
                  <a:lnTo>
                    <a:pt x="202691" y="64008"/>
                  </a:lnTo>
                  <a:lnTo>
                    <a:pt x="157733" y="128016"/>
                  </a:lnTo>
                  <a:lnTo>
                    <a:pt x="202691" y="106680"/>
                  </a:lnTo>
                  <a:close/>
                </a:path>
                <a:path w="292734" h="128270">
                  <a:moveTo>
                    <a:pt x="202691" y="64008"/>
                  </a:moveTo>
                  <a:lnTo>
                    <a:pt x="202691" y="42672"/>
                  </a:lnTo>
                  <a:lnTo>
                    <a:pt x="187705" y="42672"/>
                  </a:lnTo>
                  <a:lnTo>
                    <a:pt x="202691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462522" y="5608320"/>
              <a:ext cx="292735" cy="128270"/>
            </a:xfrm>
            <a:custGeom>
              <a:avLst/>
              <a:gdLst/>
              <a:ahLst/>
              <a:cxnLst/>
              <a:rect l="l" t="t" r="r" b="b"/>
              <a:pathLst>
                <a:path w="292734" h="128270">
                  <a:moveTo>
                    <a:pt x="202691" y="42672"/>
                  </a:moveTo>
                  <a:lnTo>
                    <a:pt x="202691" y="64008"/>
                  </a:lnTo>
                  <a:lnTo>
                    <a:pt x="0" y="64008"/>
                  </a:lnTo>
                  <a:lnTo>
                    <a:pt x="0" y="42672"/>
                  </a:lnTo>
                  <a:lnTo>
                    <a:pt x="202691" y="42672"/>
                  </a:lnTo>
                  <a:close/>
                </a:path>
                <a:path w="292734" h="128270">
                  <a:moveTo>
                    <a:pt x="202691" y="64008"/>
                  </a:moveTo>
                  <a:lnTo>
                    <a:pt x="157733" y="0"/>
                  </a:lnTo>
                  <a:lnTo>
                    <a:pt x="292607" y="64008"/>
                  </a:lnTo>
                  <a:lnTo>
                    <a:pt x="157733" y="128016"/>
                  </a:lnTo>
                  <a:lnTo>
                    <a:pt x="202691" y="6400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46162" y="3981519"/>
          <a:ext cx="3703320" cy="630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733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BCS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950" b="1" spc="-7" baseline="-25641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(n)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1964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n-1</a:t>
                      </a:r>
                      <a:r>
                        <a:rPr sz="19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9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9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 marR="67310">
                        <a:lnSpc>
                          <a:spcPts val="1964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n-1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95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WCS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192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950" b="1" spc="-7" baseline="-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(n)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1920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=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ts val="1920"/>
                        </a:lnSpc>
                      </a:pPr>
                      <a:r>
                        <a:rPr sz="1900" b="1" spc="-5" dirty="0">
                          <a:latin typeface="Courier New"/>
                          <a:cs typeface="Courier New"/>
                        </a:rPr>
                        <a:t>1/2(n</a:t>
                      </a:r>
                      <a:r>
                        <a:rPr sz="1950" b="1" spc="-7" baseline="2564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-n)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1920"/>
                        </a:lnSpc>
                      </a:pPr>
                      <a:r>
                        <a:rPr sz="1900" b="1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9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latin typeface="Courier New"/>
                          <a:cs typeface="Courier New"/>
                        </a:rPr>
                        <a:t>1/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Analysis:</a:t>
            </a:r>
          </a:p>
          <a:p>
            <a:pPr>
              <a:lnSpc>
                <a:spcPct val="100000"/>
              </a:lnSpc>
            </a:pPr>
            <a:endParaRPr sz="2600"/>
          </a:p>
          <a:p>
            <a:pPr marL="508000">
              <a:lnSpc>
                <a:spcPct val="100000"/>
              </a:lnSpc>
            </a:pPr>
            <a:r>
              <a:rPr sz="1900" b="1" u="none" dirty="0">
                <a:latin typeface="Courier New"/>
                <a:cs typeface="Courier New"/>
              </a:rPr>
              <a:t>i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loop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runs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from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dirty="0">
                <a:latin typeface="Courier New"/>
                <a:cs typeface="Courier New"/>
              </a:rPr>
              <a:t>2</a:t>
            </a:r>
            <a:r>
              <a:rPr sz="1900" b="1" u="none" spc="-5" dirty="0">
                <a:latin typeface="Courier New"/>
                <a:cs typeface="Courier New"/>
              </a:rPr>
              <a:t> to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dirty="0">
                <a:latin typeface="Courier New"/>
                <a:cs typeface="Courier New"/>
              </a:rPr>
              <a:t>n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=&gt;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n-1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iterations</a:t>
            </a:r>
            <a:endParaRPr sz="1900">
              <a:latin typeface="Courier New"/>
              <a:cs typeface="Courier New"/>
            </a:endParaRPr>
          </a:p>
          <a:p>
            <a:pPr marL="508000">
              <a:lnSpc>
                <a:spcPct val="100000"/>
              </a:lnSpc>
              <a:spcBef>
                <a:spcPts val="110"/>
              </a:spcBef>
            </a:pPr>
            <a:r>
              <a:rPr sz="1900" b="1" u="none" dirty="0">
                <a:latin typeface="Courier New"/>
                <a:cs typeface="Courier New"/>
              </a:rPr>
              <a:t>k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loop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runs from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i-1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times for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each </a:t>
            </a:r>
            <a:r>
              <a:rPr sz="1900" b="1" u="none" dirty="0">
                <a:latin typeface="Courier New"/>
                <a:cs typeface="Courier New"/>
              </a:rPr>
              <a:t>i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value.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 marL="508000">
              <a:lnSpc>
                <a:spcPct val="100000"/>
              </a:lnSpc>
            </a:pPr>
            <a:r>
              <a:rPr sz="1900" b="1" u="none" spc="-5" dirty="0">
                <a:latin typeface="Courier New"/>
                <a:cs typeface="Courier New"/>
              </a:rPr>
              <a:t>Min</a:t>
            </a:r>
            <a:r>
              <a:rPr sz="1900" b="1" u="none" spc="-2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Comparisons:</a:t>
            </a:r>
            <a:r>
              <a:rPr sz="1900" b="1" u="none" spc="-15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1+1+1+…+n-1</a:t>
            </a:r>
            <a:r>
              <a:rPr sz="1900" b="1" u="none" spc="-20" dirty="0">
                <a:latin typeface="Courier New"/>
                <a:cs typeface="Courier New"/>
              </a:rPr>
              <a:t> </a:t>
            </a:r>
            <a:r>
              <a:rPr sz="1900" b="1" u="none" dirty="0">
                <a:latin typeface="Courier New"/>
                <a:cs typeface="Courier New"/>
              </a:rPr>
              <a:t>=</a:t>
            </a:r>
            <a:r>
              <a:rPr sz="1900" b="1" u="none" spc="-15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n-1</a:t>
            </a:r>
            <a:endParaRPr sz="1900">
              <a:latin typeface="Courier New"/>
              <a:cs typeface="Courier New"/>
            </a:endParaRPr>
          </a:p>
          <a:p>
            <a:pPr marL="508000" marR="1106170" indent="-635">
              <a:lnSpc>
                <a:spcPts val="2390"/>
              </a:lnSpc>
              <a:spcBef>
                <a:spcPts val="90"/>
              </a:spcBef>
              <a:tabLst>
                <a:tab pos="2938145" algn="l"/>
                <a:tab pos="4672330" algn="l"/>
              </a:tabLst>
            </a:pPr>
            <a:r>
              <a:rPr sz="1900" b="1" u="none" spc="-5" dirty="0">
                <a:latin typeface="Courier New"/>
                <a:cs typeface="Courier New"/>
              </a:rPr>
              <a:t>Max Comparisons: 1+2+3+…+n-1 </a:t>
            </a:r>
            <a:r>
              <a:rPr sz="1900" b="1" u="none" dirty="0">
                <a:latin typeface="Courier New"/>
                <a:cs typeface="Courier New"/>
              </a:rPr>
              <a:t>= </a:t>
            </a:r>
            <a:r>
              <a:rPr sz="1900" b="1" u="none" spc="-5" dirty="0">
                <a:latin typeface="Courier New"/>
                <a:cs typeface="Courier New"/>
              </a:rPr>
              <a:t>1/2(n</a:t>
            </a:r>
            <a:r>
              <a:rPr sz="1950" b="1" u="none" spc="-7" baseline="25641" dirty="0">
                <a:latin typeface="Courier New"/>
                <a:cs typeface="Courier New"/>
              </a:rPr>
              <a:t>2</a:t>
            </a:r>
            <a:r>
              <a:rPr sz="1900" b="1" u="none" spc="-5" dirty="0">
                <a:latin typeface="Courier New"/>
                <a:cs typeface="Courier New"/>
              </a:rPr>
              <a:t>-n) </a:t>
            </a:r>
            <a:r>
              <a:rPr sz="1900" b="1" u="none" spc="-1135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Min swaps:	0+0+0+…+0	</a:t>
            </a:r>
            <a:r>
              <a:rPr sz="1900" b="1" u="none" dirty="0">
                <a:latin typeface="Courier New"/>
                <a:cs typeface="Courier New"/>
              </a:rPr>
              <a:t>=</a:t>
            </a:r>
            <a:r>
              <a:rPr sz="1900" b="1" u="none" spc="-20" dirty="0">
                <a:latin typeface="Courier New"/>
                <a:cs typeface="Courier New"/>
              </a:rPr>
              <a:t> </a:t>
            </a:r>
            <a:r>
              <a:rPr sz="1900" b="1" u="none" dirty="0">
                <a:latin typeface="Courier New"/>
                <a:cs typeface="Courier New"/>
              </a:rPr>
              <a:t>0</a:t>
            </a:r>
            <a:endParaRPr sz="1900">
              <a:latin typeface="Courier New"/>
              <a:cs typeface="Courier New"/>
            </a:endParaRPr>
          </a:p>
          <a:p>
            <a:pPr marL="508000">
              <a:lnSpc>
                <a:spcPct val="100000"/>
              </a:lnSpc>
              <a:spcBef>
                <a:spcPts val="10"/>
              </a:spcBef>
              <a:tabLst>
                <a:tab pos="2938780" algn="l"/>
              </a:tabLst>
            </a:pPr>
            <a:r>
              <a:rPr sz="1900" b="1" u="none" spc="-5" dirty="0">
                <a:latin typeface="Courier New"/>
                <a:cs typeface="Courier New"/>
              </a:rPr>
              <a:t>Max</a:t>
            </a:r>
            <a:r>
              <a:rPr sz="1900" b="1" u="none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swaps:	1+2+3+…+n-1</a:t>
            </a:r>
            <a:r>
              <a:rPr sz="1900" b="1" u="none" spc="-45" dirty="0">
                <a:latin typeface="Courier New"/>
                <a:cs typeface="Courier New"/>
              </a:rPr>
              <a:t> </a:t>
            </a:r>
            <a:r>
              <a:rPr sz="1900" b="1" u="none" dirty="0">
                <a:latin typeface="Courier New"/>
                <a:cs typeface="Courier New"/>
              </a:rPr>
              <a:t>=</a:t>
            </a:r>
            <a:r>
              <a:rPr sz="1900" b="1" u="none" spc="-4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1/2(n</a:t>
            </a:r>
            <a:r>
              <a:rPr sz="1950" b="1" u="none" spc="-7" baseline="25641" dirty="0">
                <a:latin typeface="Courier New"/>
                <a:cs typeface="Courier New"/>
              </a:rPr>
              <a:t>2</a:t>
            </a:r>
            <a:r>
              <a:rPr sz="1900" b="1" u="none" spc="-5" dirty="0">
                <a:latin typeface="Courier New"/>
                <a:cs typeface="Courier New"/>
              </a:rPr>
              <a:t>-n)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 marL="4172585">
              <a:lnSpc>
                <a:spcPct val="100000"/>
              </a:lnSpc>
            </a:pPr>
            <a:r>
              <a:rPr sz="1900" b="1" u="none" spc="-5" dirty="0">
                <a:latin typeface="Courier New"/>
                <a:cs typeface="Courier New"/>
              </a:rPr>
              <a:t>2(n</a:t>
            </a:r>
            <a:r>
              <a:rPr sz="1950" b="1" u="none" spc="-7" baseline="25641" dirty="0">
                <a:latin typeface="Courier New"/>
                <a:cs typeface="Courier New"/>
              </a:rPr>
              <a:t>2</a:t>
            </a:r>
            <a:r>
              <a:rPr sz="1900" b="1" u="none" spc="-5" dirty="0">
                <a:latin typeface="Courier New"/>
                <a:cs typeface="Courier New"/>
              </a:rPr>
              <a:t>-n)</a:t>
            </a:r>
            <a:r>
              <a:rPr sz="1900" b="1" u="none" spc="-40" dirty="0">
                <a:latin typeface="Courier New"/>
                <a:cs typeface="Courier New"/>
              </a:rPr>
              <a:t> </a:t>
            </a:r>
            <a:r>
              <a:rPr sz="1900" b="1" u="none" dirty="0">
                <a:latin typeface="Courier New"/>
                <a:cs typeface="Courier New"/>
              </a:rPr>
              <a:t>=</a:t>
            </a:r>
            <a:r>
              <a:rPr sz="1900" b="1" u="none" spc="-4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(n</a:t>
            </a:r>
            <a:r>
              <a:rPr sz="1950" b="1" u="none" spc="-7" baseline="25641" dirty="0">
                <a:latin typeface="Courier New"/>
                <a:cs typeface="Courier New"/>
              </a:rPr>
              <a:t>2</a:t>
            </a:r>
            <a:r>
              <a:rPr sz="1900" b="1" u="none" spc="-5" dirty="0">
                <a:latin typeface="Courier New"/>
                <a:cs typeface="Courier New"/>
              </a:rPr>
              <a:t>-n)</a:t>
            </a:r>
            <a:endParaRPr sz="1900">
              <a:latin typeface="Courier New"/>
              <a:cs typeface="Courier New"/>
            </a:endParaRPr>
          </a:p>
          <a:p>
            <a:pPr marL="507365">
              <a:lnSpc>
                <a:spcPct val="100000"/>
              </a:lnSpc>
              <a:spcBef>
                <a:spcPts val="110"/>
              </a:spcBef>
            </a:pPr>
            <a:r>
              <a:rPr sz="1900" b="1" u="none" spc="-5" dirty="0">
                <a:latin typeface="Courier New"/>
                <a:cs typeface="Courier New"/>
              </a:rPr>
              <a:t>Performance</a:t>
            </a:r>
            <a:r>
              <a:rPr sz="1900" b="1" u="none" spc="-10" dirty="0">
                <a:latin typeface="Courier New"/>
                <a:cs typeface="Courier New"/>
              </a:rPr>
              <a:t> </a:t>
            </a:r>
            <a:r>
              <a:rPr sz="1900" b="1" u="none" spc="-5" dirty="0">
                <a:latin typeface="Courier New"/>
                <a:cs typeface="Courier New"/>
              </a:rPr>
              <a:t>function F(n)= </a:t>
            </a:r>
            <a:r>
              <a:rPr sz="1900" b="1" u="none" spc="-10" dirty="0">
                <a:latin typeface="Courier New"/>
                <a:cs typeface="Courier New"/>
              </a:rPr>
              <a:t>1/2(F</a:t>
            </a:r>
            <a:r>
              <a:rPr sz="1950" b="1" u="none" spc="-15" baseline="-25641" dirty="0">
                <a:latin typeface="Courier New"/>
                <a:cs typeface="Courier New"/>
              </a:rPr>
              <a:t>1</a:t>
            </a:r>
            <a:r>
              <a:rPr sz="1900" b="1" u="none" spc="-10" dirty="0">
                <a:latin typeface="Courier New"/>
                <a:cs typeface="Courier New"/>
              </a:rPr>
              <a:t>+F</a:t>
            </a:r>
            <a:r>
              <a:rPr sz="1950" b="1" u="none" spc="-15" baseline="-25641" dirty="0">
                <a:latin typeface="Courier New"/>
                <a:cs typeface="Courier New"/>
              </a:rPr>
              <a:t>2</a:t>
            </a:r>
            <a:r>
              <a:rPr sz="1900" b="1" u="none" spc="-10" dirty="0">
                <a:latin typeface="Courier New"/>
                <a:cs typeface="Courier New"/>
              </a:rPr>
              <a:t>)= </a:t>
            </a:r>
            <a:r>
              <a:rPr sz="1900" b="1" u="none" spc="-5" dirty="0">
                <a:latin typeface="Courier New"/>
                <a:cs typeface="Courier New"/>
              </a:rPr>
              <a:t>1/2(n</a:t>
            </a:r>
            <a:r>
              <a:rPr sz="1950" b="1" u="none" spc="-7" baseline="25641" dirty="0">
                <a:latin typeface="Courier New"/>
                <a:cs typeface="Courier New"/>
              </a:rPr>
              <a:t>2</a:t>
            </a:r>
            <a:r>
              <a:rPr sz="1900" b="1" u="none" spc="-5" dirty="0">
                <a:latin typeface="Courier New"/>
                <a:cs typeface="Courier New"/>
              </a:rPr>
              <a:t>-1)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37992" y="188467"/>
            <a:ext cx="252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Insertion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895" y="213614"/>
            <a:ext cx="252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Insertion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9045" y="3416046"/>
            <a:ext cx="7334884" cy="3204210"/>
            <a:chOff x="749045" y="3416046"/>
            <a:chExt cx="7334884" cy="3204210"/>
          </a:xfrm>
        </p:grpSpPr>
        <p:sp>
          <p:nvSpPr>
            <p:cNvPr id="4" name="object 4"/>
            <p:cNvSpPr/>
            <p:nvPr/>
          </p:nvSpPr>
          <p:spPr>
            <a:xfrm>
              <a:off x="749045" y="3416046"/>
              <a:ext cx="7315200" cy="13335"/>
            </a:xfrm>
            <a:custGeom>
              <a:avLst/>
              <a:gdLst/>
              <a:ahLst/>
              <a:cxnLst/>
              <a:rect l="l" t="t" r="r" b="b"/>
              <a:pathLst>
                <a:path w="7315200" h="13335">
                  <a:moveTo>
                    <a:pt x="0" y="12953"/>
                  </a:moveTo>
                  <a:lnTo>
                    <a:pt x="7315200" y="12953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12953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999" y="3429000"/>
              <a:ext cx="7315200" cy="3184525"/>
            </a:xfrm>
            <a:custGeom>
              <a:avLst/>
              <a:gdLst/>
              <a:ahLst/>
              <a:cxnLst/>
              <a:rect l="l" t="t" r="r" b="b"/>
              <a:pathLst>
                <a:path w="7315200" h="3184525">
                  <a:moveTo>
                    <a:pt x="7315200" y="3184398"/>
                  </a:moveTo>
                  <a:lnTo>
                    <a:pt x="7315200" y="0"/>
                  </a:lnTo>
                  <a:lnTo>
                    <a:pt x="0" y="0"/>
                  </a:lnTo>
                  <a:lnTo>
                    <a:pt x="0" y="3184398"/>
                  </a:lnTo>
                  <a:lnTo>
                    <a:pt x="7315200" y="3184398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999" y="3429000"/>
              <a:ext cx="7315200" cy="3184525"/>
            </a:xfrm>
            <a:custGeom>
              <a:avLst/>
              <a:gdLst/>
              <a:ahLst/>
              <a:cxnLst/>
              <a:rect l="l" t="t" r="r" b="b"/>
              <a:pathLst>
                <a:path w="7315200" h="3184525">
                  <a:moveTo>
                    <a:pt x="0" y="0"/>
                  </a:moveTo>
                  <a:lnTo>
                    <a:pt x="0" y="3184398"/>
                  </a:lnTo>
                  <a:lnTo>
                    <a:pt x="7315200" y="3184398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8102" y="1014475"/>
            <a:ext cx="8497570" cy="553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Finding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correct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position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element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inserted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into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list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 done by either using the swap method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illustrated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previous </a:t>
            </a:r>
            <a:r>
              <a:rPr sz="2200" dirty="0">
                <a:latin typeface="Times New Roman"/>
                <a:cs typeface="Times New Roman"/>
              </a:rPr>
              <a:t> algorithm) or by copying the element </a:t>
            </a:r>
            <a:r>
              <a:rPr sz="2200" spc="-5" dirty="0">
                <a:latin typeface="Times New Roman"/>
                <a:cs typeface="Times New Roman"/>
              </a:rPr>
              <a:t>and then inserting the current element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into its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correct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position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list.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Homework:</a:t>
            </a: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Apply detailed performance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analysis to the algorithm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below.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551815" marR="5206365">
              <a:lnSpc>
                <a:spcPts val="1950"/>
              </a:lnSpc>
            </a:pP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//</a:t>
            </a:r>
            <a:r>
              <a:rPr sz="1800" b="1" spc="-3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Using</a:t>
            </a:r>
            <a:r>
              <a:rPr sz="1800" b="1" spc="-3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copy</a:t>
            </a:r>
            <a:r>
              <a:rPr sz="1800" b="1" spc="-3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method </a:t>
            </a:r>
            <a:r>
              <a:rPr sz="1800" b="1" spc="-106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For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2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to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n</a:t>
            </a:r>
            <a:endParaRPr sz="1800">
              <a:latin typeface="Courier New"/>
              <a:cs typeface="Courier New"/>
            </a:endParaRPr>
          </a:p>
          <a:p>
            <a:pPr marL="825500">
              <a:lnSpc>
                <a:spcPts val="1814"/>
              </a:lnSpc>
            </a:pPr>
            <a:r>
              <a:rPr sz="1800" b="1" spc="-10" dirty="0">
                <a:latin typeface="Courier New"/>
                <a:cs typeface="Courier New"/>
              </a:rPr>
              <a:t>currentElement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A[i];</a:t>
            </a:r>
            <a:endParaRPr sz="1800">
              <a:latin typeface="Courier New"/>
              <a:cs typeface="Courier New"/>
            </a:endParaRPr>
          </a:p>
          <a:p>
            <a:pPr marL="825500" marR="1792605">
              <a:lnSpc>
                <a:spcPts val="1950"/>
              </a:lnSpc>
              <a:spcBef>
                <a:spcPts val="135"/>
              </a:spcBef>
            </a:pP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// find proper position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for current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element </a:t>
            </a:r>
            <a:r>
              <a:rPr sz="1800" b="1" spc="-107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k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i-1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to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34440">
              <a:lnSpc>
                <a:spcPts val="1814"/>
              </a:lnSpc>
            </a:pPr>
            <a:r>
              <a:rPr sz="1800" b="1" spc="-5" dirty="0">
                <a:latin typeface="Courier New"/>
                <a:cs typeface="Courier New"/>
              </a:rPr>
              <a:t>IF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(A[k]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&gt;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currentElement)</a:t>
            </a:r>
            <a:endParaRPr sz="1800">
              <a:latin typeface="Courier New"/>
              <a:cs typeface="Courier New"/>
            </a:endParaRPr>
          </a:p>
          <a:p>
            <a:pPr marL="1234440" marR="1793239" indent="546100">
              <a:lnSpc>
                <a:spcPts val="1950"/>
              </a:lnSpc>
              <a:spcBef>
                <a:spcPts val="135"/>
              </a:spcBef>
            </a:pPr>
            <a:r>
              <a:rPr sz="1800" b="1" spc="-5" dirty="0">
                <a:latin typeface="Courier New"/>
                <a:cs typeface="Courier New"/>
              </a:rPr>
              <a:t>A[k+1]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A[k];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//copy</a:t>
            </a:r>
            <a:r>
              <a:rPr sz="1800" b="1" spc="-2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A[k]</a:t>
            </a:r>
            <a:r>
              <a:rPr sz="1800" b="1" spc="-2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to</a:t>
            </a:r>
            <a:r>
              <a:rPr sz="1800" b="1" spc="-2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A[k+1] </a:t>
            </a:r>
            <a:r>
              <a:rPr sz="1800" b="1" spc="-106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Else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Exit</a:t>
            </a:r>
            <a:r>
              <a:rPr sz="1800" b="1" spc="-10" dirty="0">
                <a:latin typeface="Courier New"/>
                <a:cs typeface="Courier New"/>
              </a:rPr>
              <a:t> Loop;</a:t>
            </a:r>
            <a:endParaRPr sz="1800">
              <a:latin typeface="Courier New"/>
              <a:cs typeface="Courier New"/>
            </a:endParaRPr>
          </a:p>
          <a:p>
            <a:pPr marL="1098550">
              <a:lnSpc>
                <a:spcPts val="2080"/>
              </a:lnSpc>
            </a:pPr>
            <a:r>
              <a:rPr sz="1800" b="1" spc="-10" dirty="0">
                <a:latin typeface="Courier New"/>
                <a:cs typeface="Courier New"/>
              </a:rPr>
              <a:t>End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loop</a:t>
            </a:r>
            <a:endParaRPr sz="1800">
              <a:latin typeface="Courier New"/>
              <a:cs typeface="Courier New"/>
            </a:endParaRPr>
          </a:p>
          <a:p>
            <a:pPr marL="825500" marR="27482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//Insert current element into 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A[k+1] </a:t>
            </a:r>
            <a:r>
              <a:rPr sz="1800" b="1" spc="-107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A[k+1]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=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currentElement;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//Done</a:t>
            </a:r>
            <a:endParaRPr sz="1800">
              <a:latin typeface="Courier New"/>
              <a:cs typeface="Courier New"/>
            </a:endParaRPr>
          </a:p>
          <a:p>
            <a:pPr marL="55181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End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loop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890D5766-85E1-7EF0-63AA-EA0C1063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261F8983-CD07-1C40-9803-105EF8765823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ADC3745E-7B3D-E319-36EF-933285E23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EC7D15B3-029C-B4EF-5DFE-3EB376DE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86106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u="sng"/>
              <a:t>Complexity of Insertion Sort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en-US" altLang="en-US" sz="1800" u="sng"/>
              <a:t>Worst Case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en-US" altLang="en-US" sz="1800"/>
              <a:t>The worst case occurs when the array A is in reverse order and each item can be compared with the maximum number (I-1) of comparisons. So,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en-US" altLang="en-US" sz="1800"/>
              <a:t>f(n) = 0+1+2+3…+(n-1) = n(n-1)/2 = 0(n</a:t>
            </a:r>
            <a:r>
              <a:rPr lang="en-US" altLang="en-US" sz="1800" baseline="30000"/>
              <a:t>2</a:t>
            </a:r>
            <a:r>
              <a:rPr lang="en-US" altLang="en-US" sz="1800"/>
              <a:t>)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endParaRPr lang="en-US" altLang="en-US" sz="1000" u="sng"/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en-US" altLang="en-US" sz="1800" u="sng"/>
              <a:t>Average Case</a:t>
            </a:r>
          </a:p>
          <a:p>
            <a:pPr algn="just">
              <a:lnSpc>
                <a:spcPct val="160000"/>
              </a:lnSpc>
              <a:spcBef>
                <a:spcPct val="50000"/>
              </a:spcBef>
            </a:pPr>
            <a:r>
              <a:rPr lang="en-US" altLang="en-US" sz="1800"/>
              <a:t>On the average case, there will be approximately (I-1)/2 number of comparisons. So,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en-US" altLang="en-US" sz="1800"/>
              <a:t>f(n) = 0+1/2+2/2+3/2…+(n-1)/2 = n(n-1)/4 = 0(n</a:t>
            </a:r>
            <a:r>
              <a:rPr lang="en-US" altLang="en-US" sz="1800" baseline="30000"/>
              <a:t>2</a:t>
            </a:r>
            <a:r>
              <a:rPr lang="en-US" altLang="en-US" sz="1800"/>
              <a:t>)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85619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9892" y="188467"/>
            <a:ext cx="2604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8045" y="3591305"/>
            <a:ext cx="8020684" cy="2435225"/>
            <a:chOff x="368045" y="3591305"/>
            <a:chExt cx="8020684" cy="2435225"/>
          </a:xfrm>
        </p:grpSpPr>
        <p:sp>
          <p:nvSpPr>
            <p:cNvPr id="4" name="object 4"/>
            <p:cNvSpPr/>
            <p:nvPr/>
          </p:nvSpPr>
          <p:spPr>
            <a:xfrm>
              <a:off x="368045" y="3591305"/>
              <a:ext cx="8001000" cy="12700"/>
            </a:xfrm>
            <a:custGeom>
              <a:avLst/>
              <a:gdLst/>
              <a:ahLst/>
              <a:cxnLst/>
              <a:rect l="l" t="t" r="r" b="b"/>
              <a:pathLst>
                <a:path w="8001000" h="12700">
                  <a:moveTo>
                    <a:pt x="0" y="12192"/>
                  </a:moveTo>
                  <a:lnTo>
                    <a:pt x="8001000" y="12192"/>
                  </a:lnTo>
                  <a:lnTo>
                    <a:pt x="8001000" y="0"/>
                  </a:lnTo>
                  <a:lnTo>
                    <a:pt x="0" y="0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3603497"/>
              <a:ext cx="8001000" cy="2416810"/>
            </a:xfrm>
            <a:custGeom>
              <a:avLst/>
              <a:gdLst/>
              <a:ahLst/>
              <a:cxnLst/>
              <a:rect l="l" t="t" r="r" b="b"/>
              <a:pathLst>
                <a:path w="8001000" h="2416810">
                  <a:moveTo>
                    <a:pt x="8001000" y="2416302"/>
                  </a:moveTo>
                  <a:lnTo>
                    <a:pt x="8001000" y="0"/>
                  </a:lnTo>
                  <a:lnTo>
                    <a:pt x="0" y="0"/>
                  </a:lnTo>
                  <a:lnTo>
                    <a:pt x="0" y="2416302"/>
                  </a:lnTo>
                  <a:lnTo>
                    <a:pt x="8001000" y="2416302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999" y="3603497"/>
              <a:ext cx="8001000" cy="2416810"/>
            </a:xfrm>
            <a:custGeom>
              <a:avLst/>
              <a:gdLst/>
              <a:ahLst/>
              <a:cxnLst/>
              <a:rect l="l" t="t" r="r" b="b"/>
              <a:pathLst>
                <a:path w="8001000" h="2416810">
                  <a:moveTo>
                    <a:pt x="0" y="0"/>
                  </a:moveTo>
                  <a:lnTo>
                    <a:pt x="0" y="2416302"/>
                  </a:lnTo>
                  <a:lnTo>
                    <a:pt x="8001000" y="2416302"/>
                  </a:lnTo>
                  <a:lnTo>
                    <a:pt x="8001000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7987" y="1003046"/>
            <a:ext cx="8067675" cy="494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latin typeface="Times New Roman"/>
                <a:cs typeface="Times New Roman"/>
              </a:rPr>
              <a:t>This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is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called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simple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Selection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sort.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Concept:</a:t>
            </a:r>
            <a:r>
              <a:rPr sz="21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Given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5" dirty="0">
                <a:latin typeface="Times New Roman"/>
                <a:cs typeface="Times New Roman"/>
              </a:rPr>
              <a:t> list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items,</a:t>
            </a:r>
            <a:endParaRPr sz="2100">
              <a:latin typeface="Times New Roman"/>
              <a:cs typeface="Times New Roman"/>
            </a:endParaRPr>
          </a:p>
          <a:p>
            <a:pPr marL="12700" marR="502284">
              <a:lnSpc>
                <a:spcPct val="115199"/>
              </a:lnSpc>
              <a:spcBef>
                <a:spcPts val="1370"/>
              </a:spcBef>
            </a:pP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1: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Find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smallest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element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list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and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place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it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first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list. </a:t>
            </a:r>
            <a:r>
              <a:rPr sz="2100" spc="-509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2: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Apply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to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unsorted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portion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of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list.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3: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Repeat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step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2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for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every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other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element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in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the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unsorted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sublist.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00">
              <a:latin typeface="Times New Roman"/>
              <a:cs typeface="Times New Roman"/>
            </a:endParaRPr>
          </a:p>
          <a:p>
            <a:pPr marL="170815" marR="5577205">
              <a:lnSpc>
                <a:spcPct val="100000"/>
              </a:lnSpc>
            </a:pPr>
            <a:r>
              <a:rPr sz="1900" b="1" spc="-5" dirty="0">
                <a:solidFill>
                  <a:srgbClr val="FF3300"/>
                </a:solidFill>
                <a:latin typeface="Courier New"/>
                <a:cs typeface="Courier New"/>
              </a:rPr>
              <a:t>// Given list </a:t>
            </a:r>
            <a:r>
              <a:rPr sz="1900" b="1" dirty="0">
                <a:solidFill>
                  <a:srgbClr val="FF3300"/>
                </a:solidFill>
                <a:latin typeface="Courier New"/>
                <a:cs typeface="Courier New"/>
              </a:rPr>
              <a:t>A </a:t>
            </a:r>
            <a:r>
              <a:rPr sz="1900" b="1" spc="-113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For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i</a:t>
            </a:r>
            <a:r>
              <a:rPr sz="1900" b="1" spc="-2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2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1</a:t>
            </a:r>
            <a:r>
              <a:rPr sz="1900" b="1" spc="-2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to</a:t>
            </a:r>
            <a:r>
              <a:rPr sz="1900" b="1" spc="-2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n-1</a:t>
            </a:r>
            <a:endParaRPr sz="1900">
              <a:latin typeface="Courier New"/>
              <a:cs typeface="Courier New"/>
            </a:endParaRPr>
          </a:p>
          <a:p>
            <a:pPr marL="460375" marR="374015">
              <a:lnSpc>
                <a:spcPts val="2280"/>
              </a:lnSpc>
              <a:spcBef>
                <a:spcPts val="65"/>
              </a:spcBef>
            </a:pPr>
            <a:r>
              <a:rPr sz="1900" b="1" spc="-5" dirty="0">
                <a:solidFill>
                  <a:srgbClr val="FF3300"/>
                </a:solidFill>
                <a:latin typeface="Courier New"/>
                <a:cs typeface="Courier New"/>
              </a:rPr>
              <a:t>// Find smallest element and move it to position </a:t>
            </a:r>
            <a:r>
              <a:rPr sz="1900" b="1" dirty="0">
                <a:solidFill>
                  <a:srgbClr val="FF3300"/>
                </a:solidFill>
                <a:latin typeface="Courier New"/>
                <a:cs typeface="Courier New"/>
              </a:rPr>
              <a:t>i </a:t>
            </a:r>
            <a:r>
              <a:rPr sz="1900" b="1" spc="-113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For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j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i+1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to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n</a:t>
            </a:r>
            <a:endParaRPr sz="1900">
              <a:latin typeface="Courier New"/>
              <a:cs typeface="Courier New"/>
            </a:endParaRPr>
          </a:p>
          <a:p>
            <a:pPr marL="893444">
              <a:lnSpc>
                <a:spcPts val="2195"/>
              </a:lnSpc>
            </a:pPr>
            <a:r>
              <a:rPr sz="1900" b="1" spc="-5" dirty="0">
                <a:latin typeface="Courier New"/>
                <a:cs typeface="Courier New"/>
              </a:rPr>
              <a:t>IF</a:t>
            </a:r>
            <a:r>
              <a:rPr sz="1900" b="1" spc="-3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(A[j]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&lt;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A[i])</a:t>
            </a:r>
            <a:endParaRPr sz="1900">
              <a:latin typeface="Courier New"/>
              <a:cs typeface="Courier New"/>
            </a:endParaRPr>
          </a:p>
          <a:p>
            <a:pPr marL="460375" marR="663575" indent="866140">
              <a:lnSpc>
                <a:spcPts val="2270"/>
              </a:lnSpc>
              <a:spcBef>
                <a:spcPts val="80"/>
              </a:spcBef>
            </a:pPr>
            <a:r>
              <a:rPr sz="1900" b="1" spc="-5" dirty="0">
                <a:latin typeface="Courier New"/>
                <a:cs typeface="Courier New"/>
              </a:rPr>
              <a:t>swap(A[j],A[i]); </a:t>
            </a:r>
            <a:r>
              <a:rPr sz="1900" b="1" spc="-5" dirty="0">
                <a:solidFill>
                  <a:srgbClr val="FF3300"/>
                </a:solidFill>
                <a:latin typeface="Courier New"/>
                <a:cs typeface="Courier New"/>
              </a:rPr>
              <a:t>//may swap more than once </a:t>
            </a:r>
            <a:r>
              <a:rPr sz="1900" b="1" spc="-113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End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loop</a:t>
            </a:r>
            <a:endParaRPr sz="1900">
              <a:latin typeface="Courier New"/>
              <a:cs typeface="Courier New"/>
            </a:endParaRPr>
          </a:p>
          <a:p>
            <a:pPr marL="170815">
              <a:lnSpc>
                <a:spcPts val="2205"/>
              </a:lnSpc>
            </a:pPr>
            <a:r>
              <a:rPr sz="1900" b="1" spc="-5" dirty="0">
                <a:latin typeface="Courier New"/>
                <a:cs typeface="Courier New"/>
              </a:rPr>
              <a:t>End</a:t>
            </a:r>
            <a:r>
              <a:rPr sz="1900" b="1" spc="-6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loop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2FB397F-F065-59B7-BD83-B5B97C5A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2A457C57-29A1-264C-8565-E3A43CD0F030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C80BA71D-EEB0-AE3F-DC25-6DF8DF4E4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u="sng"/>
              <a:t>Selection Sort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96A211CF-1492-89DC-B28A-A7C2A86BD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0"/>
            <a:ext cx="8686800" cy="537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en-US" sz="1800" dirty="0"/>
              <a:t>- Selection is a simple sorting algorithm. 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en-US" sz="1800" dirty="0"/>
              <a:t>- It works by first finding the smallest element using a linear scan and swapping it into the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en-US" sz="1800" dirty="0"/>
              <a:t>first position in the list. Then finding the second smallest element by scanning the remaining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en-US" sz="1800" dirty="0"/>
              <a:t>elements, and so on.</a:t>
            </a:r>
          </a:p>
          <a:p>
            <a:pPr>
              <a:lnSpc>
                <a:spcPct val="140000"/>
              </a:lnSpc>
            </a:pPr>
            <a:endParaRPr lang="en-US" altLang="en-US" sz="1200" dirty="0"/>
          </a:p>
          <a:p>
            <a:pPr>
              <a:lnSpc>
                <a:spcPct val="140000"/>
              </a:lnSpc>
            </a:pPr>
            <a:r>
              <a:rPr lang="en-US" altLang="en-US" sz="1800" b="1" u="sng" dirty="0"/>
              <a:t>Algorithm: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Selection_Sort</a:t>
            </a:r>
            <a:r>
              <a:rPr lang="en-US" altLang="en-US" sz="1800" dirty="0"/>
              <a:t> (List, N)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Repeat steps 2 to 6 for I = 1 to N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    Set Min := I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    Repeat steps 4 and 5 for J = I+1 to N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         If List [J] &lt; List [Min] then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             Set Min := J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    swap( List[ I ], List[Min] )</a:t>
            </a:r>
          </a:p>
          <a:p>
            <a:pPr>
              <a:lnSpc>
                <a:spcPct val="140000"/>
              </a:lnSpc>
              <a:buFontTx/>
              <a:buAutoNum type="arabicPeriod"/>
            </a:pPr>
            <a:r>
              <a:rPr lang="en-US" altLang="en-US" sz="1800" dirty="0"/>
              <a:t>End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9892" y="188467"/>
            <a:ext cx="2604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501" y="1014475"/>
            <a:ext cx="60788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010" algn="l"/>
              </a:tabLst>
            </a:pPr>
            <a:r>
              <a:rPr sz="2200" spc="-5" dirty="0">
                <a:latin typeface="Times New Roman"/>
                <a:cs typeface="Times New Roman"/>
              </a:rPr>
              <a:t>Example:	int[]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myList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{2,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9, 5,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4, 8,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1};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22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3300"/>
                </a:solidFill>
                <a:latin typeface="Times New Roman"/>
                <a:cs typeface="Times New Roman"/>
              </a:rPr>
              <a:t>Unsorted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7491" y="3446526"/>
            <a:ext cx="113030" cy="226060"/>
          </a:xfrm>
          <a:custGeom>
            <a:avLst/>
            <a:gdLst/>
            <a:ahLst/>
            <a:cxnLst/>
            <a:rect l="l" t="t" r="r" b="b"/>
            <a:pathLst>
              <a:path w="113029" h="226060">
                <a:moveTo>
                  <a:pt x="112775" y="225551"/>
                </a:moveTo>
                <a:lnTo>
                  <a:pt x="112775" y="0"/>
                </a:lnTo>
                <a:lnTo>
                  <a:pt x="0" y="0"/>
                </a:lnTo>
                <a:lnTo>
                  <a:pt x="0" y="225551"/>
                </a:lnTo>
                <a:lnTo>
                  <a:pt x="112775" y="2255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568" y="3885391"/>
            <a:ext cx="105918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20" dirty="0">
                <a:latin typeface="Times New Roman"/>
                <a:cs typeface="Times New Roman"/>
              </a:rPr>
              <a:t>(a)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1st</a:t>
            </a:r>
            <a:r>
              <a:rPr sz="1750" spc="-75" dirty="0">
                <a:latin typeface="Times New Roman"/>
                <a:cs typeface="Times New Roman"/>
              </a:rPr>
              <a:t> </a:t>
            </a:r>
            <a:r>
              <a:rPr sz="1750" spc="35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0613" y="1911049"/>
            <a:ext cx="0" cy="1964689"/>
          </a:xfrm>
          <a:custGeom>
            <a:avLst/>
            <a:gdLst/>
            <a:ahLst/>
            <a:cxnLst/>
            <a:rect l="l" t="t" r="r" b="b"/>
            <a:pathLst>
              <a:path h="1964689">
                <a:moveTo>
                  <a:pt x="0" y="0"/>
                </a:moveTo>
                <a:lnTo>
                  <a:pt x="0" y="1961451"/>
                </a:lnTo>
              </a:path>
            </a:pathLst>
          </a:custGeom>
          <a:ln w="22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6251" y="2340101"/>
            <a:ext cx="112395" cy="226060"/>
          </a:xfrm>
          <a:custGeom>
            <a:avLst/>
            <a:gdLst/>
            <a:ahLst/>
            <a:cxnLst/>
            <a:rect l="l" t="t" r="r" b="b"/>
            <a:pathLst>
              <a:path w="112394" h="226060">
                <a:moveTo>
                  <a:pt x="112014" y="225551"/>
                </a:moveTo>
                <a:lnTo>
                  <a:pt x="112013" y="0"/>
                </a:lnTo>
                <a:lnTo>
                  <a:pt x="0" y="0"/>
                </a:lnTo>
                <a:lnTo>
                  <a:pt x="0" y="225551"/>
                </a:lnTo>
                <a:lnTo>
                  <a:pt x="112014" y="2255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8350" y="2724150"/>
            <a:ext cx="113030" cy="226060"/>
          </a:xfrm>
          <a:custGeom>
            <a:avLst/>
            <a:gdLst/>
            <a:ahLst/>
            <a:cxnLst/>
            <a:rect l="l" t="t" r="r" b="b"/>
            <a:pathLst>
              <a:path w="113030" h="226060">
                <a:moveTo>
                  <a:pt x="112775" y="225551"/>
                </a:moveTo>
                <a:lnTo>
                  <a:pt x="112775" y="0"/>
                </a:lnTo>
                <a:lnTo>
                  <a:pt x="0" y="0"/>
                </a:lnTo>
                <a:lnTo>
                  <a:pt x="0" y="225551"/>
                </a:lnTo>
                <a:lnTo>
                  <a:pt x="112775" y="2255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8350" y="3085338"/>
            <a:ext cx="113030" cy="248920"/>
          </a:xfrm>
          <a:custGeom>
            <a:avLst/>
            <a:gdLst/>
            <a:ahLst/>
            <a:cxnLst/>
            <a:rect l="l" t="t" r="r" b="b"/>
            <a:pathLst>
              <a:path w="113030" h="248920">
                <a:moveTo>
                  <a:pt x="112775" y="248412"/>
                </a:moveTo>
                <a:lnTo>
                  <a:pt x="112775" y="0"/>
                </a:lnTo>
                <a:lnTo>
                  <a:pt x="0" y="0"/>
                </a:lnTo>
                <a:lnTo>
                  <a:pt x="0" y="248412"/>
                </a:lnTo>
                <a:lnTo>
                  <a:pt x="112775" y="2484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9391" y="2191216"/>
            <a:ext cx="2845435" cy="151701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15"/>
              </a:spcBef>
              <a:tabLst>
                <a:tab pos="1546225" algn="l"/>
              </a:tabLst>
            </a:pPr>
            <a:r>
              <a:rPr sz="2625" spc="15" baseline="-6349" dirty="0">
                <a:latin typeface="Times New Roman"/>
                <a:cs typeface="Times New Roman"/>
              </a:rPr>
              <a:t>2</a:t>
            </a:r>
            <a:r>
              <a:rPr sz="2625" spc="667" baseline="-6349" dirty="0">
                <a:latin typeface="Times New Roman"/>
                <a:cs typeface="Times New Roman"/>
              </a:rPr>
              <a:t> </a:t>
            </a:r>
            <a:r>
              <a:rPr sz="2625" spc="15" baseline="-6349" dirty="0">
                <a:latin typeface="Times New Roman"/>
                <a:cs typeface="Times New Roman"/>
              </a:rPr>
              <a:t>9</a:t>
            </a:r>
            <a:r>
              <a:rPr sz="2625" spc="675" baseline="-6349" dirty="0">
                <a:latin typeface="Times New Roman"/>
                <a:cs typeface="Times New Roman"/>
              </a:rPr>
              <a:t> </a:t>
            </a:r>
            <a:r>
              <a:rPr sz="2625" spc="15" baseline="-6349" dirty="0">
                <a:latin typeface="Times New Roman"/>
                <a:cs typeface="Times New Roman"/>
              </a:rPr>
              <a:t>5</a:t>
            </a:r>
            <a:r>
              <a:rPr sz="2625" spc="667" baseline="-6349" dirty="0">
                <a:latin typeface="Times New Roman"/>
                <a:cs typeface="Times New Roman"/>
              </a:rPr>
              <a:t> </a:t>
            </a:r>
            <a:r>
              <a:rPr sz="2625" spc="15" baseline="-6349" dirty="0">
                <a:latin typeface="Times New Roman"/>
                <a:cs typeface="Times New Roman"/>
              </a:rPr>
              <a:t>4</a:t>
            </a:r>
            <a:r>
              <a:rPr sz="2625" spc="675" baseline="-6349" dirty="0">
                <a:latin typeface="Times New Roman"/>
                <a:cs typeface="Times New Roman"/>
              </a:rPr>
              <a:t> </a:t>
            </a:r>
            <a:r>
              <a:rPr sz="2625" spc="15" baseline="-6349" dirty="0">
                <a:latin typeface="Times New Roman"/>
                <a:cs typeface="Times New Roman"/>
              </a:rPr>
              <a:t>8</a:t>
            </a:r>
            <a:r>
              <a:rPr sz="2625" spc="667" baseline="-6349" dirty="0">
                <a:latin typeface="Times New Roman"/>
                <a:cs typeface="Times New Roman"/>
              </a:rPr>
              <a:t> </a:t>
            </a:r>
            <a:r>
              <a:rPr sz="2625" spc="15" baseline="-6349" dirty="0">
                <a:latin typeface="Times New Roman"/>
                <a:cs typeface="Times New Roman"/>
              </a:rPr>
              <a:t>1	</a:t>
            </a: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25"/>
              </a:spcBef>
              <a:tabLst>
                <a:tab pos="1568450" algn="l"/>
              </a:tabLst>
            </a:pPr>
            <a:r>
              <a:rPr sz="1750" spc="10" dirty="0">
                <a:latin typeface="Times New Roman"/>
                <a:cs typeface="Times New Roman"/>
              </a:rPr>
              <a:t>2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1	1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50"/>
              </a:spcBef>
              <a:tabLst>
                <a:tab pos="1568450" algn="l"/>
              </a:tabLst>
            </a:pPr>
            <a:r>
              <a:rPr sz="1750" spc="10" dirty="0">
                <a:latin typeface="Times New Roman"/>
                <a:cs typeface="Times New Roman"/>
              </a:rPr>
              <a:t>2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4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1	1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66" y="3885391"/>
            <a:ext cx="112712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5" dirty="0">
                <a:latin typeface="Times New Roman"/>
                <a:cs typeface="Times New Roman"/>
              </a:rPr>
              <a:t>(</a:t>
            </a:r>
            <a:r>
              <a:rPr sz="1750" spc="5" dirty="0">
                <a:latin typeface="Times New Roman"/>
                <a:cs typeface="Times New Roman"/>
              </a:rPr>
              <a:t>b)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2n</a:t>
            </a:r>
            <a:r>
              <a:rPr sz="1750" spc="10" dirty="0">
                <a:latin typeface="Times New Roman"/>
                <a:cs typeface="Times New Roman"/>
              </a:rPr>
              <a:t>d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</a:t>
            </a:r>
            <a:r>
              <a:rPr sz="1750" spc="105" dirty="0">
                <a:latin typeface="Times New Roman"/>
                <a:cs typeface="Times New Roman"/>
              </a:rPr>
              <a:t>a</a:t>
            </a:r>
            <a:r>
              <a:rPr sz="1750" spc="25" dirty="0">
                <a:latin typeface="Times New Roman"/>
                <a:cs typeface="Times New Roman"/>
              </a:rPr>
              <a:t>s</a:t>
            </a:r>
            <a:r>
              <a:rPr sz="1750" spc="10" dirty="0"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79293" y="1911049"/>
            <a:ext cx="0" cy="1964689"/>
          </a:xfrm>
          <a:custGeom>
            <a:avLst/>
            <a:gdLst/>
            <a:ahLst/>
            <a:cxnLst/>
            <a:rect l="l" t="t" r="r" b="b"/>
            <a:pathLst>
              <a:path h="1964689">
                <a:moveTo>
                  <a:pt x="0" y="0"/>
                </a:moveTo>
                <a:lnTo>
                  <a:pt x="0" y="1961451"/>
                </a:lnTo>
              </a:path>
            </a:pathLst>
          </a:custGeom>
          <a:ln w="22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69208" y="2340101"/>
            <a:ext cx="338455" cy="2260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35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6723" y="2191216"/>
            <a:ext cx="814705" cy="79375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09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1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15" dirty="0">
                <a:latin typeface="Times New Roman"/>
                <a:cs typeface="Times New Roman"/>
              </a:rPr>
              <a:t> </a:t>
            </a:r>
            <a:r>
              <a:rPr lang="en-US" sz="1750" spc="10" dirty="0">
                <a:latin typeface="Times New Roman"/>
                <a:cs typeface="Times New Roman"/>
              </a:rPr>
              <a:t>9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lang="en-US" sz="1750" spc="10" dirty="0">
                <a:latin typeface="Times New Roman"/>
                <a:cs typeface="Times New Roman"/>
              </a:rPr>
              <a:t>8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69208" y="2724150"/>
            <a:ext cx="351155" cy="2260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37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69284" y="3885391"/>
            <a:ext cx="105918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5" dirty="0">
                <a:latin typeface="Times New Roman"/>
                <a:cs typeface="Times New Roman"/>
              </a:rPr>
              <a:t>(</a:t>
            </a:r>
            <a:r>
              <a:rPr sz="1750" spc="-75" dirty="0">
                <a:latin typeface="Times New Roman"/>
                <a:cs typeface="Times New Roman"/>
              </a:rPr>
              <a:t>c</a:t>
            </a:r>
            <a:r>
              <a:rPr sz="1750" spc="5" dirty="0">
                <a:latin typeface="Times New Roman"/>
                <a:cs typeface="Times New Roman"/>
              </a:rPr>
              <a:t>)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3</a:t>
            </a:r>
            <a:r>
              <a:rPr sz="1750" spc="120" dirty="0">
                <a:latin typeface="Times New Roman"/>
                <a:cs typeface="Times New Roman"/>
              </a:rPr>
              <a:t>r</a:t>
            </a:r>
            <a:r>
              <a:rPr sz="1750" spc="10" dirty="0">
                <a:latin typeface="Times New Roman"/>
                <a:cs typeface="Times New Roman"/>
              </a:rPr>
              <a:t>d</a:t>
            </a:r>
            <a:r>
              <a:rPr sz="1750" spc="-8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</a:t>
            </a:r>
            <a:r>
              <a:rPr sz="1750" spc="100" dirty="0">
                <a:latin typeface="Times New Roman"/>
                <a:cs typeface="Times New Roman"/>
              </a:rPr>
              <a:t>a</a:t>
            </a:r>
            <a:r>
              <a:rPr sz="1750" spc="-150" dirty="0">
                <a:latin typeface="Times New Roman"/>
                <a:cs typeface="Times New Roman"/>
              </a:rPr>
              <a:t>s</a:t>
            </a:r>
            <a:r>
              <a:rPr sz="1750" spc="10" dirty="0"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10145" y="1888180"/>
            <a:ext cx="0" cy="1965325"/>
          </a:xfrm>
          <a:custGeom>
            <a:avLst/>
            <a:gdLst/>
            <a:ahLst/>
            <a:cxnLst/>
            <a:rect l="l" t="t" r="r" b="b"/>
            <a:pathLst>
              <a:path h="1965325">
                <a:moveTo>
                  <a:pt x="0" y="0"/>
                </a:moveTo>
                <a:lnTo>
                  <a:pt x="0" y="1962213"/>
                </a:lnTo>
              </a:path>
            </a:pathLst>
          </a:custGeom>
          <a:ln w="22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22926" y="2385060"/>
            <a:ext cx="575945" cy="248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0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40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r>
              <a:rPr sz="1750" spc="409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5345" y="2349961"/>
            <a:ext cx="58864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0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0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12917" y="3908250"/>
            <a:ext cx="105918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5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Times New Roman"/>
                <a:cs typeface="Times New Roman"/>
              </a:rPr>
              <a:t>d</a:t>
            </a:r>
            <a:r>
              <a:rPr sz="1750" spc="5" dirty="0">
                <a:latin typeface="Times New Roman"/>
                <a:cs typeface="Times New Roman"/>
              </a:rPr>
              <a:t>)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4</a:t>
            </a:r>
            <a:r>
              <a:rPr sz="1750" spc="40" dirty="0">
                <a:latin typeface="Times New Roman"/>
                <a:cs typeface="Times New Roman"/>
              </a:rPr>
              <a:t>t</a:t>
            </a:r>
            <a:r>
              <a:rPr sz="1750" spc="10" dirty="0">
                <a:latin typeface="Times New Roman"/>
                <a:cs typeface="Times New Roman"/>
              </a:rPr>
              <a:t>h</a:t>
            </a:r>
            <a:r>
              <a:rPr sz="1750" spc="-8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</a:t>
            </a:r>
            <a:r>
              <a:rPr sz="1750" spc="100" dirty="0">
                <a:latin typeface="Times New Roman"/>
                <a:cs typeface="Times New Roman"/>
              </a:rPr>
              <a:t>a</a:t>
            </a:r>
            <a:r>
              <a:rPr sz="1750" spc="-150" dirty="0">
                <a:latin typeface="Times New Roman"/>
                <a:cs typeface="Times New Roman"/>
              </a:rPr>
              <a:t>s</a:t>
            </a:r>
            <a:r>
              <a:rPr sz="1750" spc="10" dirty="0"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63860" y="1911049"/>
            <a:ext cx="0" cy="1964689"/>
          </a:xfrm>
          <a:custGeom>
            <a:avLst/>
            <a:gdLst/>
            <a:ahLst/>
            <a:cxnLst/>
            <a:rect l="l" t="t" r="r" b="b"/>
            <a:pathLst>
              <a:path h="1964689">
                <a:moveTo>
                  <a:pt x="0" y="0"/>
                </a:moveTo>
                <a:lnTo>
                  <a:pt x="0" y="1961451"/>
                </a:lnTo>
              </a:path>
            </a:pathLst>
          </a:custGeom>
          <a:ln w="22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28425" y="1944717"/>
          <a:ext cx="1373505" cy="293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363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937122" y="1944693"/>
          <a:ext cx="1440811" cy="2705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507">
                <a:tc>
                  <a:txBody>
                    <a:bodyPr/>
                    <a:lstStyle/>
                    <a:p>
                      <a:pPr marL="6794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535808" y="1944704"/>
          <a:ext cx="1392554" cy="2705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507">
                <a:tc>
                  <a:txBody>
                    <a:bodyPr/>
                    <a:lstStyle/>
                    <a:p>
                      <a:pPr marL="6667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573269" y="220446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4908"/>
                </a:lnTo>
              </a:path>
            </a:pathLst>
          </a:custGeom>
          <a:ln w="22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066667" y="1944704"/>
          <a:ext cx="1426844" cy="2705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507">
                <a:tc>
                  <a:txBody>
                    <a:bodyPr/>
                    <a:lstStyle/>
                    <a:p>
                      <a:pPr marL="6731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75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687443" y="1944704"/>
          <a:ext cx="1426209" cy="2705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507">
                <a:tc>
                  <a:txBody>
                    <a:bodyPr/>
                    <a:lstStyle/>
                    <a:p>
                      <a:pPr marL="6731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75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75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005"/>
                        </a:lnSpc>
                        <a:spcBef>
                          <a:spcPts val="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7046468" y="3885391"/>
            <a:ext cx="105918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20" dirty="0">
                <a:latin typeface="Times New Roman"/>
                <a:cs typeface="Times New Roman"/>
              </a:rPr>
              <a:t>(e)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-40" dirty="0">
                <a:latin typeface="Times New Roman"/>
                <a:cs typeface="Times New Roman"/>
              </a:rPr>
              <a:t>5th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pass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49074" y="220446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4895"/>
                </a:lnTo>
              </a:path>
            </a:pathLst>
          </a:custGeom>
          <a:ln w="22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016251" y="3446526"/>
            <a:ext cx="350520" cy="2260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37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31" name="object 31"/>
          <p:cNvSpPr txBox="1"/>
          <p:nvPr/>
        </p:nvSpPr>
        <p:spPr>
          <a:xfrm>
            <a:off x="2453089" y="3411427"/>
            <a:ext cx="814069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1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r>
              <a:rPr sz="1750" spc="41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92067" y="3085338"/>
            <a:ext cx="575945" cy="2260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40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r>
              <a:rPr sz="1750" spc="409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54713" y="3050238"/>
            <a:ext cx="58864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40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40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45785" y="2769107"/>
            <a:ext cx="800735" cy="2038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r>
              <a:rPr sz="1750" spc="41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33539" y="2711149"/>
            <a:ext cx="36385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10" dirty="0">
                <a:latin typeface="Times New Roman"/>
                <a:cs typeface="Times New Roman"/>
              </a:rPr>
              <a:t>9</a:t>
            </a:r>
            <a:r>
              <a:rPr sz="1750" spc="36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8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66559" y="2362200"/>
            <a:ext cx="800735" cy="2717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0"/>
              </a:lnSpc>
            </a:pPr>
            <a:r>
              <a:rPr sz="1750" spc="10" dirty="0">
                <a:latin typeface="Times New Roman"/>
                <a:cs typeface="Times New Roman"/>
              </a:rPr>
              <a:t>1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2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4</a:t>
            </a:r>
            <a:r>
              <a:rPr sz="1750" spc="4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54697" y="2327100"/>
            <a:ext cx="36322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10" dirty="0">
                <a:latin typeface="Times New Roman"/>
                <a:cs typeface="Times New Roman"/>
              </a:rPr>
              <a:t>8</a:t>
            </a:r>
            <a:r>
              <a:rPr sz="1750" spc="36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9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270002" y="1063243"/>
            <a:ext cx="7362825" cy="2872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Analysis: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513715" marR="626110">
              <a:lnSpc>
                <a:spcPct val="104800"/>
              </a:lnSpc>
            </a:pPr>
            <a:r>
              <a:rPr sz="1900" b="1" dirty="0">
                <a:latin typeface="Courier New"/>
                <a:cs typeface="Courier New"/>
              </a:rPr>
              <a:t>i </a:t>
            </a:r>
            <a:r>
              <a:rPr sz="1900" b="1" spc="-5" dirty="0">
                <a:latin typeface="Courier New"/>
                <a:cs typeface="Courier New"/>
              </a:rPr>
              <a:t>loop runs from </a:t>
            </a:r>
            <a:r>
              <a:rPr sz="1900" b="1" dirty="0">
                <a:latin typeface="Courier New"/>
                <a:cs typeface="Courier New"/>
              </a:rPr>
              <a:t>1 </a:t>
            </a:r>
            <a:r>
              <a:rPr sz="1900" b="1" spc="-5" dirty="0">
                <a:latin typeface="Courier New"/>
                <a:cs typeface="Courier New"/>
              </a:rPr>
              <a:t>to n-1 =&gt; n-1 iterations </a:t>
            </a:r>
            <a:r>
              <a:rPr sz="1900" b="1" spc="-113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 j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loop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runs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from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i+1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to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n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for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each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i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value.</a:t>
            </a:r>
            <a:endParaRPr sz="1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Courier New"/>
              <a:cs typeface="Courier New"/>
            </a:endParaRPr>
          </a:p>
          <a:p>
            <a:pPr marL="513715" marR="1685289">
              <a:lnSpc>
                <a:spcPct val="104700"/>
              </a:lnSpc>
              <a:tabLst>
                <a:tab pos="2392045" algn="l"/>
                <a:tab pos="4126229" algn="l"/>
              </a:tabLst>
            </a:pPr>
            <a:r>
              <a:rPr sz="1900" b="1" spc="-5" dirty="0">
                <a:latin typeface="Courier New"/>
                <a:cs typeface="Courier New"/>
              </a:rPr>
              <a:t>Comparisons: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1+2+3+…+n-1</a:t>
            </a:r>
            <a:r>
              <a:rPr sz="1900" b="1" spc="-3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 BCS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</a:t>
            </a:r>
            <a:r>
              <a:rPr sz="1950" b="1" spc="-7" baseline="-25641" dirty="0">
                <a:latin typeface="Courier New"/>
                <a:cs typeface="Courier New"/>
              </a:rPr>
              <a:t>1</a:t>
            </a:r>
            <a:r>
              <a:rPr sz="1900" b="1" spc="-5" dirty="0">
                <a:latin typeface="Courier New"/>
                <a:cs typeface="Courier New"/>
              </a:rPr>
              <a:t>(n)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+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0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lang="en-US" sz="1900" b="1" spc="-5" baseline="25641" dirty="0">
                <a:latin typeface="Courier New"/>
                <a:cs typeface="Courier New"/>
              </a:rPr>
              <a:t>-</a:t>
            </a:r>
            <a:r>
              <a:rPr sz="1900" b="1" spc="-5" dirty="0">
                <a:latin typeface="Courier New"/>
                <a:cs typeface="Courier New"/>
              </a:rPr>
              <a:t>n)</a:t>
            </a:r>
            <a:endParaRPr sz="1900" dirty="0">
              <a:latin typeface="Courier New"/>
              <a:cs typeface="Courier New"/>
            </a:endParaRPr>
          </a:p>
          <a:p>
            <a:pPr marL="513715">
              <a:lnSpc>
                <a:spcPct val="100000"/>
              </a:lnSpc>
              <a:spcBef>
                <a:spcPts val="105"/>
              </a:spcBef>
            </a:pPr>
            <a:r>
              <a:rPr sz="1900" b="1" spc="-5" dirty="0">
                <a:latin typeface="Courier New"/>
                <a:cs typeface="Courier New"/>
              </a:rPr>
              <a:t>WCS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</a:t>
            </a:r>
            <a:r>
              <a:rPr sz="1950" b="1" spc="-7" baseline="-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(n)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+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1/2(n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=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endParaRPr sz="1900" dirty="0">
              <a:latin typeface="Courier New"/>
              <a:cs typeface="Courier New"/>
            </a:endParaRPr>
          </a:p>
          <a:p>
            <a:pPr marL="513715">
              <a:lnSpc>
                <a:spcPct val="100000"/>
              </a:lnSpc>
              <a:spcBef>
                <a:spcPts val="110"/>
              </a:spcBef>
            </a:pPr>
            <a:r>
              <a:rPr sz="1900" b="1" spc="-5" dirty="0">
                <a:latin typeface="Courier New"/>
                <a:cs typeface="Courier New"/>
              </a:rPr>
              <a:t>Performance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b="1" spc="-5" dirty="0">
                <a:latin typeface="Courier New"/>
                <a:cs typeface="Courier New"/>
              </a:rPr>
              <a:t>function F(n)= </a:t>
            </a:r>
            <a:r>
              <a:rPr sz="1900" b="1" spc="-10" dirty="0">
                <a:latin typeface="Courier New"/>
                <a:cs typeface="Courier New"/>
              </a:rPr>
              <a:t>1/2(F</a:t>
            </a:r>
            <a:r>
              <a:rPr sz="1950" b="1" spc="-15" baseline="-25641" dirty="0">
                <a:latin typeface="Courier New"/>
                <a:cs typeface="Courier New"/>
              </a:rPr>
              <a:t>1</a:t>
            </a:r>
            <a:r>
              <a:rPr sz="1900" b="1" spc="-10" dirty="0">
                <a:latin typeface="Courier New"/>
                <a:cs typeface="Courier New"/>
              </a:rPr>
              <a:t>+F</a:t>
            </a:r>
            <a:r>
              <a:rPr sz="1950" b="1" spc="-15" baseline="-25641" dirty="0">
                <a:latin typeface="Courier New"/>
                <a:cs typeface="Courier New"/>
              </a:rPr>
              <a:t>2</a:t>
            </a:r>
            <a:r>
              <a:rPr sz="1900" b="1" spc="-10" dirty="0">
                <a:latin typeface="Courier New"/>
                <a:cs typeface="Courier New"/>
              </a:rPr>
              <a:t>)= </a:t>
            </a:r>
            <a:r>
              <a:rPr sz="1900" b="1" spc="-5" dirty="0">
                <a:latin typeface="Courier New"/>
                <a:cs typeface="Courier New"/>
              </a:rPr>
              <a:t>3/4(n</a:t>
            </a:r>
            <a:r>
              <a:rPr sz="1950" b="1" spc="-7" baseline="25641" dirty="0">
                <a:latin typeface="Courier New"/>
                <a:cs typeface="Courier New"/>
              </a:rPr>
              <a:t>2</a:t>
            </a:r>
            <a:r>
              <a:rPr sz="1900" b="1" spc="-5" dirty="0">
                <a:latin typeface="Courier New"/>
                <a:cs typeface="Courier New"/>
              </a:rPr>
              <a:t>-n)</a:t>
            </a:r>
            <a:endParaRPr sz="19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9892" y="188467"/>
            <a:ext cx="2604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Selection</a:t>
            </a:r>
            <a:r>
              <a:rPr spc="-35" dirty="0"/>
              <a:t> </a:t>
            </a:r>
            <a:r>
              <a:rPr spc="-5" dirty="0"/>
              <a:t>Sort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1A7932-D027-A4BC-48D5-AEB2C705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2A457C57-29A1-264C-8565-E3A43CD0F030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B2A9ED4A-4B48-7ACD-F56C-AD994E08F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"/>
            <a:ext cx="84582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u="sng"/>
              <a:t>Complexity of Selection Sort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en-US" altLang="en-US" sz="2000"/>
              <a:t>For finding the 1</a:t>
            </a:r>
            <a:r>
              <a:rPr lang="en-US" altLang="en-US" sz="2000" baseline="30000"/>
              <a:t>st</a:t>
            </a:r>
            <a:r>
              <a:rPr lang="en-US" altLang="en-US" sz="2000"/>
              <a:t> smallest elements it requires n-1 comparisons, for second smallest element, n-2 comparisons and so on. So,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en-US" altLang="en-US" sz="2000"/>
              <a:t>f(n) = (n-1) + (n-2) + …… + 2 + 1 = n(n-1)/2 = O(n</a:t>
            </a:r>
            <a:r>
              <a:rPr lang="en-US" altLang="en-US" sz="2000" baseline="30000"/>
              <a:t>2</a:t>
            </a:r>
            <a:r>
              <a:rPr lang="en-US" altLang="en-US" sz="2000"/>
              <a:t>)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4642" y="3026156"/>
            <a:ext cx="30372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End</a:t>
            </a:r>
            <a:r>
              <a:rPr sz="4400" spc="-30" dirty="0"/>
              <a:t> </a:t>
            </a:r>
            <a:r>
              <a:rPr sz="4400" spc="-5" dirty="0"/>
              <a:t>of</a:t>
            </a:r>
            <a:r>
              <a:rPr sz="4400" spc="-30" dirty="0"/>
              <a:t> </a:t>
            </a:r>
            <a:r>
              <a:rPr sz="4400" spc="-5" dirty="0"/>
              <a:t>Slides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2382</Words>
  <Application>Microsoft Macintosh PowerPoint</Application>
  <PresentationFormat>On-screen Show (4:3)</PresentationFormat>
  <Paragraphs>392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Courier New</vt:lpstr>
      <vt:lpstr>Times New Roman</vt:lpstr>
      <vt:lpstr>Office Theme</vt:lpstr>
      <vt:lpstr>PowerPoint Presentation</vt:lpstr>
      <vt:lpstr>Introduction</vt:lpstr>
      <vt:lpstr>Sort Categories</vt:lpstr>
      <vt:lpstr>Algorithm Classification</vt:lpstr>
      <vt:lpstr>Necessary Math…</vt:lpstr>
      <vt:lpstr>Simple Sort Algorithms - Bubble Sort</vt:lpstr>
      <vt:lpstr>PowerPoint Presentation</vt:lpstr>
      <vt:lpstr>Bubble Sort</vt:lpstr>
      <vt:lpstr>PowerPoint Presentation</vt:lpstr>
      <vt:lpstr>Bubble Sort</vt:lpstr>
      <vt:lpstr>Insertion Sort</vt:lpstr>
      <vt:lpstr>Insertion Sort</vt:lpstr>
      <vt:lpstr>Insertion Sort</vt:lpstr>
      <vt:lpstr>Insertion Sort</vt:lpstr>
      <vt:lpstr>PowerPoint Presentation</vt:lpstr>
      <vt:lpstr>Selection Sort</vt:lpstr>
      <vt:lpstr>PowerPoint Presentation</vt:lpstr>
      <vt:lpstr>Selection Sort</vt:lpstr>
      <vt:lpstr>Selection Sort</vt:lpstr>
      <vt:lpstr>PowerPoint Presentation</vt:lpstr>
      <vt:lpstr>End of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Multithreading</dc:title>
  <dc:creator>Y. Daniel Liang</dc:creator>
  <cp:lastModifiedBy>Umama Tasnim</cp:lastModifiedBy>
  <cp:revision>4</cp:revision>
  <dcterms:created xsi:type="dcterms:W3CDTF">2023-09-21T04:09:53Z</dcterms:created>
  <dcterms:modified xsi:type="dcterms:W3CDTF">2023-09-28T14:01:02Z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2018-10-02T00:00:00Z</vt:filetime>
  </property>
  <property fmtid="{D5CDD505-2E9C-101B-9397-08002B2CF9AE}" pid="3" name="Creator">
    <vt:lpwstr>Acrobat PDFMaker 8.1 for PowerPoint</vt:lpwstr>
  </property>
  <property fmtid="{D5CDD505-2E9C-101B-9397-08002B2CF9AE}" pid="4" name="LastSaved">
    <vt:filetime>2023-09-21T00:00:00Z</vt:filetime>
  </property>
</Properties>
</file>