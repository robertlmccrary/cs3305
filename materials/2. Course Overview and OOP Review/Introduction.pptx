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5" r:id="rId2"/>
    <p:sldId id="258" r:id="rId3"/>
    <p:sldId id="360" r:id="rId4"/>
    <p:sldId id="259" r:id="rId5"/>
    <p:sldId id="292" r:id="rId6"/>
    <p:sldId id="263" r:id="rId7"/>
    <p:sldId id="264" r:id="rId8"/>
    <p:sldId id="265" r:id="rId9"/>
    <p:sldId id="293" r:id="rId10"/>
    <p:sldId id="284" r:id="rId11"/>
    <p:sldId id="286" r:id="rId12"/>
    <p:sldId id="268" r:id="rId13"/>
    <p:sldId id="288" r:id="rId14"/>
    <p:sldId id="289" r:id="rId15"/>
    <p:sldId id="290" r:id="rId16"/>
    <p:sldId id="291" r:id="rId17"/>
    <p:sldId id="295" r:id="rId18"/>
    <p:sldId id="294" r:id="rId19"/>
    <p:sldId id="296" r:id="rId20"/>
    <p:sldId id="297" r:id="rId21"/>
    <p:sldId id="298" r:id="rId22"/>
    <p:sldId id="299" r:id="rId23"/>
    <p:sldId id="301" r:id="rId24"/>
    <p:sldId id="28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0"/>
    <p:restoredTop sz="96081"/>
  </p:normalViewPr>
  <p:slideViewPr>
    <p:cSldViewPr snapToGrid="0">
      <p:cViewPr varScale="1">
        <p:scale>
          <a:sx n="115" d="100"/>
          <a:sy n="115" d="100"/>
        </p:scale>
        <p:origin x="8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ma Tasnim" userId="02b7d893-96d2-4b75-90c3-7515de1ecabf" providerId="ADAL" clId="{395DB76F-03E0-904A-BFCA-4AE1A3E0DB01}"/>
    <pc:docChg chg="custSel delSld modSld">
      <pc:chgData name="Umama Tasnim" userId="02b7d893-96d2-4b75-90c3-7515de1ecabf" providerId="ADAL" clId="{395DB76F-03E0-904A-BFCA-4AE1A3E0DB01}" dt="2024-01-12T01:15:34.555" v="30" actId="2696"/>
      <pc:docMkLst>
        <pc:docMk/>
      </pc:docMkLst>
      <pc:sldChg chg="modSp mod">
        <pc:chgData name="Umama Tasnim" userId="02b7d893-96d2-4b75-90c3-7515de1ecabf" providerId="ADAL" clId="{395DB76F-03E0-904A-BFCA-4AE1A3E0DB01}" dt="2024-01-08T16:47:57.650" v="26" actId="20577"/>
        <pc:sldMkLst>
          <pc:docMk/>
          <pc:sldMk cId="0" sldId="259"/>
        </pc:sldMkLst>
        <pc:spChg chg="mod">
          <ac:chgData name="Umama Tasnim" userId="02b7d893-96d2-4b75-90c3-7515de1ecabf" providerId="ADAL" clId="{395DB76F-03E0-904A-BFCA-4AE1A3E0DB01}" dt="2024-01-08T16:47:57.650" v="26" actId="20577"/>
          <ac:spMkLst>
            <pc:docMk/>
            <pc:sldMk cId="0" sldId="259"/>
            <ac:spMk id="8195" creationId="{D6E085D3-2AA4-8820-B2E4-D50DF4D616F9}"/>
          </ac:spMkLst>
        </pc:spChg>
      </pc:sldChg>
      <pc:sldChg chg="addSp delSp modSp mod">
        <pc:chgData name="Umama Tasnim" userId="02b7d893-96d2-4b75-90c3-7515de1ecabf" providerId="ADAL" clId="{395DB76F-03E0-904A-BFCA-4AE1A3E0DB01}" dt="2024-01-08T16:48:58.851" v="29" actId="478"/>
        <pc:sldMkLst>
          <pc:docMk/>
          <pc:sldMk cId="0" sldId="268"/>
        </pc:sldMkLst>
        <pc:spChg chg="add del mod">
          <ac:chgData name="Umama Tasnim" userId="02b7d893-96d2-4b75-90c3-7515de1ecabf" providerId="ADAL" clId="{395DB76F-03E0-904A-BFCA-4AE1A3E0DB01}" dt="2024-01-08T16:48:58.851" v="29" actId="478"/>
          <ac:spMkLst>
            <pc:docMk/>
            <pc:sldMk cId="0" sldId="268"/>
            <ac:spMk id="3" creationId="{2013DA7F-746B-1E13-525B-AFB462E21058}"/>
          </ac:spMkLst>
        </pc:spChg>
        <pc:spChg chg="del mod">
          <ac:chgData name="Umama Tasnim" userId="02b7d893-96d2-4b75-90c3-7515de1ecabf" providerId="ADAL" clId="{395DB76F-03E0-904A-BFCA-4AE1A3E0DB01}" dt="2024-01-08T16:48:54.695" v="28" actId="478"/>
          <ac:spMkLst>
            <pc:docMk/>
            <pc:sldMk cId="0" sldId="268"/>
            <ac:spMk id="28676" creationId="{EE552871-044E-51A6-8D0F-B32BFBA13C3F}"/>
          </ac:spMkLst>
        </pc:spChg>
      </pc:sldChg>
      <pc:sldChg chg="modSp mod">
        <pc:chgData name="Umama Tasnim" userId="02b7d893-96d2-4b75-90c3-7515de1ecabf" providerId="ADAL" clId="{395DB76F-03E0-904A-BFCA-4AE1A3E0DB01}" dt="2024-01-08T16:46:49.008" v="10" actId="20577"/>
        <pc:sldMkLst>
          <pc:docMk/>
          <pc:sldMk cId="0" sldId="285"/>
        </pc:sldMkLst>
        <pc:spChg chg="mod">
          <ac:chgData name="Umama Tasnim" userId="02b7d893-96d2-4b75-90c3-7515de1ecabf" providerId="ADAL" clId="{395DB76F-03E0-904A-BFCA-4AE1A3E0DB01}" dt="2024-01-08T16:46:49.008" v="10" actId="20577"/>
          <ac:spMkLst>
            <pc:docMk/>
            <pc:sldMk cId="0" sldId="285"/>
            <ac:spMk id="2051" creationId="{ED24489F-FB9F-19F2-31D9-CBC90FA35311}"/>
          </ac:spMkLst>
        </pc:spChg>
      </pc:sldChg>
      <pc:sldChg chg="modSp del mod">
        <pc:chgData name="Umama Tasnim" userId="02b7d893-96d2-4b75-90c3-7515de1ecabf" providerId="ADAL" clId="{395DB76F-03E0-904A-BFCA-4AE1A3E0DB01}" dt="2024-01-12T01:15:34.555" v="30" actId="2696"/>
        <pc:sldMkLst>
          <pc:docMk/>
          <pc:sldMk cId="342108133" sldId="361"/>
        </pc:sldMkLst>
        <pc:spChg chg="mod">
          <ac:chgData name="Umama Tasnim" userId="02b7d893-96d2-4b75-90c3-7515de1ecabf" providerId="ADAL" clId="{395DB76F-03E0-904A-BFCA-4AE1A3E0DB01}" dt="2024-01-08T16:47:34.040" v="18" actId="20577"/>
          <ac:spMkLst>
            <pc:docMk/>
            <pc:sldMk cId="342108133" sldId="361"/>
            <ac:spMk id="4" creationId="{F53FBB77-9F49-188A-851D-DCCBE72BE6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C7EC3-3599-6A4B-90BB-8FF7A0FD3673}"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85CE4C-0353-0842-A53E-50BEC654479E}" type="slidenum">
              <a:rPr lang="en-US" smtClean="0"/>
              <a:t>‹#›</a:t>
            </a:fld>
            <a:endParaRPr lang="en-US"/>
          </a:p>
        </p:txBody>
      </p:sp>
    </p:spTree>
    <p:extLst>
      <p:ext uri="{BB962C8B-B14F-4D97-AF65-F5344CB8AC3E}">
        <p14:creationId xmlns:p14="http://schemas.microsoft.com/office/powerpoint/2010/main" val="218083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89D5FF3-F3E6-158F-6972-1CF78999CAEC}"/>
              </a:ext>
            </a:extLst>
          </p:cNvPr>
          <p:cNvSpPr>
            <a:spLocks noGrp="1" noChangeArrowheads="1"/>
          </p:cNvSpPr>
          <p:nvPr>
            <p:ph type="sldNum" sz="quarter" idx="5"/>
          </p:nvPr>
        </p:nvSpPr>
        <p:spPr>
          <a:ln/>
        </p:spPr>
        <p:txBody>
          <a:bodyPr/>
          <a:lstStyle/>
          <a:p>
            <a:fld id="{50AB1C74-FCDE-EB44-8EE7-F920E0163FE2}" type="slidenum">
              <a:rPr lang="en-US" altLang="en-US"/>
              <a:pPr/>
              <a:t>1</a:t>
            </a:fld>
            <a:endParaRPr lang="en-US" altLang="en-US"/>
          </a:p>
        </p:txBody>
      </p:sp>
      <p:sp>
        <p:nvSpPr>
          <p:cNvPr id="4098" name="Rectangle 2">
            <a:extLst>
              <a:ext uri="{FF2B5EF4-FFF2-40B4-BE49-F238E27FC236}">
                <a16:creationId xmlns:a16="http://schemas.microsoft.com/office/drawing/2014/main" id="{8192C54B-44FB-94D3-02DB-84BAEC9B1C5C}"/>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4099" name="Rectangle 3">
            <a:extLst>
              <a:ext uri="{FF2B5EF4-FFF2-40B4-BE49-F238E27FC236}">
                <a16:creationId xmlns:a16="http://schemas.microsoft.com/office/drawing/2014/main" id="{A8B2FC20-3BC1-C338-226D-8153F30535B7}"/>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6CF2F79-FCC0-CC75-D4AF-9829FEFC6FD1}"/>
              </a:ext>
            </a:extLst>
          </p:cNvPr>
          <p:cNvSpPr>
            <a:spLocks noGrp="1" noChangeArrowheads="1"/>
          </p:cNvSpPr>
          <p:nvPr>
            <p:ph type="sldNum" sz="quarter" idx="5"/>
          </p:nvPr>
        </p:nvSpPr>
        <p:spPr>
          <a:ln/>
        </p:spPr>
        <p:txBody>
          <a:bodyPr/>
          <a:lstStyle/>
          <a:p>
            <a:fld id="{5FC65ADD-D5FD-1C48-AAB5-B8E5DDB6BC92}" type="slidenum">
              <a:rPr lang="en-US" altLang="en-US"/>
              <a:pPr/>
              <a:t>2</a:t>
            </a:fld>
            <a:endParaRPr lang="en-US" altLang="en-US"/>
          </a:p>
        </p:txBody>
      </p:sp>
      <p:sp>
        <p:nvSpPr>
          <p:cNvPr id="7170" name="Rectangle 2">
            <a:extLst>
              <a:ext uri="{FF2B5EF4-FFF2-40B4-BE49-F238E27FC236}">
                <a16:creationId xmlns:a16="http://schemas.microsoft.com/office/drawing/2014/main" id="{77D30A5D-7D37-9890-65B0-CC07E6B6D4A5}"/>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7171" name="Rectangle 3">
            <a:extLst>
              <a:ext uri="{FF2B5EF4-FFF2-40B4-BE49-F238E27FC236}">
                <a16:creationId xmlns:a16="http://schemas.microsoft.com/office/drawing/2014/main" id="{73DFEF27-5073-D385-27AD-FE748496852C}"/>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r>
              <a:rPr lang="en-US" altLang="en-US" dirty="0"/>
              <a:t>I’m going to try to tell you at the start of each class what I’ll be covering. Here’s today. </a:t>
            </a:r>
          </a:p>
          <a:p>
            <a:endParaRPr lang="en-US" altLang="en-US" dirty="0"/>
          </a:p>
          <a:p>
            <a:r>
              <a:rPr lang="en-US" altLang="en-US" dirty="0"/>
              <a:t>Once we get done with some administrative cruft, we’ll get into the exciting stuff.</a:t>
            </a:r>
          </a:p>
          <a:p>
            <a:endParaRPr lang="en-US" altLang="en-US" dirty="0"/>
          </a:p>
          <a:p>
            <a:endParaRPr lang="en-US" altLang="en-US" dirty="0"/>
          </a:p>
          <a:p>
            <a:endParaRPr lang="en-US" altLang="en-US" dirty="0"/>
          </a:p>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07EABE-5AAD-FF77-B87D-1AF76BC9F942}"/>
              </a:ext>
            </a:extLst>
          </p:cNvPr>
          <p:cNvSpPr>
            <a:spLocks noGrp="1" noChangeArrowheads="1"/>
          </p:cNvSpPr>
          <p:nvPr>
            <p:ph type="sldNum" sz="quarter" idx="5"/>
          </p:nvPr>
        </p:nvSpPr>
        <p:spPr>
          <a:ln/>
        </p:spPr>
        <p:txBody>
          <a:bodyPr/>
          <a:lstStyle/>
          <a:p>
            <a:fld id="{42B3005B-4757-5645-9B3F-C53E2A696A39}" type="slidenum">
              <a:rPr lang="en-US" altLang="en-US"/>
              <a:pPr/>
              <a:t>4</a:t>
            </a:fld>
            <a:endParaRPr lang="en-US" altLang="en-US"/>
          </a:p>
        </p:txBody>
      </p:sp>
      <p:sp>
        <p:nvSpPr>
          <p:cNvPr id="9218" name="Rectangle 2">
            <a:extLst>
              <a:ext uri="{FF2B5EF4-FFF2-40B4-BE49-F238E27FC236}">
                <a16:creationId xmlns:a16="http://schemas.microsoft.com/office/drawing/2014/main" id="{DC6ED5AA-28DE-1095-883C-031BE88A01DF}"/>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9219" name="Rectangle 3">
            <a:extLst>
              <a:ext uri="{FF2B5EF4-FFF2-40B4-BE49-F238E27FC236}">
                <a16:creationId xmlns:a16="http://schemas.microsoft.com/office/drawing/2014/main" id="{7390B97C-8C7C-892D-39CE-E3BAF044BF2B}"/>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784A40-152B-CCC8-F9E0-AD996E3C32AD}"/>
              </a:ext>
            </a:extLst>
          </p:cNvPr>
          <p:cNvSpPr>
            <a:spLocks noGrp="1" noChangeArrowheads="1"/>
          </p:cNvSpPr>
          <p:nvPr>
            <p:ph type="sldNum" sz="quarter" idx="5"/>
          </p:nvPr>
        </p:nvSpPr>
        <p:spPr>
          <a:ln/>
        </p:spPr>
        <p:txBody>
          <a:bodyPr/>
          <a:lstStyle/>
          <a:p>
            <a:fld id="{5FA88F6B-7E85-0141-B43B-F8F06E526124}" type="slidenum">
              <a:rPr lang="en-US" altLang="en-US"/>
              <a:pPr/>
              <a:t>6</a:t>
            </a:fld>
            <a:endParaRPr lang="en-US" altLang="en-US"/>
          </a:p>
        </p:txBody>
      </p:sp>
      <p:sp>
        <p:nvSpPr>
          <p:cNvPr id="19458" name="Rectangle 2">
            <a:extLst>
              <a:ext uri="{FF2B5EF4-FFF2-40B4-BE49-F238E27FC236}">
                <a16:creationId xmlns:a16="http://schemas.microsoft.com/office/drawing/2014/main" id="{DEF5D39E-3B8B-8B91-E1ED-1945970117B1}"/>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19459" name="Rectangle 3">
            <a:extLst>
              <a:ext uri="{FF2B5EF4-FFF2-40B4-BE49-F238E27FC236}">
                <a16:creationId xmlns:a16="http://schemas.microsoft.com/office/drawing/2014/main" id="{A0D04CDA-D43F-DD0E-C9C1-9797B58AA3C5}"/>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r>
              <a:rPr lang="en-US" altLang="en-US" dirty="0"/>
              <a:t>This course is designed to familiarize you with the most basic and important data structures in computer science. The ones that will form the foundation of all your future work with computers. </a:t>
            </a:r>
          </a:p>
          <a:p>
            <a:endParaRPr lang="en-US" altLang="en-US" dirty="0"/>
          </a:p>
          <a:p>
            <a:r>
              <a:rPr lang="en-US" altLang="en-US" dirty="0"/>
              <a:t>Moreover, you’ll learn how to analyze your programs and data structures so that you know how well they work and what sort of effort in the program is acceptable.</a:t>
            </a:r>
          </a:p>
          <a:p>
            <a:endParaRPr lang="en-US" altLang="en-US" dirty="0"/>
          </a:p>
          <a:p>
            <a:r>
              <a:rPr lang="en-US" altLang="en-US" dirty="0"/>
              <a:t>These are the goals of the course as well as my expectations of you.</a:t>
            </a:r>
          </a:p>
          <a:p>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6F6810-132A-3EE3-2F6A-A693C33DC2F6}"/>
              </a:ext>
            </a:extLst>
          </p:cNvPr>
          <p:cNvSpPr>
            <a:spLocks noGrp="1" noChangeArrowheads="1"/>
          </p:cNvSpPr>
          <p:nvPr>
            <p:ph type="sldNum" sz="quarter" idx="5"/>
          </p:nvPr>
        </p:nvSpPr>
        <p:spPr>
          <a:ln/>
        </p:spPr>
        <p:txBody>
          <a:bodyPr/>
          <a:lstStyle/>
          <a:p>
            <a:fld id="{C1344218-6C16-5241-A3D5-725C251B2297}" type="slidenum">
              <a:rPr lang="en-US" altLang="en-US"/>
              <a:pPr/>
              <a:t>7</a:t>
            </a:fld>
            <a:endParaRPr lang="en-US" altLang="en-US"/>
          </a:p>
        </p:txBody>
      </p:sp>
      <p:sp>
        <p:nvSpPr>
          <p:cNvPr id="21506" name="Rectangle 2">
            <a:extLst>
              <a:ext uri="{FF2B5EF4-FFF2-40B4-BE49-F238E27FC236}">
                <a16:creationId xmlns:a16="http://schemas.microsoft.com/office/drawing/2014/main" id="{FAE8BC36-ECFE-9E8A-75C1-A33A6DE260EC}"/>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21507" name="Rectangle 3">
            <a:extLst>
              <a:ext uri="{FF2B5EF4-FFF2-40B4-BE49-F238E27FC236}">
                <a16:creationId xmlns:a16="http://schemas.microsoft.com/office/drawing/2014/main" id="{8500C828-0728-85AB-A9D9-2D2F5A2AEF0B}"/>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r>
              <a:rPr lang="en-US" altLang="en-US"/>
              <a:t>Given the importance of data, every program uses it, your knowledge of data structures affects what and how well you can program!</a:t>
            </a:r>
          </a:p>
          <a:p>
            <a:endParaRPr lang="en-US" altLang="en-US"/>
          </a:p>
          <a:p>
            <a:r>
              <a:rPr lang="en-US" altLang="en-US"/>
              <a:t>Moreover, it helps you understand what is possible to compute.</a:t>
            </a:r>
          </a:p>
          <a:p>
            <a:endParaRPr lang="en-US" altLang="en-US"/>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6A0856-FC6D-ECAE-FCBA-3A8134C4400E}"/>
              </a:ext>
            </a:extLst>
          </p:cNvPr>
          <p:cNvSpPr>
            <a:spLocks noGrp="1" noChangeArrowheads="1"/>
          </p:cNvSpPr>
          <p:nvPr>
            <p:ph type="sldNum" sz="quarter" idx="5"/>
          </p:nvPr>
        </p:nvSpPr>
        <p:spPr>
          <a:ln/>
        </p:spPr>
        <p:txBody>
          <a:bodyPr/>
          <a:lstStyle/>
          <a:p>
            <a:fld id="{52D6A103-403C-E54D-A199-F413BA374AEB}" type="slidenum">
              <a:rPr lang="en-US" altLang="en-US"/>
              <a:pPr/>
              <a:t>8</a:t>
            </a:fld>
            <a:endParaRPr lang="en-US" altLang="en-US"/>
          </a:p>
        </p:txBody>
      </p:sp>
      <p:sp>
        <p:nvSpPr>
          <p:cNvPr id="23554" name="Rectangle 2">
            <a:extLst>
              <a:ext uri="{FF2B5EF4-FFF2-40B4-BE49-F238E27FC236}">
                <a16:creationId xmlns:a16="http://schemas.microsoft.com/office/drawing/2014/main" id="{04C90602-7154-F35F-B7E5-662FF43C7BAA}"/>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23555" name="Rectangle 3">
            <a:extLst>
              <a:ext uri="{FF2B5EF4-FFF2-40B4-BE49-F238E27FC236}">
                <a16:creationId xmlns:a16="http://schemas.microsoft.com/office/drawing/2014/main" id="{D20997BA-5A89-3893-6EE6-2848D85E799C}"/>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r>
              <a:rPr lang="en-US" altLang="en-US"/>
              <a:t>A method of storage which provides through a set of operations functionality to manipulate the data in some useful way.</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E45C8DF-7CB8-96B8-E4C9-0682C230AAE2}"/>
              </a:ext>
            </a:extLst>
          </p:cNvPr>
          <p:cNvSpPr>
            <a:spLocks noGrp="1" noChangeArrowheads="1"/>
          </p:cNvSpPr>
          <p:nvPr>
            <p:ph type="sldNum" sz="quarter" idx="5"/>
          </p:nvPr>
        </p:nvSpPr>
        <p:spPr>
          <a:ln/>
        </p:spPr>
        <p:txBody>
          <a:bodyPr/>
          <a:lstStyle/>
          <a:p>
            <a:fld id="{22EB6099-36C2-3F41-B7B7-7004D64EDF0C}" type="slidenum">
              <a:rPr lang="en-US" altLang="en-US"/>
              <a:pPr/>
              <a:t>12</a:t>
            </a:fld>
            <a:endParaRPr lang="en-US" altLang="en-US"/>
          </a:p>
        </p:txBody>
      </p:sp>
      <p:sp>
        <p:nvSpPr>
          <p:cNvPr id="29698" name="Rectangle 2">
            <a:extLst>
              <a:ext uri="{FF2B5EF4-FFF2-40B4-BE49-F238E27FC236}">
                <a16:creationId xmlns:a16="http://schemas.microsoft.com/office/drawing/2014/main" id="{732FACA2-D83D-CEF4-AB4D-86E7999B7BD8}"/>
              </a:ext>
            </a:extLst>
          </p:cNvPr>
          <p:cNvSpPr>
            <a:spLocks noGrp="1" noRot="1" noChangeAspect="1" noChangeArrowheads="1"/>
          </p:cNvSpPr>
          <p:nvPr>
            <p:ph type="sldImg"/>
          </p:nvPr>
        </p:nvSpPr>
        <p:spPr bwMode="auto">
          <a:xfrm>
            <a:off x="444500" y="681038"/>
            <a:ext cx="6051550" cy="3405187"/>
          </a:xfrm>
          <a:prstGeom prst="rect">
            <a:avLst/>
          </a:prstGeom>
          <a:solidFill>
            <a:srgbClr val="FFFFFF"/>
          </a:solidFill>
          <a:ln>
            <a:solidFill>
              <a:srgbClr val="000000"/>
            </a:solidFill>
            <a:miter lim="800000"/>
            <a:headEnd/>
            <a:tailEnd/>
          </a:ln>
        </p:spPr>
      </p:sp>
      <p:sp>
        <p:nvSpPr>
          <p:cNvPr id="29699" name="Rectangle 3">
            <a:extLst>
              <a:ext uri="{FF2B5EF4-FFF2-40B4-BE49-F238E27FC236}">
                <a16:creationId xmlns:a16="http://schemas.microsoft.com/office/drawing/2014/main" id="{078F70F7-263C-B937-CC5F-F527D5956234}"/>
              </a:ext>
            </a:extLst>
          </p:cNvPr>
          <p:cNvSpPr>
            <a:spLocks noGrp="1" noChangeArrowheads="1"/>
          </p:cNvSpPr>
          <p:nvPr>
            <p:ph type="body" idx="1"/>
          </p:nvPr>
        </p:nvSpPr>
        <p:spPr bwMode="auto">
          <a:xfrm>
            <a:off x="925513" y="4313238"/>
            <a:ext cx="5089525" cy="4086225"/>
          </a:xfrm>
          <a:prstGeom prst="rect">
            <a:avLst/>
          </a:prstGeom>
          <a:solidFill>
            <a:srgbClr val="FFFFFF"/>
          </a:solidFill>
          <a:ln>
            <a:solidFill>
              <a:srgbClr val="000000"/>
            </a:solidFill>
            <a:miter lim="800000"/>
            <a:headEnd/>
            <a:tailEnd/>
          </a:ln>
        </p:spPr>
        <p:txBody>
          <a:bodyPr/>
          <a:lstStyle/>
          <a:p>
            <a:r>
              <a:rPr lang="en-US" altLang="en-US"/>
              <a:t>Here’s a simple ADT. The dictionary: like an actual dictionary, it associates some short key piece of information with a longer description of that information. Simple as this interface is, there are at least a dozen data structures, some quite complex, which implement this ADT. Why?</a:t>
            </a:r>
          </a:p>
          <a:p>
            <a:endParaRPr lang="en-US" altLang="en-US"/>
          </a:p>
          <a:p>
            <a:r>
              <a:rPr lang="en-US" altLang="en-US"/>
              <a:t>Well, ideally, a data structure is  ------------</a:t>
            </a:r>
          </a:p>
          <a:p>
            <a:endParaRPr lang="en-US" altLang="en-US"/>
          </a:p>
          <a:p>
            <a:r>
              <a:rPr lang="en-US" altLang="en-US"/>
              <a:t>But not all of these things can necessarily be achieved at once. This creates a set of conflicts which in turn lead us to create many data structures to “solve” any one abstract data type.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F6C2-F9AB-5F7D-9F34-8B2C938751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06352B-10E2-7BE6-7DC5-7D374FC3B3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834D0E-3FB7-044C-F9D6-7B5E59519218}"/>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9EBC82FF-F6E6-93E3-044C-E702AAA89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A5183-FA39-5841-A543-151827367DAB}"/>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1252544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ACC9-7893-EFB0-78E2-8F9A9B964E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332B5D-23DE-0110-BD44-953A7FAED3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D9F18-CEB3-8961-E10E-0783D176129E}"/>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878D97CF-C70A-131C-ECA7-254AF7CF0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DF20E-EE97-8FF0-AD98-1039AD491F05}"/>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40416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346A-BB5F-AFDE-CF23-E3E27C1C99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5D8EBA-0E9B-332A-B31F-E80B01B04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64450E-ED06-9AB5-4217-749D5B92EAB3}"/>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5C9CC7DF-58F7-6D69-1E9B-88BF34BE6D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415C6-3C35-FB8B-18AD-74DD0C532CAE}"/>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2168855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F576-DB5D-8153-9801-C2B19C2344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5CD71F-0DAE-B7B3-909F-51CEEF4138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205EEE-3076-8BA5-50D3-48D27FB465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CCA9A6-47A9-CEC2-16FB-9E0839D86F7D}"/>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6" name="Footer Placeholder 5">
            <a:extLst>
              <a:ext uri="{FF2B5EF4-FFF2-40B4-BE49-F238E27FC236}">
                <a16:creationId xmlns:a16="http://schemas.microsoft.com/office/drawing/2014/main" id="{955D72A7-146D-90B3-5AA1-B65C84E3FB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113ED0-D9A8-5A50-4235-CCC9645E5CD9}"/>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190154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4141-82C1-00AB-1EA4-E4BABA40B2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E9A9A1-C671-20F3-E254-70E4227B25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D4039F-BF13-A604-C1C3-C82735168B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21E304-253C-A367-F1D4-DF14F3B0EE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C2935-8601-A5D1-121A-AA2CE6375C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C6B7F7-58EF-ED9E-26B8-9C26EA6B0672}"/>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8" name="Footer Placeholder 7">
            <a:extLst>
              <a:ext uri="{FF2B5EF4-FFF2-40B4-BE49-F238E27FC236}">
                <a16:creationId xmlns:a16="http://schemas.microsoft.com/office/drawing/2014/main" id="{416C6963-B51B-B6E8-4CA3-EBDE510C38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0DEEBD-8277-033A-F6EC-E756A23AF440}"/>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300746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230C3-4A07-295F-367F-9720126C4F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26DAA7-10CB-0FE2-4A21-10C0D9C18B72}"/>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4" name="Footer Placeholder 3">
            <a:extLst>
              <a:ext uri="{FF2B5EF4-FFF2-40B4-BE49-F238E27FC236}">
                <a16:creationId xmlns:a16="http://schemas.microsoft.com/office/drawing/2014/main" id="{8EEC4558-37E2-5C6F-BD0C-E1193A4065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5ACFAF-0132-920D-AACB-B97A20A57008}"/>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2638093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BA49A6-52DA-61BB-03FA-DB7FE302C09C}"/>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3" name="Footer Placeholder 2">
            <a:extLst>
              <a:ext uri="{FF2B5EF4-FFF2-40B4-BE49-F238E27FC236}">
                <a16:creationId xmlns:a16="http://schemas.microsoft.com/office/drawing/2014/main" id="{E4F40590-A625-85F4-CF40-44986DE8D2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50C98-8596-B599-683C-B75C0AB4348D}"/>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395661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F8F69-CDAD-2A06-7354-A08D32F40D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814659-2D35-978D-9527-F719A09FC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5D3D5-62A7-0204-2772-EE0CEE0E4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BDA890-9D4F-2E6A-9238-C8609E0EB55C}"/>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6" name="Footer Placeholder 5">
            <a:extLst>
              <a:ext uri="{FF2B5EF4-FFF2-40B4-BE49-F238E27FC236}">
                <a16:creationId xmlns:a16="http://schemas.microsoft.com/office/drawing/2014/main" id="{F1A70228-214A-BA3E-FDA4-12805B0B4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6307D5-1993-77A4-69E6-F2202818A000}"/>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325376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D8F6-E874-9F8D-8AC0-9B4844210F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2FF0AE-3E48-024D-44F3-05546F854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13811-36ED-D0D9-5C00-E90A60FD58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9F06D-25FB-8D82-6DAA-E4695B6684D4}"/>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6" name="Footer Placeholder 5">
            <a:extLst>
              <a:ext uri="{FF2B5EF4-FFF2-40B4-BE49-F238E27FC236}">
                <a16:creationId xmlns:a16="http://schemas.microsoft.com/office/drawing/2014/main" id="{B7FAB4C7-2056-B62B-BD80-4088D38498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DF16B5-C7F1-2E7D-51E5-1B395D49EDDB}"/>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2200031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2DFB8-728E-6D14-2B31-09243FBB5D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A9B9E4-9724-9E27-C868-7192955881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5C556-2546-4663-8833-6393AB39DEB5}"/>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811E9260-D1B2-B58A-B6CD-71F107456D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DD62F-354B-D94F-4580-49FA9F05F715}"/>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2423063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267EAF-CD1E-D107-6970-BE97FDFB94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544930-5A73-417B-435B-EA1566FAEF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2BDD38-40B7-C6E7-307F-D0F65AA033D1}"/>
              </a:ext>
            </a:extLst>
          </p:cNvPr>
          <p:cNvSpPr>
            <a:spLocks noGrp="1"/>
          </p:cNvSpPr>
          <p:nvPr>
            <p:ph type="dt" sz="half" idx="10"/>
          </p:nvPr>
        </p:nvSpPr>
        <p:spPr/>
        <p:txBody>
          <a:body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323683F2-F740-AB92-247F-03E662D37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4A568-94BB-E5DD-887C-06243FC1EDE8}"/>
              </a:ext>
            </a:extLst>
          </p:cNvPr>
          <p:cNvSpPr>
            <a:spLocks noGrp="1"/>
          </p:cNvSpPr>
          <p:nvPr>
            <p:ph type="sldNum" sz="quarter" idx="12"/>
          </p:nvPr>
        </p:nvSpPr>
        <p:spPr/>
        <p:txBody>
          <a:bodyPr/>
          <a:lstStyle/>
          <a:p>
            <a:fld id="{6D2279B7-EA1B-FC45-A7FA-47F4D2445E28}" type="slidenum">
              <a:rPr lang="en-US" smtClean="0"/>
              <a:t>‹#›</a:t>
            </a:fld>
            <a:endParaRPr lang="en-US"/>
          </a:p>
        </p:txBody>
      </p:sp>
    </p:spTree>
    <p:extLst>
      <p:ext uri="{BB962C8B-B14F-4D97-AF65-F5344CB8AC3E}">
        <p14:creationId xmlns:p14="http://schemas.microsoft.com/office/powerpoint/2010/main" val="168060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83129-8D2B-577C-5D70-FC38DAC1E5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AC33A3-D32F-6EC6-37AC-2051D0DB5B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5D9DF-1AB9-14A1-8D39-AE75C64C4F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067C05-045B-6145-A328-F252235302E4}" type="datetimeFigureOut">
              <a:rPr lang="en-US" smtClean="0"/>
              <a:t>8/24/26</a:t>
            </a:fld>
            <a:endParaRPr lang="en-US"/>
          </a:p>
        </p:txBody>
      </p:sp>
      <p:sp>
        <p:nvSpPr>
          <p:cNvPr id="5" name="Footer Placeholder 4">
            <a:extLst>
              <a:ext uri="{FF2B5EF4-FFF2-40B4-BE49-F238E27FC236}">
                <a16:creationId xmlns:a16="http://schemas.microsoft.com/office/drawing/2014/main" id="{692B1140-A127-5E1D-0F8D-995F71578B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7826B9-72B4-3E52-A4E8-34D94E9F09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79B7-EA1B-FC45-A7FA-47F4D2445E28}" type="slidenum">
              <a:rPr lang="en-US" smtClean="0"/>
              <a:t>‹#›</a:t>
            </a:fld>
            <a:endParaRPr lang="en-US"/>
          </a:p>
        </p:txBody>
      </p:sp>
    </p:spTree>
    <p:extLst>
      <p:ext uri="{BB962C8B-B14F-4D97-AF65-F5344CB8AC3E}">
        <p14:creationId xmlns:p14="http://schemas.microsoft.com/office/powerpoint/2010/main" val="272721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mailto:utasnim@kennesaw.edu"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8" name="Rectangle 207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2C537ED8-7024-CFA1-DC01-360AE3E70012}"/>
              </a:ext>
            </a:extLst>
          </p:cNvPr>
          <p:cNvSpPr>
            <a:spLocks noGrp="1" noChangeArrowheads="1"/>
          </p:cNvSpPr>
          <p:nvPr>
            <p:ph type="ctrTitle"/>
          </p:nvPr>
        </p:nvSpPr>
        <p:spPr>
          <a:xfrm>
            <a:off x="838200" y="451381"/>
            <a:ext cx="10512552" cy="4066540"/>
          </a:xfrm>
        </p:spPr>
        <p:txBody>
          <a:bodyPr anchor="b">
            <a:normAutofit/>
          </a:bodyPr>
          <a:lstStyle/>
          <a:p>
            <a:pPr algn="l"/>
            <a:r>
              <a:rPr lang="en-US" altLang="en-US" sz="6600" dirty="0"/>
              <a:t>CS 3305: Data Structures</a:t>
            </a:r>
            <a:br>
              <a:rPr lang="en-US" altLang="en-US" sz="6600" dirty="0"/>
            </a:br>
            <a:r>
              <a:rPr lang="en-US" altLang="en-US" sz="6600" dirty="0"/>
              <a:t>Lecture 1: Introduction</a:t>
            </a:r>
          </a:p>
        </p:txBody>
      </p:sp>
      <p:sp>
        <p:nvSpPr>
          <p:cNvPr id="2051" name="Rectangle 3">
            <a:extLst>
              <a:ext uri="{FF2B5EF4-FFF2-40B4-BE49-F238E27FC236}">
                <a16:creationId xmlns:a16="http://schemas.microsoft.com/office/drawing/2014/main" id="{ED24489F-FB9F-19F2-31D9-CBC90FA35311}"/>
              </a:ext>
            </a:extLst>
          </p:cNvPr>
          <p:cNvSpPr>
            <a:spLocks noGrp="1" noChangeArrowheads="1"/>
          </p:cNvSpPr>
          <p:nvPr>
            <p:ph type="subTitle" idx="1"/>
          </p:nvPr>
        </p:nvSpPr>
        <p:spPr>
          <a:xfrm>
            <a:off x="838199" y="4983276"/>
            <a:ext cx="10512552" cy="1126680"/>
          </a:xfrm>
        </p:spPr>
        <p:txBody>
          <a:bodyPr>
            <a:normAutofit/>
          </a:bodyPr>
          <a:lstStyle/>
          <a:p>
            <a:pPr algn="l"/>
            <a:r>
              <a:rPr lang="en-US" altLang="en-US" dirty="0"/>
              <a:t>Umama Tasnim</a:t>
            </a:r>
          </a:p>
        </p:txBody>
      </p:sp>
      <p:sp>
        <p:nvSpPr>
          <p:cNvPr id="208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grey logo&#10;&#10;Description automatically generated">
            <a:extLst>
              <a:ext uri="{FF2B5EF4-FFF2-40B4-BE49-F238E27FC236}">
                <a16:creationId xmlns:a16="http://schemas.microsoft.com/office/drawing/2014/main" id="{00C83021-65E5-6E5D-2019-E3DB5F6AF5F8}"/>
              </a:ext>
            </a:extLst>
          </p:cNvPr>
          <p:cNvPicPr>
            <a:picLocks noChangeAspect="1"/>
          </p:cNvPicPr>
          <p:nvPr/>
        </p:nvPicPr>
        <p:blipFill>
          <a:blip r:embed="rId3"/>
          <a:stretch>
            <a:fillRect/>
          </a:stretch>
        </p:blipFill>
        <p:spPr>
          <a:xfrm>
            <a:off x="10880034" y="5470756"/>
            <a:ext cx="1034211" cy="10410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0" name="Rectangle 615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Rectangle 2">
            <a:extLst>
              <a:ext uri="{FF2B5EF4-FFF2-40B4-BE49-F238E27FC236}">
                <a16:creationId xmlns:a16="http://schemas.microsoft.com/office/drawing/2014/main" id="{FCD0EA5F-1749-F40C-6088-54A489C633AA}"/>
              </a:ext>
            </a:extLst>
          </p:cNvPr>
          <p:cNvSpPr>
            <a:spLocks noGrp="1" noChangeArrowheads="1"/>
          </p:cNvSpPr>
          <p:nvPr>
            <p:ph type="title"/>
          </p:nvPr>
        </p:nvSpPr>
        <p:spPr>
          <a:xfrm>
            <a:off x="630936" y="640823"/>
            <a:ext cx="3419856" cy="5583148"/>
          </a:xfrm>
        </p:spPr>
        <p:txBody>
          <a:bodyPr anchor="ctr">
            <a:normAutofit/>
          </a:bodyPr>
          <a:lstStyle/>
          <a:p>
            <a:r>
              <a:rPr lang="en-US" altLang="en-US" sz="5400" b="1"/>
              <a:t>Today’s Outline</a:t>
            </a:r>
          </a:p>
        </p:txBody>
      </p:sp>
      <p:sp>
        <p:nvSpPr>
          <p:cNvPr id="616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9" name="Picture 6148" descr="Calendar on table">
            <a:extLst>
              <a:ext uri="{FF2B5EF4-FFF2-40B4-BE49-F238E27FC236}">
                <a16:creationId xmlns:a16="http://schemas.microsoft.com/office/drawing/2014/main" id="{F0060AE3-81B2-AD60-C22D-4C8A56178DD8}"/>
              </a:ext>
            </a:extLst>
          </p:cNvPr>
          <p:cNvPicPr>
            <a:picLocks noChangeAspect="1"/>
          </p:cNvPicPr>
          <p:nvPr/>
        </p:nvPicPr>
        <p:blipFill rotWithShape="1">
          <a:blip r:embed="rId3"/>
          <a:srcRect r="33047" b="-1"/>
          <a:stretch/>
        </p:blipFill>
        <p:spPr>
          <a:xfrm>
            <a:off x="4654296" y="630936"/>
            <a:ext cx="3925495" cy="3913632"/>
          </a:xfrm>
          <a:prstGeom prst="rect">
            <a:avLst/>
          </a:prstGeom>
        </p:spPr>
      </p:pic>
      <p:sp>
        <p:nvSpPr>
          <p:cNvPr id="6147" name="Rectangle 3">
            <a:extLst>
              <a:ext uri="{FF2B5EF4-FFF2-40B4-BE49-F238E27FC236}">
                <a16:creationId xmlns:a16="http://schemas.microsoft.com/office/drawing/2014/main" id="{3E44276D-F2A9-22A2-C16A-9191F1A0CEB6}"/>
              </a:ext>
            </a:extLst>
          </p:cNvPr>
          <p:cNvSpPr>
            <a:spLocks noGrp="1" noChangeArrowheads="1"/>
          </p:cNvSpPr>
          <p:nvPr>
            <p:ph type="body" idx="1"/>
          </p:nvPr>
        </p:nvSpPr>
        <p:spPr>
          <a:xfrm>
            <a:off x="4654296" y="4798577"/>
            <a:ext cx="6894576" cy="1428487"/>
          </a:xfrm>
        </p:spPr>
        <p:txBody>
          <a:bodyPr anchor="t">
            <a:normAutofit/>
          </a:bodyPr>
          <a:lstStyle/>
          <a:p>
            <a:r>
              <a:rPr lang="en-US" altLang="en-US" sz="2400" dirty="0"/>
              <a:t>Administrative Stuff</a:t>
            </a:r>
          </a:p>
          <a:p>
            <a:r>
              <a:rPr lang="en-US" altLang="en-US" sz="2400" dirty="0"/>
              <a:t>Overview of the Course</a:t>
            </a:r>
          </a:p>
          <a:p>
            <a:r>
              <a:rPr lang="en-US" altLang="en-US" sz="2400" dirty="0"/>
              <a:t>Intro to Data Structures</a:t>
            </a:r>
          </a:p>
          <a:p>
            <a:endParaRPr lang="en-US" altLang="en-US" sz="2200" dirty="0"/>
          </a:p>
          <a:p>
            <a:endParaRPr lang="en-US" altLang="en-US" sz="2200" dirty="0"/>
          </a:p>
          <a:p>
            <a:endParaRPr lang="en-US"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3CCE1D70-EF38-43B5-22D4-442C3764E04A}"/>
              </a:ext>
            </a:extLst>
          </p:cNvPr>
          <p:cNvSpPr>
            <a:spLocks noGrp="1"/>
          </p:cNvSpPr>
          <p:nvPr>
            <p:ph type="title"/>
          </p:nvPr>
        </p:nvSpPr>
        <p:spPr>
          <a:xfrm>
            <a:off x="4654296" y="329184"/>
            <a:ext cx="6894576" cy="1783080"/>
          </a:xfrm>
        </p:spPr>
        <p:txBody>
          <a:bodyPr vert="horz" lIns="91440" tIns="45720" rIns="91440" bIns="45720" rtlCol="0" anchor="b">
            <a:normAutofit/>
          </a:bodyPr>
          <a:lstStyle/>
          <a:p>
            <a:r>
              <a:rPr lang="en-US" sz="5400"/>
              <a:t>About Me</a:t>
            </a:r>
          </a:p>
        </p:txBody>
      </p:sp>
      <p:pic>
        <p:nvPicPr>
          <p:cNvPr id="6" name="Picture 5" descr="A person in a yellow striped shirt&#10;&#10;Description automatically generated">
            <a:extLst>
              <a:ext uri="{FF2B5EF4-FFF2-40B4-BE49-F238E27FC236}">
                <a16:creationId xmlns:a16="http://schemas.microsoft.com/office/drawing/2014/main" id="{65D15EED-ACE4-49A2-32DB-58EEDC8A8C19}"/>
              </a:ext>
            </a:extLst>
          </p:cNvPr>
          <p:cNvPicPr>
            <a:picLocks noChangeAspect="1"/>
          </p:cNvPicPr>
          <p:nvPr/>
        </p:nvPicPr>
        <p:blipFill rotWithShape="1">
          <a:blip r:embed="rId2"/>
          <a:srcRect l="12772" r="8439"/>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a:noFill/>
        </p:spPr>
      </p:pic>
      <p:sp>
        <p:nvSpPr>
          <p:cNvPr id="33"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3">
            <a:extLst>
              <a:ext uri="{FF2B5EF4-FFF2-40B4-BE49-F238E27FC236}">
                <a16:creationId xmlns:a16="http://schemas.microsoft.com/office/drawing/2014/main" id="{950717CC-F95C-A034-0C74-AE6223F9A98C}"/>
              </a:ext>
            </a:extLst>
          </p:cNvPr>
          <p:cNvSpPr>
            <a:spLocks noGrp="1"/>
          </p:cNvSpPr>
          <p:nvPr>
            <p:ph type="body" sz="half" idx="2"/>
          </p:nvPr>
        </p:nvSpPr>
        <p:spPr>
          <a:xfrm>
            <a:off x="4654296" y="2706624"/>
            <a:ext cx="6894576" cy="3483864"/>
          </a:xfrm>
        </p:spPr>
        <p:txBody>
          <a:bodyPr vert="horz" lIns="91440" tIns="45720" rIns="91440" bIns="45720" rtlCol="0">
            <a:normAutofit/>
          </a:bodyPr>
          <a:lstStyle/>
          <a:p>
            <a:pPr marL="342900" indent="-228600">
              <a:buFont typeface="Arial" panose="020B0604020202020204" pitchFamily="34" charset="0"/>
              <a:buChar char="•"/>
            </a:pPr>
            <a:r>
              <a:rPr lang="en-US" sz="2400" dirty="0"/>
              <a:t>Umama Tasnim</a:t>
            </a:r>
          </a:p>
          <a:p>
            <a:pPr marL="342900" indent="-228600">
              <a:buFont typeface="Arial" panose="020B0604020202020204" pitchFamily="34" charset="0"/>
              <a:buChar char="•"/>
            </a:pPr>
            <a:r>
              <a:rPr lang="en-US" sz="2400" dirty="0"/>
              <a:t>MSc. in computer Science, University of Texas at San Antonio</a:t>
            </a:r>
          </a:p>
          <a:p>
            <a:pPr marL="342900" indent="-228600">
              <a:buFont typeface="Arial" panose="020B0604020202020204" pitchFamily="34" charset="0"/>
              <a:buChar char="•"/>
            </a:pPr>
            <a:r>
              <a:rPr lang="en-US" sz="2400" dirty="0"/>
              <a:t>BSc. in Computer Science, University of Dhaka</a:t>
            </a:r>
          </a:p>
          <a:p>
            <a:pPr marL="342900" indent="-228600">
              <a:buFont typeface="Arial" panose="020B0604020202020204" pitchFamily="34" charset="0"/>
              <a:buChar char="•"/>
            </a:pPr>
            <a:r>
              <a:rPr lang="en-US" sz="2400" dirty="0"/>
              <a:t>Research Interest: My interests includes but not limited to machine Learning (ML), Data Science and Human-centered Computing (HCC).</a:t>
            </a:r>
          </a:p>
          <a:p>
            <a:pPr indent="-228600">
              <a:buFont typeface="Arial" panose="020B0604020202020204" pitchFamily="34" charset="0"/>
              <a:buChar char="•"/>
            </a:pPr>
            <a:r>
              <a:rPr lang="en-US" sz="2200" dirty="0"/>
              <a:t>Worked at San Antonio Virtual Reality Lab (SAVE)</a:t>
            </a:r>
          </a:p>
          <a:p>
            <a:pPr indent="-228600">
              <a:buFont typeface="Arial" panose="020B0604020202020204" pitchFamily="34" charset="0"/>
              <a:buChar char="•"/>
            </a:pPr>
            <a:endParaRPr lang="en-US" sz="2200" dirty="0"/>
          </a:p>
        </p:txBody>
      </p:sp>
      <p:sp>
        <p:nvSpPr>
          <p:cNvPr id="4" name="Date Placeholder 3">
            <a:extLst>
              <a:ext uri="{FF2B5EF4-FFF2-40B4-BE49-F238E27FC236}">
                <a16:creationId xmlns:a16="http://schemas.microsoft.com/office/drawing/2014/main" id="{A6385CCF-2E60-9333-6A3E-EB0DB29FAB1C}"/>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E9C6793B-247D-4B25-B5BB-AC0B30B7C3C8}" type="datetime1">
              <a:rPr lang="en-US">
                <a:solidFill>
                  <a:srgbClr val="FFFFFF"/>
                </a:solidFill>
                <a:latin typeface="Calibri" panose="020F0502020204030204"/>
              </a:rPr>
              <a:pPr>
                <a:spcAft>
                  <a:spcPts val="600"/>
                </a:spcAft>
                <a:defRPr/>
              </a:pPr>
              <a:t>8/24/26</a:t>
            </a:fld>
            <a:endParaRPr lang="en-US">
              <a:solidFill>
                <a:srgbClr val="FFFFFF"/>
              </a:solidFill>
              <a:latin typeface="Calibri" panose="020F0502020204030204"/>
            </a:endParaRPr>
          </a:p>
        </p:txBody>
      </p:sp>
      <p:sp>
        <p:nvSpPr>
          <p:cNvPr id="5" name="Slide Number Placeholder 4">
            <a:extLst>
              <a:ext uri="{FF2B5EF4-FFF2-40B4-BE49-F238E27FC236}">
                <a16:creationId xmlns:a16="http://schemas.microsoft.com/office/drawing/2014/main" id="{A4EA0DC6-2ED5-13BB-2B6E-1E3E80F65B3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284BC6D4-DBFA-6447-AC1F-B762820AEAB4}" type="slidenum">
              <a:rPr lang="en-US" smtClean="0">
                <a:solidFill>
                  <a:prstClr val="black">
                    <a:tint val="75000"/>
                  </a:prstClr>
                </a:solidFill>
                <a:latin typeface="Calibri" panose="020F0502020204030204"/>
              </a:rPr>
              <a:pPr>
                <a:spcAft>
                  <a:spcPts val="600"/>
                </a:spcAft>
                <a:defRPr/>
              </a:pPr>
              <a:t>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408790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14" name="Rectangle 821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Rectangle 2">
            <a:extLst>
              <a:ext uri="{FF2B5EF4-FFF2-40B4-BE49-F238E27FC236}">
                <a16:creationId xmlns:a16="http://schemas.microsoft.com/office/drawing/2014/main" id="{1DEFBB9B-4235-1BEB-068D-8525EB2F97E7}"/>
              </a:ext>
            </a:extLst>
          </p:cNvPr>
          <p:cNvSpPr>
            <a:spLocks noGrp="1" noChangeArrowheads="1"/>
          </p:cNvSpPr>
          <p:nvPr>
            <p:ph type="title"/>
          </p:nvPr>
        </p:nvSpPr>
        <p:spPr>
          <a:xfrm>
            <a:off x="640080" y="325369"/>
            <a:ext cx="4368602" cy="1956841"/>
          </a:xfrm>
        </p:spPr>
        <p:txBody>
          <a:bodyPr anchor="b">
            <a:normAutofit/>
          </a:bodyPr>
          <a:lstStyle/>
          <a:p>
            <a:r>
              <a:rPr lang="en-US" altLang="en-US" sz="5400" dirty="0"/>
              <a:t>Course Information</a:t>
            </a:r>
          </a:p>
        </p:txBody>
      </p:sp>
      <p:sp>
        <p:nvSpPr>
          <p:cNvPr id="821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Rectangle 3">
            <a:extLst>
              <a:ext uri="{FF2B5EF4-FFF2-40B4-BE49-F238E27FC236}">
                <a16:creationId xmlns:a16="http://schemas.microsoft.com/office/drawing/2014/main" id="{D6E085D3-2AA4-8820-B2E4-D50DF4D616F9}"/>
              </a:ext>
            </a:extLst>
          </p:cNvPr>
          <p:cNvSpPr>
            <a:spLocks noGrp="1" noChangeArrowheads="1"/>
          </p:cNvSpPr>
          <p:nvPr>
            <p:ph type="body" idx="1"/>
          </p:nvPr>
        </p:nvSpPr>
        <p:spPr>
          <a:xfrm>
            <a:off x="105103" y="2872899"/>
            <a:ext cx="6273151" cy="3930236"/>
          </a:xfrm>
        </p:spPr>
        <p:txBody>
          <a:bodyPr>
            <a:normAutofit fontScale="32500" lnSpcReduction="20000"/>
          </a:bodyPr>
          <a:lstStyle/>
          <a:p>
            <a:pPr marL="0" indent="0">
              <a:buNone/>
            </a:pPr>
            <a:r>
              <a:rPr lang="en-US" altLang="en-US" sz="9600" b="1" dirty="0"/>
              <a:t>Instructor: </a:t>
            </a:r>
            <a:r>
              <a:rPr lang="en-US" altLang="en-US" sz="9600" dirty="0"/>
              <a:t>Umama Tasnim</a:t>
            </a:r>
          </a:p>
          <a:p>
            <a:pPr lvl="1"/>
            <a:r>
              <a:rPr lang="en-US" altLang="en-US" sz="9600" b="1" dirty="0"/>
              <a:t>Email</a:t>
            </a:r>
            <a:r>
              <a:rPr lang="en-US" altLang="en-US" sz="9600" dirty="0"/>
              <a:t>: </a:t>
            </a:r>
            <a:r>
              <a:rPr lang="en-US" altLang="en-US" sz="9600" dirty="0">
                <a:hlinkClick r:id="rId3"/>
              </a:rPr>
              <a:t>utasnim@kennesaw.edu</a:t>
            </a:r>
            <a:r>
              <a:rPr lang="en-US" altLang="en-US" sz="9600" dirty="0"/>
              <a:t>  </a:t>
            </a:r>
          </a:p>
          <a:p>
            <a:pPr marL="457200" lvl="1" indent="0">
              <a:buNone/>
            </a:pPr>
            <a:r>
              <a:rPr lang="en-US" altLang="en-US" sz="9600" dirty="0"/>
              <a:t>   Office: J-3112 (by appointments only) </a:t>
            </a:r>
          </a:p>
          <a:p>
            <a:pPr marL="457200" lvl="1" indent="0">
              <a:buNone/>
            </a:pPr>
            <a:r>
              <a:rPr lang="en-US" altLang="en-US" sz="9600" dirty="0"/>
              <a:t>   Preferred Communication Method: Email</a:t>
            </a:r>
          </a:p>
          <a:p>
            <a:pPr lvl="1"/>
            <a:r>
              <a:rPr lang="en-US" altLang="en-US" sz="9600" b="1" dirty="0"/>
              <a:t>GTA: </a:t>
            </a:r>
          </a:p>
          <a:p>
            <a:pPr marL="457200" lvl="1" indent="0">
              <a:buNone/>
            </a:pPr>
            <a:r>
              <a:rPr lang="en-US" altLang="en-US" sz="9600" dirty="0"/>
              <a:t>   Information will upload in the content section</a:t>
            </a:r>
          </a:p>
          <a:p>
            <a:pPr marL="457200" lvl="1" indent="0">
              <a:buNone/>
            </a:pPr>
            <a:endParaRPr lang="en-US" sz="9600" dirty="0">
              <a:ea typeface="Calibri" panose="020F0502020204030204" pitchFamily="34" charset="0"/>
              <a:cs typeface="Times New Roman" panose="02020603050405020304" pitchFamily="18" charset="0"/>
            </a:endParaRPr>
          </a:p>
          <a:p>
            <a:pPr marL="0" indent="0">
              <a:buNone/>
            </a:pPr>
            <a:endParaRPr lang="en-US" alt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79" name="Rectangle 3177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5426F8-18F9-6385-D643-AD7CE34FE631}"/>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b="1" kern="1200" dirty="0">
                <a:latin typeface="+mj-lt"/>
                <a:ea typeface="+mj-ea"/>
                <a:cs typeface="+mj-cs"/>
              </a:rPr>
              <a:t>Why Learning Data Structure? </a:t>
            </a:r>
          </a:p>
        </p:txBody>
      </p:sp>
      <p:sp>
        <p:nvSpPr>
          <p:cNvPr id="3178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5" name="Content Placeholder 31754">
            <a:extLst>
              <a:ext uri="{FF2B5EF4-FFF2-40B4-BE49-F238E27FC236}">
                <a16:creationId xmlns:a16="http://schemas.microsoft.com/office/drawing/2014/main" id="{25AEC76B-AA78-6664-6962-5A58FD94B78B}"/>
              </a:ext>
            </a:extLst>
          </p:cNvPr>
          <p:cNvSpPr>
            <a:spLocks noGrp="1"/>
          </p:cNvSpPr>
          <p:nvPr>
            <p:ph idx="1"/>
          </p:nvPr>
        </p:nvSpPr>
        <p:spPr>
          <a:xfrm>
            <a:off x="5541263" y="457200"/>
            <a:ext cx="6007608" cy="1929384"/>
          </a:xfrm>
        </p:spPr>
        <p:txBody>
          <a:bodyPr anchor="ctr">
            <a:normAutofit/>
          </a:bodyPr>
          <a:lstStyle/>
          <a:p>
            <a:r>
              <a:rPr lang="en-US" sz="2400" dirty="0">
                <a:solidFill>
                  <a:srgbClr val="040C28"/>
                </a:solidFill>
                <a:latin typeface="Google Sans"/>
              </a:rPr>
              <a:t>O</a:t>
            </a:r>
            <a:r>
              <a:rPr lang="en-US" sz="2400" b="0" i="0" dirty="0">
                <a:solidFill>
                  <a:srgbClr val="040C28"/>
                </a:solidFill>
                <a:effectLst/>
                <a:latin typeface="Google Sans"/>
              </a:rPr>
              <a:t>rganizing the data.</a:t>
            </a:r>
            <a:r>
              <a:rPr lang="en-US" sz="2400" b="0" i="0" dirty="0">
                <a:solidFill>
                  <a:srgbClr val="4D5156"/>
                </a:solidFill>
                <a:effectLst/>
                <a:latin typeface="Google Sans"/>
              </a:rPr>
              <a:t> </a:t>
            </a:r>
          </a:p>
          <a:p>
            <a:r>
              <a:rPr lang="en-US" sz="2400" b="0" i="0" dirty="0">
                <a:solidFill>
                  <a:srgbClr val="040C28"/>
                </a:solidFill>
                <a:effectLst/>
                <a:latin typeface="Google Sans"/>
              </a:rPr>
              <a:t>It is also used for processing, retrieving, and storing data</a:t>
            </a:r>
            <a:r>
              <a:rPr lang="en-US" sz="2400" b="0" i="0" dirty="0">
                <a:solidFill>
                  <a:srgbClr val="4D5156"/>
                </a:solidFill>
                <a:effectLst/>
                <a:latin typeface="Google Sans"/>
              </a:rPr>
              <a:t>.</a:t>
            </a:r>
            <a:endParaRPr lang="en-US" sz="2400" dirty="0"/>
          </a:p>
        </p:txBody>
      </p:sp>
      <p:pic>
        <p:nvPicPr>
          <p:cNvPr id="4098" name="Picture 2" descr="Top 70 Data Structure Interview Questions (2023) - Logicmojo">
            <a:extLst>
              <a:ext uri="{FF2B5EF4-FFF2-40B4-BE49-F238E27FC236}">
                <a16:creationId xmlns:a16="http://schemas.microsoft.com/office/drawing/2014/main" id="{4B0BABB0-E567-E635-FDBE-8EA3A6C80F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4088" r="-54"/>
          <a:stretch/>
        </p:blipFill>
        <p:spPr bwMode="auto">
          <a:xfrm>
            <a:off x="957215" y="2569464"/>
            <a:ext cx="4486369" cy="3678936"/>
          </a:xfrm>
          <a:prstGeom prst="rect">
            <a:avLst/>
          </a:prstGeom>
          <a:noFill/>
          <a:extLst>
            <a:ext uri="{909E8E84-426E-40DD-AFC4-6F175D3DCCD1}">
              <a14:hiddenFill xmlns:a14="http://schemas.microsoft.com/office/drawing/2010/main">
                <a:solidFill>
                  <a:srgbClr val="FFFFFF"/>
                </a:solidFill>
              </a14:hiddenFill>
            </a:ext>
          </a:extLst>
        </p:spPr>
      </p:pic>
      <p:pic>
        <p:nvPicPr>
          <p:cNvPr id="31750" name="Picture 6" descr="Ask Yourself “Why?” - Anne McKeown">
            <a:extLst>
              <a:ext uri="{FF2B5EF4-FFF2-40B4-BE49-F238E27FC236}">
                <a16:creationId xmlns:a16="http://schemas.microsoft.com/office/drawing/2014/main" id="{BB36FF13-78E0-37D5-7E0A-6E37BBD423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1" r="1602" b="3"/>
          <a:stretch/>
        </p:blipFill>
        <p:spPr bwMode="auto">
          <a:xfrm>
            <a:off x="6285371" y="2569464"/>
            <a:ext cx="5406361" cy="367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08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 calcmode="lin" valueType="num">
                                      <p:cBhvr additive="base">
                                        <p:cTn id="7" dur="500" fill="hold"/>
                                        <p:tgtEl>
                                          <p:spTgt spid="31750"/>
                                        </p:tgtEl>
                                        <p:attrNameLst>
                                          <p:attrName>ppt_x</p:attrName>
                                        </p:attrNameLst>
                                      </p:cBhvr>
                                      <p:tavLst>
                                        <p:tav tm="0">
                                          <p:val>
                                            <p:strVal val="#ppt_x"/>
                                          </p:val>
                                        </p:tav>
                                        <p:tav tm="100000">
                                          <p:val>
                                            <p:strVal val="#ppt_x"/>
                                          </p:val>
                                        </p:tav>
                                      </p:tavLst>
                                    </p:anim>
                                    <p:anim calcmode="lin" valueType="num">
                                      <p:cBhvr additive="base">
                                        <p:cTn id="8" dur="500" fill="hold"/>
                                        <p:tgtEl>
                                          <p:spTgt spid="317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75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7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4" name="Rectangle 1843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Rectangle 2">
            <a:extLst>
              <a:ext uri="{FF2B5EF4-FFF2-40B4-BE49-F238E27FC236}">
                <a16:creationId xmlns:a16="http://schemas.microsoft.com/office/drawing/2014/main" id="{ADC8E77C-B674-E08E-061A-53C799F11C0D}"/>
              </a:ext>
            </a:extLst>
          </p:cNvPr>
          <p:cNvSpPr>
            <a:spLocks noGrp="1" noChangeArrowheads="1"/>
          </p:cNvSpPr>
          <p:nvPr>
            <p:ph type="title"/>
          </p:nvPr>
        </p:nvSpPr>
        <p:spPr>
          <a:xfrm>
            <a:off x="841248" y="548640"/>
            <a:ext cx="3600860" cy="5431536"/>
          </a:xfrm>
        </p:spPr>
        <p:txBody>
          <a:bodyPr>
            <a:normAutofit/>
          </a:bodyPr>
          <a:lstStyle/>
          <a:p>
            <a:r>
              <a:rPr lang="en-US" altLang="en-US" sz="5400"/>
              <a:t>Goals of the Course</a:t>
            </a:r>
          </a:p>
        </p:txBody>
      </p:sp>
      <p:sp>
        <p:nvSpPr>
          <p:cNvPr id="1844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5" name="Rectangle 3">
            <a:extLst>
              <a:ext uri="{FF2B5EF4-FFF2-40B4-BE49-F238E27FC236}">
                <a16:creationId xmlns:a16="http://schemas.microsoft.com/office/drawing/2014/main" id="{4DCDEA37-572C-629F-769F-C3217C37BAA0}"/>
              </a:ext>
            </a:extLst>
          </p:cNvPr>
          <p:cNvSpPr>
            <a:spLocks noGrp="1" noChangeArrowheads="1"/>
          </p:cNvSpPr>
          <p:nvPr>
            <p:ph type="body" idx="1"/>
          </p:nvPr>
        </p:nvSpPr>
        <p:spPr>
          <a:xfrm>
            <a:off x="5126418" y="552091"/>
            <a:ext cx="6224335" cy="5431536"/>
          </a:xfrm>
        </p:spPr>
        <p:txBody>
          <a:bodyPr anchor="ctr">
            <a:normAutofit/>
          </a:bodyPr>
          <a:lstStyle/>
          <a:p>
            <a:r>
              <a:rPr lang="en-US" altLang="en-US" sz="2400" dirty="0"/>
              <a:t>Become familiar with some of the fundamental data structures in computer science</a:t>
            </a:r>
          </a:p>
          <a:p>
            <a:r>
              <a:rPr lang="en-US" altLang="en-US" sz="2400" dirty="0"/>
              <a:t>Improve ability to solve problems abstractly</a:t>
            </a:r>
          </a:p>
          <a:p>
            <a:pPr lvl="1"/>
            <a:r>
              <a:rPr lang="en-US" altLang="en-US" dirty="0"/>
              <a:t>data structures are the building blocks</a:t>
            </a:r>
          </a:p>
          <a:p>
            <a:r>
              <a:rPr lang="en-US" altLang="en-US" sz="2400" dirty="0"/>
              <a:t>Improve ability to analyze your algorithms</a:t>
            </a:r>
          </a:p>
          <a:p>
            <a:pPr lvl="1"/>
            <a:r>
              <a:rPr lang="en-US" altLang="en-US" dirty="0"/>
              <a:t>Prove correctness</a:t>
            </a:r>
          </a:p>
          <a:p>
            <a:pPr lvl="1"/>
            <a:r>
              <a:rPr lang="en-US" altLang="en-US" dirty="0"/>
              <a:t>Gauge (and improve) time complexity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88" name="Rectangle 2048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Rectangle 2">
            <a:extLst>
              <a:ext uri="{FF2B5EF4-FFF2-40B4-BE49-F238E27FC236}">
                <a16:creationId xmlns:a16="http://schemas.microsoft.com/office/drawing/2014/main" id="{52866EB9-D589-65A8-2412-E4EC39B2BB72}"/>
              </a:ext>
            </a:extLst>
          </p:cNvPr>
          <p:cNvSpPr>
            <a:spLocks noGrp="1" noChangeArrowheads="1"/>
          </p:cNvSpPr>
          <p:nvPr>
            <p:ph type="title"/>
          </p:nvPr>
        </p:nvSpPr>
        <p:spPr>
          <a:xfrm>
            <a:off x="841248" y="548640"/>
            <a:ext cx="3600860" cy="5431536"/>
          </a:xfrm>
        </p:spPr>
        <p:txBody>
          <a:bodyPr>
            <a:normAutofit/>
          </a:bodyPr>
          <a:lstStyle/>
          <a:p>
            <a:r>
              <a:rPr lang="en-US" altLang="en-US" sz="5400"/>
              <a:t>Observation</a:t>
            </a:r>
          </a:p>
        </p:txBody>
      </p:sp>
      <p:sp>
        <p:nvSpPr>
          <p:cNvPr id="2049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3" name="Rectangle 3">
            <a:extLst>
              <a:ext uri="{FF2B5EF4-FFF2-40B4-BE49-F238E27FC236}">
                <a16:creationId xmlns:a16="http://schemas.microsoft.com/office/drawing/2014/main" id="{6EB17B44-87E7-3F6A-7C6B-F2A6A08DB906}"/>
              </a:ext>
            </a:extLst>
          </p:cNvPr>
          <p:cNvSpPr>
            <a:spLocks noGrp="1" noChangeArrowheads="1"/>
          </p:cNvSpPr>
          <p:nvPr>
            <p:ph type="body" idx="1"/>
          </p:nvPr>
        </p:nvSpPr>
        <p:spPr>
          <a:xfrm>
            <a:off x="5126418" y="552091"/>
            <a:ext cx="6224335" cy="5431536"/>
          </a:xfrm>
        </p:spPr>
        <p:txBody>
          <a:bodyPr anchor="ctr">
            <a:normAutofit/>
          </a:bodyPr>
          <a:lstStyle/>
          <a:p>
            <a:r>
              <a:rPr lang="en-US" altLang="en-US" sz="2400" dirty="0"/>
              <a:t>All programs manipulate data</a:t>
            </a:r>
          </a:p>
          <a:p>
            <a:pPr lvl="1"/>
            <a:r>
              <a:rPr lang="en-US" altLang="en-US" dirty="0"/>
              <a:t>programs </a:t>
            </a:r>
            <a:r>
              <a:rPr lang="en-US" altLang="en-US" i="1" dirty="0"/>
              <a:t>process, store, display, gather</a:t>
            </a:r>
          </a:p>
          <a:p>
            <a:pPr lvl="1"/>
            <a:r>
              <a:rPr lang="en-US" altLang="en-US" dirty="0"/>
              <a:t>data can be </a:t>
            </a:r>
            <a:r>
              <a:rPr lang="en-US" altLang="en-US" i="1" dirty="0"/>
              <a:t>information, numbers, images, sound</a:t>
            </a:r>
          </a:p>
          <a:p>
            <a:r>
              <a:rPr lang="en-US" altLang="en-US" sz="2400" dirty="0"/>
              <a:t>Each program must decide how to store data</a:t>
            </a:r>
          </a:p>
          <a:p>
            <a:r>
              <a:rPr lang="en-US" altLang="en-US" sz="2400" dirty="0"/>
              <a:t>Choice influences program at every level</a:t>
            </a:r>
          </a:p>
          <a:p>
            <a:pPr lvl="1"/>
            <a:r>
              <a:rPr lang="en-US" altLang="en-US" dirty="0"/>
              <a:t>execution speed</a:t>
            </a:r>
          </a:p>
          <a:p>
            <a:pPr lvl="1"/>
            <a:r>
              <a:rPr lang="en-US" altLang="en-US" dirty="0"/>
              <a:t>memory requirements</a:t>
            </a:r>
          </a:p>
          <a:p>
            <a:pPr lvl="1"/>
            <a:r>
              <a:rPr lang="en-US" altLang="en-US" dirty="0"/>
              <a:t>maintenance (debugging, extending,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EDB6E20-FB4F-4B3C-2BE9-2250B7201935}"/>
              </a:ext>
            </a:extLst>
          </p:cNvPr>
          <p:cNvSpPr>
            <a:spLocks noGrp="1" noChangeArrowheads="1"/>
          </p:cNvSpPr>
          <p:nvPr>
            <p:ph type="title"/>
          </p:nvPr>
        </p:nvSpPr>
        <p:spPr/>
        <p:txBody>
          <a:bodyPr/>
          <a:lstStyle/>
          <a:p>
            <a:r>
              <a:rPr lang="en-US" altLang="en-US" b="1" dirty="0"/>
              <a:t>What is a Data Structure?</a:t>
            </a:r>
          </a:p>
        </p:txBody>
      </p:sp>
      <p:sp>
        <p:nvSpPr>
          <p:cNvPr id="22531" name="Rectangle 3">
            <a:extLst>
              <a:ext uri="{FF2B5EF4-FFF2-40B4-BE49-F238E27FC236}">
                <a16:creationId xmlns:a16="http://schemas.microsoft.com/office/drawing/2014/main" id="{75145573-3419-78E8-520E-E227AE11C584}"/>
              </a:ext>
            </a:extLst>
          </p:cNvPr>
          <p:cNvSpPr>
            <a:spLocks noGrp="1" noChangeArrowheads="1"/>
          </p:cNvSpPr>
          <p:nvPr>
            <p:ph type="body" idx="1"/>
          </p:nvPr>
        </p:nvSpPr>
        <p:spPr>
          <a:xfrm>
            <a:off x="695739" y="1441174"/>
            <a:ext cx="9889435" cy="5416825"/>
          </a:xfrm>
        </p:spPr>
        <p:txBody>
          <a:bodyPr>
            <a:noAutofit/>
          </a:bodyPr>
          <a:lstStyle/>
          <a:p>
            <a:pPr>
              <a:lnSpc>
                <a:spcPct val="150000"/>
              </a:lnSpc>
              <a:buFont typeface="Arial" panose="020B0604020202020204" pitchFamily="34" charset="0"/>
              <a:buChar char="•"/>
            </a:pPr>
            <a:r>
              <a:rPr lang="en-US" altLang="en-US" sz="2400" b="1" u="sng" dirty="0"/>
              <a:t>Data Structure - </a:t>
            </a:r>
            <a:r>
              <a:rPr lang="en-US" altLang="en-US" sz="2400" dirty="0">
                <a:latin typeface="Times New Roman" panose="02020603050405020304" pitchFamily="18" charset="0"/>
              </a:rPr>
              <a:t>The logical or mathematical model of a particular organization of data is called a data structure.</a:t>
            </a:r>
          </a:p>
          <a:p>
            <a:pPr>
              <a:lnSpc>
                <a:spcPct val="150000"/>
              </a:lnSpc>
            </a:pPr>
            <a:r>
              <a:rPr lang="en-US" altLang="ja-JP" sz="2400" dirty="0">
                <a:ea typeface="ＭＳ Ｐゴシック" panose="020B0600070205080204" pitchFamily="34" charset="-128"/>
              </a:rPr>
              <a:t>Some of the more commonly used data structures include lists, arrays, stacks, queues, heaps, trees, and graphs.</a:t>
            </a:r>
            <a:endParaRPr lang="en-US" altLang="en-US" sz="2400" dirty="0">
              <a:latin typeface="Times New Roman" panose="02020603050405020304" pitchFamily="18" charset="0"/>
            </a:endParaRPr>
          </a:p>
          <a:p>
            <a:pPr marL="0" indent="0" fontAlgn="base">
              <a:lnSpc>
                <a:spcPct val="150000"/>
              </a:lnSpc>
              <a:spcBef>
                <a:spcPct val="0"/>
              </a:spcBef>
              <a:spcAft>
                <a:spcPct val="0"/>
              </a:spcAft>
              <a:buNone/>
              <a:defRPr/>
            </a:pPr>
            <a:r>
              <a:rPr lang="en-US" altLang="en-US" sz="2400" dirty="0">
                <a:solidFill>
                  <a:srgbClr val="000000"/>
                </a:solidFill>
                <a:latin typeface="Times New Roman" panose="02020603050405020304" pitchFamily="18" charset="0"/>
              </a:rPr>
              <a:t>    </a:t>
            </a:r>
          </a:p>
          <a:p>
            <a:pPr marL="0" indent="0" fontAlgn="base">
              <a:lnSpc>
                <a:spcPct val="150000"/>
              </a:lnSpc>
              <a:spcBef>
                <a:spcPct val="0"/>
              </a:spcBef>
              <a:spcAft>
                <a:spcPct val="0"/>
              </a:spcAft>
              <a:buNone/>
              <a:defRPr/>
            </a:pPr>
            <a:r>
              <a:rPr lang="en-US" altLang="en-US" sz="2400" dirty="0">
                <a:solidFill>
                  <a:srgbClr val="000000"/>
                </a:solidFill>
                <a:latin typeface="Times New Roman" panose="02020603050405020304" pitchFamily="18" charset="0"/>
              </a:rPr>
              <a:t>     </a:t>
            </a:r>
          </a:p>
          <a:p>
            <a:pPr>
              <a:buFontTx/>
              <a:buNone/>
            </a:pPr>
            <a:endParaRPr lang="en-US" altLang="en-US" sz="2400" dirty="0"/>
          </a:p>
        </p:txBody>
      </p:sp>
      <p:grpSp>
        <p:nvGrpSpPr>
          <p:cNvPr id="4" name="Group 37">
            <a:extLst>
              <a:ext uri="{FF2B5EF4-FFF2-40B4-BE49-F238E27FC236}">
                <a16:creationId xmlns:a16="http://schemas.microsoft.com/office/drawing/2014/main" id="{4BD2880D-14F9-529E-76A9-A5A8833FE4CD}"/>
              </a:ext>
            </a:extLst>
          </p:cNvPr>
          <p:cNvGrpSpPr>
            <a:grpSpLocks/>
          </p:cNvGrpSpPr>
          <p:nvPr/>
        </p:nvGrpSpPr>
        <p:grpSpPr bwMode="auto">
          <a:xfrm>
            <a:off x="2655094" y="4659367"/>
            <a:ext cx="2667000" cy="457200"/>
            <a:chOff x="864" y="3168"/>
            <a:chExt cx="1680" cy="288"/>
          </a:xfrm>
        </p:grpSpPr>
        <p:grpSp>
          <p:nvGrpSpPr>
            <p:cNvPr id="5" name="Group 31">
              <a:extLst>
                <a:ext uri="{FF2B5EF4-FFF2-40B4-BE49-F238E27FC236}">
                  <a16:creationId xmlns:a16="http://schemas.microsoft.com/office/drawing/2014/main" id="{58E0E2CF-F541-8EC8-0B58-77C93AC6D4F4}"/>
                </a:ext>
              </a:extLst>
            </p:cNvPr>
            <p:cNvGrpSpPr>
              <a:grpSpLocks/>
            </p:cNvGrpSpPr>
            <p:nvPr/>
          </p:nvGrpSpPr>
          <p:grpSpPr bwMode="auto">
            <a:xfrm>
              <a:off x="864" y="3168"/>
              <a:ext cx="1680" cy="288"/>
              <a:chOff x="864" y="3168"/>
              <a:chExt cx="1680" cy="288"/>
            </a:xfrm>
          </p:grpSpPr>
          <p:sp>
            <p:nvSpPr>
              <p:cNvPr id="11" name="Rectangle 17">
                <a:extLst>
                  <a:ext uri="{FF2B5EF4-FFF2-40B4-BE49-F238E27FC236}">
                    <a16:creationId xmlns:a16="http://schemas.microsoft.com/office/drawing/2014/main" id="{67EB43C9-9CFA-5C82-7FB6-C8F6BF90048D}"/>
                  </a:ext>
                </a:extLst>
              </p:cNvPr>
              <p:cNvSpPr>
                <a:spLocks noChangeArrowheads="1"/>
              </p:cNvSpPr>
              <p:nvPr/>
            </p:nvSpPr>
            <p:spPr bwMode="auto">
              <a:xfrm>
                <a:off x="864" y="3168"/>
                <a:ext cx="1680"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2" name="Text Box 23">
                <a:extLst>
                  <a:ext uri="{FF2B5EF4-FFF2-40B4-BE49-F238E27FC236}">
                    <a16:creationId xmlns:a16="http://schemas.microsoft.com/office/drawing/2014/main" id="{9E32DAC4-53F2-699C-A497-CFA31E1B7D48}"/>
                  </a:ext>
                </a:extLst>
              </p:cNvPr>
              <p:cNvSpPr txBox="1">
                <a:spLocks noChangeArrowheads="1"/>
              </p:cNvSpPr>
              <p:nvPr/>
            </p:nvSpPr>
            <p:spPr bwMode="auto">
              <a:xfrm>
                <a:off x="912"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A</a:t>
                </a:r>
              </a:p>
            </p:txBody>
          </p:sp>
          <p:sp>
            <p:nvSpPr>
              <p:cNvPr id="13" name="Text Box 24">
                <a:extLst>
                  <a:ext uri="{FF2B5EF4-FFF2-40B4-BE49-F238E27FC236}">
                    <a16:creationId xmlns:a16="http://schemas.microsoft.com/office/drawing/2014/main" id="{23ACA3E0-29E7-9A14-0F5F-53724980816A}"/>
                  </a:ext>
                </a:extLst>
              </p:cNvPr>
              <p:cNvSpPr txBox="1">
                <a:spLocks noChangeArrowheads="1"/>
              </p:cNvSpPr>
              <p:nvPr/>
            </p:nvSpPr>
            <p:spPr bwMode="auto">
              <a:xfrm>
                <a:off x="1200"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B</a:t>
                </a:r>
              </a:p>
            </p:txBody>
          </p:sp>
          <p:sp>
            <p:nvSpPr>
              <p:cNvPr id="14" name="Text Box 25">
                <a:extLst>
                  <a:ext uri="{FF2B5EF4-FFF2-40B4-BE49-F238E27FC236}">
                    <a16:creationId xmlns:a16="http://schemas.microsoft.com/office/drawing/2014/main" id="{02C1E1CC-AF1A-81F4-1A19-F00CA953385C}"/>
                  </a:ext>
                </a:extLst>
              </p:cNvPr>
              <p:cNvSpPr txBox="1">
                <a:spLocks noChangeArrowheads="1"/>
              </p:cNvSpPr>
              <p:nvPr/>
            </p:nvSpPr>
            <p:spPr bwMode="auto">
              <a:xfrm>
                <a:off x="1488"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C</a:t>
                </a:r>
              </a:p>
            </p:txBody>
          </p:sp>
          <p:sp>
            <p:nvSpPr>
              <p:cNvPr id="15" name="Text Box 26">
                <a:extLst>
                  <a:ext uri="{FF2B5EF4-FFF2-40B4-BE49-F238E27FC236}">
                    <a16:creationId xmlns:a16="http://schemas.microsoft.com/office/drawing/2014/main" id="{F2100502-8C7C-51B6-7269-E5FE08CA792C}"/>
                  </a:ext>
                </a:extLst>
              </p:cNvPr>
              <p:cNvSpPr txBox="1">
                <a:spLocks noChangeArrowheads="1"/>
              </p:cNvSpPr>
              <p:nvPr/>
            </p:nvSpPr>
            <p:spPr bwMode="auto">
              <a:xfrm>
                <a:off x="1755"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D</a:t>
                </a:r>
              </a:p>
            </p:txBody>
          </p:sp>
          <p:sp>
            <p:nvSpPr>
              <p:cNvPr id="16" name="Text Box 28">
                <a:extLst>
                  <a:ext uri="{FF2B5EF4-FFF2-40B4-BE49-F238E27FC236}">
                    <a16:creationId xmlns:a16="http://schemas.microsoft.com/office/drawing/2014/main" id="{101BD487-4273-BB8A-F5F3-944BE04B54D6}"/>
                  </a:ext>
                </a:extLst>
              </p:cNvPr>
              <p:cNvSpPr txBox="1">
                <a:spLocks noChangeArrowheads="1"/>
              </p:cNvSpPr>
              <p:nvPr/>
            </p:nvSpPr>
            <p:spPr bwMode="auto">
              <a:xfrm>
                <a:off x="2064"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E</a:t>
                </a:r>
              </a:p>
            </p:txBody>
          </p:sp>
          <p:sp>
            <p:nvSpPr>
              <p:cNvPr id="17" name="Text Box 29">
                <a:extLst>
                  <a:ext uri="{FF2B5EF4-FFF2-40B4-BE49-F238E27FC236}">
                    <a16:creationId xmlns:a16="http://schemas.microsoft.com/office/drawing/2014/main" id="{780E902D-74B4-3E44-D520-4A27EB4B602D}"/>
                  </a:ext>
                </a:extLst>
              </p:cNvPr>
              <p:cNvSpPr txBox="1">
                <a:spLocks noChangeArrowheads="1"/>
              </p:cNvSpPr>
              <p:nvPr/>
            </p:nvSpPr>
            <p:spPr bwMode="auto">
              <a:xfrm>
                <a:off x="2304"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F</a:t>
                </a:r>
              </a:p>
            </p:txBody>
          </p:sp>
        </p:grpSp>
        <p:sp>
          <p:nvSpPr>
            <p:cNvPr id="6" name="Line 32">
              <a:extLst>
                <a:ext uri="{FF2B5EF4-FFF2-40B4-BE49-F238E27FC236}">
                  <a16:creationId xmlns:a16="http://schemas.microsoft.com/office/drawing/2014/main" id="{2F16F82A-BD08-E2D0-D47E-F9ED95F6A63D}"/>
                </a:ext>
              </a:extLst>
            </p:cNvPr>
            <p:cNvSpPr>
              <a:spLocks noChangeShapeType="1"/>
            </p:cNvSpPr>
            <p:nvPr/>
          </p:nvSpPr>
          <p:spPr bwMode="auto">
            <a:xfrm>
              <a:off x="1152" y="31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33">
              <a:extLst>
                <a:ext uri="{FF2B5EF4-FFF2-40B4-BE49-F238E27FC236}">
                  <a16:creationId xmlns:a16="http://schemas.microsoft.com/office/drawing/2014/main" id="{312D48E2-EA52-08E8-B3C3-687CEFC90A6C}"/>
                </a:ext>
              </a:extLst>
            </p:cNvPr>
            <p:cNvSpPr>
              <a:spLocks noChangeShapeType="1"/>
            </p:cNvSpPr>
            <p:nvPr/>
          </p:nvSpPr>
          <p:spPr bwMode="auto">
            <a:xfrm>
              <a:off x="1440" y="31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34">
              <a:extLst>
                <a:ext uri="{FF2B5EF4-FFF2-40B4-BE49-F238E27FC236}">
                  <a16:creationId xmlns:a16="http://schemas.microsoft.com/office/drawing/2014/main" id="{3E144351-D93C-8133-6BC2-98A3B64AB8BE}"/>
                </a:ext>
              </a:extLst>
            </p:cNvPr>
            <p:cNvSpPr>
              <a:spLocks noChangeShapeType="1"/>
            </p:cNvSpPr>
            <p:nvPr/>
          </p:nvSpPr>
          <p:spPr bwMode="auto">
            <a:xfrm>
              <a:off x="1728" y="31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35">
              <a:extLst>
                <a:ext uri="{FF2B5EF4-FFF2-40B4-BE49-F238E27FC236}">
                  <a16:creationId xmlns:a16="http://schemas.microsoft.com/office/drawing/2014/main" id="{D39E3B75-FFB1-4E7A-BCFA-435E5E255AB1}"/>
                </a:ext>
              </a:extLst>
            </p:cNvPr>
            <p:cNvSpPr>
              <a:spLocks noChangeShapeType="1"/>
            </p:cNvSpPr>
            <p:nvPr/>
          </p:nvSpPr>
          <p:spPr bwMode="auto">
            <a:xfrm>
              <a:off x="2016" y="31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36">
              <a:extLst>
                <a:ext uri="{FF2B5EF4-FFF2-40B4-BE49-F238E27FC236}">
                  <a16:creationId xmlns:a16="http://schemas.microsoft.com/office/drawing/2014/main" id="{FF3DB269-6104-E444-6C47-CCA24E1FD54F}"/>
                </a:ext>
              </a:extLst>
            </p:cNvPr>
            <p:cNvSpPr>
              <a:spLocks noChangeShapeType="1"/>
            </p:cNvSpPr>
            <p:nvPr/>
          </p:nvSpPr>
          <p:spPr bwMode="auto">
            <a:xfrm>
              <a:off x="2277" y="31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8" name="Group 30">
            <a:extLst>
              <a:ext uri="{FF2B5EF4-FFF2-40B4-BE49-F238E27FC236}">
                <a16:creationId xmlns:a16="http://schemas.microsoft.com/office/drawing/2014/main" id="{39766350-3924-846E-E7F7-41DD3E17A06A}"/>
              </a:ext>
            </a:extLst>
          </p:cNvPr>
          <p:cNvGrpSpPr>
            <a:grpSpLocks/>
          </p:cNvGrpSpPr>
          <p:nvPr/>
        </p:nvGrpSpPr>
        <p:grpSpPr bwMode="auto">
          <a:xfrm>
            <a:off x="7791450" y="4029075"/>
            <a:ext cx="1657350" cy="1562100"/>
            <a:chOff x="3360" y="2736"/>
            <a:chExt cx="1044" cy="984"/>
          </a:xfrm>
        </p:grpSpPr>
        <p:sp>
          <p:nvSpPr>
            <p:cNvPr id="19" name="Oval 6">
              <a:extLst>
                <a:ext uri="{FF2B5EF4-FFF2-40B4-BE49-F238E27FC236}">
                  <a16:creationId xmlns:a16="http://schemas.microsoft.com/office/drawing/2014/main" id="{77D98127-5FB3-0760-5DFD-2704BE26B6A0}"/>
                </a:ext>
              </a:extLst>
            </p:cNvPr>
            <p:cNvSpPr>
              <a:spLocks noChangeArrowheads="1"/>
            </p:cNvSpPr>
            <p:nvPr/>
          </p:nvSpPr>
          <p:spPr bwMode="auto">
            <a:xfrm>
              <a:off x="3792" y="2736"/>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A</a:t>
              </a:r>
            </a:p>
          </p:txBody>
        </p:sp>
        <p:sp>
          <p:nvSpPr>
            <p:cNvPr id="20" name="Oval 7">
              <a:extLst>
                <a:ext uri="{FF2B5EF4-FFF2-40B4-BE49-F238E27FC236}">
                  <a16:creationId xmlns:a16="http://schemas.microsoft.com/office/drawing/2014/main" id="{960D131F-C285-B93F-7F3D-E277D149D45A}"/>
                </a:ext>
              </a:extLst>
            </p:cNvPr>
            <p:cNvSpPr>
              <a:spLocks noChangeArrowheads="1"/>
            </p:cNvSpPr>
            <p:nvPr/>
          </p:nvSpPr>
          <p:spPr bwMode="auto">
            <a:xfrm>
              <a:off x="3504" y="3096"/>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t>B</a:t>
              </a:r>
            </a:p>
          </p:txBody>
        </p:sp>
        <p:sp>
          <p:nvSpPr>
            <p:cNvPr id="21" name="Oval 8">
              <a:extLst>
                <a:ext uri="{FF2B5EF4-FFF2-40B4-BE49-F238E27FC236}">
                  <a16:creationId xmlns:a16="http://schemas.microsoft.com/office/drawing/2014/main" id="{6A7A2FB0-FA2B-2112-C35B-D61AB2615CB5}"/>
                </a:ext>
              </a:extLst>
            </p:cNvPr>
            <p:cNvSpPr>
              <a:spLocks noChangeArrowheads="1"/>
            </p:cNvSpPr>
            <p:nvPr/>
          </p:nvSpPr>
          <p:spPr bwMode="auto">
            <a:xfrm>
              <a:off x="4128" y="3096"/>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C</a:t>
              </a:r>
            </a:p>
          </p:txBody>
        </p:sp>
        <p:sp>
          <p:nvSpPr>
            <p:cNvPr id="22" name="Oval 9">
              <a:extLst>
                <a:ext uri="{FF2B5EF4-FFF2-40B4-BE49-F238E27FC236}">
                  <a16:creationId xmlns:a16="http://schemas.microsoft.com/office/drawing/2014/main" id="{0851CCF8-03E9-7D69-C089-5C3AAECAA1C3}"/>
                </a:ext>
              </a:extLst>
            </p:cNvPr>
            <p:cNvSpPr>
              <a:spLocks noChangeArrowheads="1"/>
            </p:cNvSpPr>
            <p:nvPr/>
          </p:nvSpPr>
          <p:spPr bwMode="auto">
            <a:xfrm>
              <a:off x="3360" y="3480"/>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D</a:t>
              </a:r>
            </a:p>
          </p:txBody>
        </p:sp>
        <p:sp>
          <p:nvSpPr>
            <p:cNvPr id="23" name="Oval 10">
              <a:extLst>
                <a:ext uri="{FF2B5EF4-FFF2-40B4-BE49-F238E27FC236}">
                  <a16:creationId xmlns:a16="http://schemas.microsoft.com/office/drawing/2014/main" id="{55BA0372-75B2-EAF4-F88F-F981C8E5FB16}"/>
                </a:ext>
              </a:extLst>
            </p:cNvPr>
            <p:cNvSpPr>
              <a:spLocks noChangeArrowheads="1"/>
            </p:cNvSpPr>
            <p:nvPr/>
          </p:nvSpPr>
          <p:spPr bwMode="auto">
            <a:xfrm>
              <a:off x="3744" y="3480"/>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E</a:t>
              </a:r>
            </a:p>
          </p:txBody>
        </p:sp>
        <p:sp>
          <p:nvSpPr>
            <p:cNvPr id="24" name="Oval 11">
              <a:extLst>
                <a:ext uri="{FF2B5EF4-FFF2-40B4-BE49-F238E27FC236}">
                  <a16:creationId xmlns:a16="http://schemas.microsoft.com/office/drawing/2014/main" id="{328F7FFC-EDD6-2C8F-7BE4-3632A9741E81}"/>
                </a:ext>
              </a:extLst>
            </p:cNvPr>
            <p:cNvSpPr>
              <a:spLocks noChangeArrowheads="1"/>
            </p:cNvSpPr>
            <p:nvPr/>
          </p:nvSpPr>
          <p:spPr bwMode="auto">
            <a:xfrm>
              <a:off x="4164" y="3462"/>
              <a:ext cx="240"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F</a:t>
              </a:r>
            </a:p>
          </p:txBody>
        </p:sp>
        <p:sp>
          <p:nvSpPr>
            <p:cNvPr id="25" name="Line 12">
              <a:extLst>
                <a:ext uri="{FF2B5EF4-FFF2-40B4-BE49-F238E27FC236}">
                  <a16:creationId xmlns:a16="http://schemas.microsoft.com/office/drawing/2014/main" id="{0940DE25-8163-BE83-9DBB-CDAE20D7094F}"/>
                </a:ext>
              </a:extLst>
            </p:cNvPr>
            <p:cNvSpPr>
              <a:spLocks noChangeShapeType="1"/>
            </p:cNvSpPr>
            <p:nvPr/>
          </p:nvSpPr>
          <p:spPr bwMode="auto">
            <a:xfrm flipH="1">
              <a:off x="3696" y="2976"/>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13">
              <a:extLst>
                <a:ext uri="{FF2B5EF4-FFF2-40B4-BE49-F238E27FC236}">
                  <a16:creationId xmlns:a16="http://schemas.microsoft.com/office/drawing/2014/main" id="{43A90B05-EBCA-2261-4293-A4B36F441F20}"/>
                </a:ext>
              </a:extLst>
            </p:cNvPr>
            <p:cNvSpPr>
              <a:spLocks noChangeShapeType="1"/>
            </p:cNvSpPr>
            <p:nvPr/>
          </p:nvSpPr>
          <p:spPr bwMode="auto">
            <a:xfrm>
              <a:off x="3936" y="2976"/>
              <a:ext cx="288"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14">
              <a:extLst>
                <a:ext uri="{FF2B5EF4-FFF2-40B4-BE49-F238E27FC236}">
                  <a16:creationId xmlns:a16="http://schemas.microsoft.com/office/drawing/2014/main" id="{4F09FF33-A310-3D27-FDA5-6B85B0B5CCDD}"/>
                </a:ext>
              </a:extLst>
            </p:cNvPr>
            <p:cNvSpPr>
              <a:spLocks noChangeShapeType="1"/>
            </p:cNvSpPr>
            <p:nvPr/>
          </p:nvSpPr>
          <p:spPr bwMode="auto">
            <a:xfrm flipH="1">
              <a:off x="3504" y="3312"/>
              <a:ext cx="14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15">
              <a:extLst>
                <a:ext uri="{FF2B5EF4-FFF2-40B4-BE49-F238E27FC236}">
                  <a16:creationId xmlns:a16="http://schemas.microsoft.com/office/drawing/2014/main" id="{37CA0068-3838-CF43-7205-45581A6D0A5D}"/>
                </a:ext>
              </a:extLst>
            </p:cNvPr>
            <p:cNvSpPr>
              <a:spLocks noChangeShapeType="1"/>
            </p:cNvSpPr>
            <p:nvPr/>
          </p:nvSpPr>
          <p:spPr bwMode="auto">
            <a:xfrm>
              <a:off x="3648" y="3312"/>
              <a:ext cx="14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16">
              <a:extLst>
                <a:ext uri="{FF2B5EF4-FFF2-40B4-BE49-F238E27FC236}">
                  <a16:creationId xmlns:a16="http://schemas.microsoft.com/office/drawing/2014/main" id="{4DDD7081-E277-9138-662D-4B0BDB764BC3}"/>
                </a:ext>
              </a:extLst>
            </p:cNvPr>
            <p:cNvSpPr>
              <a:spLocks noChangeShapeType="1"/>
            </p:cNvSpPr>
            <p:nvPr/>
          </p:nvSpPr>
          <p:spPr bwMode="auto">
            <a:xfrm>
              <a:off x="4272" y="331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2" name="Text Box 41">
            <a:extLst>
              <a:ext uri="{FF2B5EF4-FFF2-40B4-BE49-F238E27FC236}">
                <a16:creationId xmlns:a16="http://schemas.microsoft.com/office/drawing/2014/main" id="{9AEE1C68-536C-A874-33DE-6BFD483AF1DF}"/>
              </a:ext>
            </a:extLst>
          </p:cNvPr>
          <p:cNvSpPr txBox="1">
            <a:spLocks noChangeArrowheads="1"/>
          </p:cNvSpPr>
          <p:nvPr/>
        </p:nvSpPr>
        <p:spPr bwMode="auto">
          <a:xfrm>
            <a:off x="8134350" y="5700325"/>
            <a:ext cx="13858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200" dirty="0">
                <a:latin typeface="Times New Roman" panose="02020603050405020304" pitchFamily="18" charset="0"/>
              </a:rPr>
              <a:t>Fig 2 - Tree </a:t>
            </a:r>
          </a:p>
        </p:txBody>
      </p:sp>
      <p:sp>
        <p:nvSpPr>
          <p:cNvPr id="43" name="Text Box 41">
            <a:extLst>
              <a:ext uri="{FF2B5EF4-FFF2-40B4-BE49-F238E27FC236}">
                <a16:creationId xmlns:a16="http://schemas.microsoft.com/office/drawing/2014/main" id="{07B05E38-5214-A53A-6027-6DE6ED120EBF}"/>
              </a:ext>
            </a:extLst>
          </p:cNvPr>
          <p:cNvSpPr txBox="1">
            <a:spLocks noChangeArrowheads="1"/>
          </p:cNvSpPr>
          <p:nvPr/>
        </p:nvSpPr>
        <p:spPr bwMode="auto">
          <a:xfrm>
            <a:off x="2847975" y="5192767"/>
            <a:ext cx="13335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400" dirty="0">
                <a:latin typeface="Times New Roman" panose="02020603050405020304" pitchFamily="18" charset="0"/>
              </a:rPr>
              <a:t>Fig 1- Array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2959-AFD9-2B77-98F0-19A93EA33583}"/>
              </a:ext>
            </a:extLst>
          </p:cNvPr>
          <p:cNvSpPr>
            <a:spLocks noGrp="1"/>
          </p:cNvSpPr>
          <p:nvPr>
            <p:ph type="title"/>
          </p:nvPr>
        </p:nvSpPr>
        <p:spPr/>
        <p:txBody>
          <a:bodyPr/>
          <a:lstStyle/>
          <a:p>
            <a:r>
              <a:rPr lang="en-US" altLang="en-US" b="1" dirty="0"/>
              <a:t>What is a Data Structure?</a:t>
            </a:r>
            <a:endParaRPr lang="en-US" dirty="0"/>
          </a:p>
        </p:txBody>
      </p:sp>
      <p:sp>
        <p:nvSpPr>
          <p:cNvPr id="3" name="Content Placeholder 2">
            <a:extLst>
              <a:ext uri="{FF2B5EF4-FFF2-40B4-BE49-F238E27FC236}">
                <a16:creationId xmlns:a16="http://schemas.microsoft.com/office/drawing/2014/main" id="{6886AE70-4FD7-ED76-28D0-7FF26534F7FC}"/>
              </a:ext>
            </a:extLst>
          </p:cNvPr>
          <p:cNvSpPr>
            <a:spLocks noGrp="1"/>
          </p:cNvSpPr>
          <p:nvPr>
            <p:ph idx="1"/>
          </p:nvPr>
        </p:nvSpPr>
        <p:spPr/>
        <p:txBody>
          <a:bodyPr/>
          <a:lstStyle/>
          <a:p>
            <a:pPr fontAlgn="base">
              <a:lnSpc>
                <a:spcPct val="150000"/>
              </a:lnSpc>
              <a:spcBef>
                <a:spcPct val="0"/>
              </a:spcBef>
              <a:spcAft>
                <a:spcPct val="0"/>
              </a:spcAft>
              <a:defRPr/>
            </a:pPr>
            <a:r>
              <a:rPr lang="en-US" altLang="en-US" sz="2800" b="1" u="sng" dirty="0">
                <a:solidFill>
                  <a:srgbClr val="000000"/>
                </a:solidFill>
                <a:latin typeface="Times New Roman" panose="02020603050405020304" pitchFamily="18" charset="0"/>
              </a:rPr>
              <a:t>Types of Data Structure -</a:t>
            </a:r>
          </a:p>
          <a:p>
            <a:pPr marL="0" indent="0" fontAlgn="base">
              <a:lnSpc>
                <a:spcPct val="170000"/>
              </a:lnSpc>
              <a:spcBef>
                <a:spcPct val="0"/>
              </a:spcBef>
              <a:spcAft>
                <a:spcPct val="0"/>
              </a:spcAft>
              <a:buNone/>
              <a:defRPr/>
            </a:pPr>
            <a:r>
              <a:rPr lang="en-US" altLang="en-US" sz="2400" dirty="0">
                <a:solidFill>
                  <a:srgbClr val="000000"/>
                </a:solidFill>
                <a:latin typeface="Times New Roman" panose="02020603050405020304" pitchFamily="18" charset="0"/>
              </a:rPr>
              <a:t>    1. Linear Data Structure</a:t>
            </a:r>
          </a:p>
          <a:p>
            <a:pPr marL="0" indent="0" fontAlgn="base">
              <a:lnSpc>
                <a:spcPct val="150000"/>
              </a:lnSpc>
              <a:spcBef>
                <a:spcPct val="0"/>
              </a:spcBef>
              <a:spcAft>
                <a:spcPct val="0"/>
              </a:spcAft>
              <a:buNone/>
              <a:defRPr/>
            </a:pPr>
            <a:r>
              <a:rPr lang="en-US" altLang="en-US" sz="2400" dirty="0">
                <a:solidFill>
                  <a:srgbClr val="000000"/>
                </a:solidFill>
                <a:latin typeface="Times New Roman" panose="02020603050405020304" pitchFamily="18" charset="0"/>
              </a:rPr>
              <a:t>        Example: Arrays, Linked Lists, Stacks, Queues</a:t>
            </a:r>
          </a:p>
          <a:p>
            <a:pPr marL="0" indent="0" fontAlgn="base">
              <a:lnSpc>
                <a:spcPct val="150000"/>
              </a:lnSpc>
              <a:spcBef>
                <a:spcPct val="0"/>
              </a:spcBef>
              <a:spcAft>
                <a:spcPct val="0"/>
              </a:spcAft>
              <a:buNone/>
              <a:defRPr/>
            </a:pPr>
            <a:r>
              <a:rPr lang="en-US" altLang="en-US" sz="2400" dirty="0">
                <a:solidFill>
                  <a:srgbClr val="000000"/>
                </a:solidFill>
                <a:latin typeface="Times New Roman" panose="02020603050405020304" pitchFamily="18" charset="0"/>
              </a:rPr>
              <a:t>    2. Nonlinear Data Structure</a:t>
            </a:r>
          </a:p>
          <a:p>
            <a:pPr marL="0" indent="0" fontAlgn="base">
              <a:lnSpc>
                <a:spcPct val="150000"/>
              </a:lnSpc>
              <a:spcBef>
                <a:spcPct val="0"/>
              </a:spcBef>
              <a:spcAft>
                <a:spcPct val="0"/>
              </a:spcAft>
              <a:buNone/>
              <a:defRPr/>
            </a:pPr>
            <a:r>
              <a:rPr lang="en-US" altLang="en-US" sz="2400" dirty="0">
                <a:solidFill>
                  <a:srgbClr val="000000"/>
                </a:solidFill>
                <a:latin typeface="Times New Roman" panose="02020603050405020304" pitchFamily="18" charset="0"/>
              </a:rPr>
              <a:t>        Example: Trees, Graphs.  </a:t>
            </a:r>
          </a:p>
          <a:p>
            <a:pPr marL="0" indent="0" fontAlgn="base">
              <a:lnSpc>
                <a:spcPct val="150000"/>
              </a:lnSpc>
              <a:spcBef>
                <a:spcPct val="0"/>
              </a:spcBef>
              <a:spcAft>
                <a:spcPct val="0"/>
              </a:spcAft>
              <a:buNone/>
              <a:defRPr/>
            </a:pPr>
            <a:endParaRPr lang="en-US" altLang="en-US" sz="2800" dirty="0">
              <a:solidFill>
                <a:srgbClr val="000000"/>
              </a:solidFill>
              <a:latin typeface="Times New Roman" panose="02020603050405020304" pitchFamily="18" charset="0"/>
            </a:endParaRPr>
          </a:p>
          <a:p>
            <a:endParaRPr lang="en-US" dirty="0"/>
          </a:p>
        </p:txBody>
      </p:sp>
    </p:spTree>
    <p:extLst>
      <p:ext uri="{BB962C8B-B14F-4D97-AF65-F5344CB8AC3E}">
        <p14:creationId xmlns:p14="http://schemas.microsoft.com/office/powerpoint/2010/main" val="3373572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EA92-9BFF-38C6-142E-51A2577FB74C}"/>
              </a:ext>
            </a:extLst>
          </p:cNvPr>
          <p:cNvSpPr>
            <a:spLocks noGrp="1"/>
          </p:cNvSpPr>
          <p:nvPr>
            <p:ph type="title"/>
          </p:nvPr>
        </p:nvSpPr>
        <p:spPr/>
        <p:txBody>
          <a:bodyPr/>
          <a:lstStyle/>
          <a:p>
            <a:r>
              <a:rPr lang="en-US" altLang="en-US" sz="4400" b="1" u="sng" dirty="0">
                <a:solidFill>
                  <a:srgbClr val="000000"/>
                </a:solidFill>
                <a:latin typeface="Times New Roman" panose="02020603050405020304" pitchFamily="18" charset="0"/>
              </a:rPr>
              <a:t>Choice of Data Structures</a:t>
            </a:r>
            <a:br>
              <a:rPr lang="en-US" altLang="en-US" sz="4400" b="1" u="sng" dirty="0">
                <a:solidFill>
                  <a:srgbClr val="000000"/>
                </a:solidFill>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1E87CCF-D667-5D36-0484-DE6835790545}"/>
              </a:ext>
            </a:extLst>
          </p:cNvPr>
          <p:cNvSpPr>
            <a:spLocks noGrp="1"/>
          </p:cNvSpPr>
          <p:nvPr>
            <p:ph idx="1"/>
          </p:nvPr>
        </p:nvSpPr>
        <p:spPr/>
        <p:txBody>
          <a:bodyPr/>
          <a:lstStyle/>
          <a:p>
            <a:pPr marL="0" indent="0" fontAlgn="base">
              <a:lnSpc>
                <a:spcPct val="120000"/>
              </a:lnSpc>
              <a:spcBef>
                <a:spcPct val="50000"/>
              </a:spcBef>
              <a:spcAft>
                <a:spcPct val="0"/>
              </a:spcAft>
              <a:buNone/>
              <a:defRPr/>
            </a:pPr>
            <a:r>
              <a:rPr lang="en-US" altLang="en-US" sz="2400" dirty="0">
                <a:solidFill>
                  <a:srgbClr val="000000"/>
                </a:solidFill>
                <a:latin typeface="Times New Roman" panose="02020603050405020304" pitchFamily="18" charset="0"/>
              </a:rPr>
              <a:t>The choice of data structures depends on two considerations:</a:t>
            </a:r>
          </a:p>
          <a:p>
            <a:pPr marL="0" indent="0" fontAlgn="base">
              <a:lnSpc>
                <a:spcPct val="120000"/>
              </a:lnSpc>
              <a:spcBef>
                <a:spcPct val="50000"/>
              </a:spcBef>
              <a:spcAft>
                <a:spcPct val="0"/>
              </a:spcAft>
              <a:buFontTx/>
              <a:buAutoNum type="arabicPeriod"/>
              <a:defRPr/>
            </a:pPr>
            <a:r>
              <a:rPr lang="en-US" altLang="en-US" sz="2400" dirty="0">
                <a:solidFill>
                  <a:srgbClr val="000000"/>
                </a:solidFill>
                <a:latin typeface="Times New Roman" panose="02020603050405020304" pitchFamily="18" charset="0"/>
              </a:rPr>
              <a:t>It must be rich enough in structure to mirror the actual relationships of data in the real world.</a:t>
            </a:r>
          </a:p>
          <a:p>
            <a:pPr marL="0" indent="0" fontAlgn="base">
              <a:lnSpc>
                <a:spcPct val="120000"/>
              </a:lnSpc>
              <a:spcBef>
                <a:spcPct val="50000"/>
              </a:spcBef>
              <a:spcAft>
                <a:spcPct val="0"/>
              </a:spcAft>
              <a:buFontTx/>
              <a:buAutoNum type="arabicPeriod"/>
              <a:defRPr/>
            </a:pPr>
            <a:r>
              <a:rPr lang="en-US" altLang="en-US" sz="2400" dirty="0">
                <a:solidFill>
                  <a:srgbClr val="000000"/>
                </a:solidFill>
                <a:latin typeface="Times New Roman" panose="02020603050405020304" pitchFamily="18" charset="0"/>
              </a:rPr>
              <a:t>The structure should be simple enough that one can effectively process data when necessary.</a:t>
            </a:r>
          </a:p>
          <a:p>
            <a:endParaRPr lang="en-US" dirty="0"/>
          </a:p>
        </p:txBody>
      </p:sp>
      <p:grpSp>
        <p:nvGrpSpPr>
          <p:cNvPr id="4" name="Group 5">
            <a:extLst>
              <a:ext uri="{FF2B5EF4-FFF2-40B4-BE49-F238E27FC236}">
                <a16:creationId xmlns:a16="http://schemas.microsoft.com/office/drawing/2014/main" id="{FF4D9F5B-8573-AAEF-8AB5-A72AE8D639B5}"/>
              </a:ext>
            </a:extLst>
          </p:cNvPr>
          <p:cNvGrpSpPr>
            <a:grpSpLocks/>
          </p:cNvGrpSpPr>
          <p:nvPr/>
        </p:nvGrpSpPr>
        <p:grpSpPr bwMode="auto">
          <a:xfrm>
            <a:off x="2812774" y="4200939"/>
            <a:ext cx="1210917" cy="1991899"/>
            <a:chOff x="864" y="2400"/>
            <a:chExt cx="768" cy="1536"/>
          </a:xfrm>
        </p:grpSpPr>
        <p:sp>
          <p:nvSpPr>
            <p:cNvPr id="5" name="Rectangle 6">
              <a:extLst>
                <a:ext uri="{FF2B5EF4-FFF2-40B4-BE49-F238E27FC236}">
                  <a16:creationId xmlns:a16="http://schemas.microsoft.com/office/drawing/2014/main" id="{6636A976-5F41-FE39-0C4F-63ED8EF14A3A}"/>
                </a:ext>
              </a:extLst>
            </p:cNvPr>
            <p:cNvSpPr>
              <a:spLocks noChangeArrowheads="1"/>
            </p:cNvSpPr>
            <p:nvPr/>
          </p:nvSpPr>
          <p:spPr bwMode="auto">
            <a:xfrm>
              <a:off x="864" y="2400"/>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10</a:t>
              </a:r>
            </a:p>
          </p:txBody>
        </p:sp>
        <p:sp>
          <p:nvSpPr>
            <p:cNvPr id="6" name="Rectangle 7">
              <a:extLst>
                <a:ext uri="{FF2B5EF4-FFF2-40B4-BE49-F238E27FC236}">
                  <a16:creationId xmlns:a16="http://schemas.microsoft.com/office/drawing/2014/main" id="{0938A8FA-30CF-A09D-ED24-DD78E138F2F7}"/>
                </a:ext>
              </a:extLst>
            </p:cNvPr>
            <p:cNvSpPr>
              <a:spLocks noChangeArrowheads="1"/>
            </p:cNvSpPr>
            <p:nvPr/>
          </p:nvSpPr>
          <p:spPr bwMode="auto">
            <a:xfrm>
              <a:off x="864" y="2592"/>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20</a:t>
              </a:r>
            </a:p>
          </p:txBody>
        </p:sp>
        <p:sp>
          <p:nvSpPr>
            <p:cNvPr id="7" name="Rectangle 8">
              <a:extLst>
                <a:ext uri="{FF2B5EF4-FFF2-40B4-BE49-F238E27FC236}">
                  <a16:creationId xmlns:a16="http://schemas.microsoft.com/office/drawing/2014/main" id="{6CE800A6-C8AC-B197-5F28-72C2277E5E5F}"/>
                </a:ext>
              </a:extLst>
            </p:cNvPr>
            <p:cNvSpPr>
              <a:spLocks noChangeArrowheads="1"/>
            </p:cNvSpPr>
            <p:nvPr/>
          </p:nvSpPr>
          <p:spPr bwMode="auto">
            <a:xfrm>
              <a:off x="864" y="2784"/>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latin typeface="Times New Roman" panose="02020603050405020304" pitchFamily="18" charset="0"/>
                </a:rPr>
                <a:t>30</a:t>
              </a:r>
            </a:p>
          </p:txBody>
        </p:sp>
        <p:sp>
          <p:nvSpPr>
            <p:cNvPr id="8" name="Rectangle 9">
              <a:extLst>
                <a:ext uri="{FF2B5EF4-FFF2-40B4-BE49-F238E27FC236}">
                  <a16:creationId xmlns:a16="http://schemas.microsoft.com/office/drawing/2014/main" id="{E245F30D-0798-4F4D-21F2-63C8E5578EEA}"/>
                </a:ext>
              </a:extLst>
            </p:cNvPr>
            <p:cNvSpPr>
              <a:spLocks noChangeArrowheads="1"/>
            </p:cNvSpPr>
            <p:nvPr/>
          </p:nvSpPr>
          <p:spPr bwMode="auto">
            <a:xfrm>
              <a:off x="864" y="2976"/>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40</a:t>
              </a:r>
            </a:p>
          </p:txBody>
        </p:sp>
        <p:sp>
          <p:nvSpPr>
            <p:cNvPr id="9" name="Rectangle 10">
              <a:extLst>
                <a:ext uri="{FF2B5EF4-FFF2-40B4-BE49-F238E27FC236}">
                  <a16:creationId xmlns:a16="http://schemas.microsoft.com/office/drawing/2014/main" id="{EAF83F35-E9CF-F7A7-37AA-BBF05F04FCD1}"/>
                </a:ext>
              </a:extLst>
            </p:cNvPr>
            <p:cNvSpPr>
              <a:spLocks noChangeArrowheads="1"/>
            </p:cNvSpPr>
            <p:nvPr/>
          </p:nvSpPr>
          <p:spPr bwMode="auto">
            <a:xfrm>
              <a:off x="864" y="3168"/>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50</a:t>
              </a:r>
            </a:p>
          </p:txBody>
        </p:sp>
        <p:sp>
          <p:nvSpPr>
            <p:cNvPr id="10" name="Rectangle 11">
              <a:extLst>
                <a:ext uri="{FF2B5EF4-FFF2-40B4-BE49-F238E27FC236}">
                  <a16:creationId xmlns:a16="http://schemas.microsoft.com/office/drawing/2014/main" id="{7DDF7A9F-AB25-B587-BF5E-EEE2AEA9C101}"/>
                </a:ext>
              </a:extLst>
            </p:cNvPr>
            <p:cNvSpPr>
              <a:spLocks noChangeArrowheads="1"/>
            </p:cNvSpPr>
            <p:nvPr/>
          </p:nvSpPr>
          <p:spPr bwMode="auto">
            <a:xfrm>
              <a:off x="864" y="3360"/>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60</a:t>
              </a:r>
            </a:p>
          </p:txBody>
        </p:sp>
        <p:sp>
          <p:nvSpPr>
            <p:cNvPr id="11" name="Rectangle 12">
              <a:extLst>
                <a:ext uri="{FF2B5EF4-FFF2-40B4-BE49-F238E27FC236}">
                  <a16:creationId xmlns:a16="http://schemas.microsoft.com/office/drawing/2014/main" id="{E41684B7-F109-8B5F-8356-F9F3F0382FB9}"/>
                </a:ext>
              </a:extLst>
            </p:cNvPr>
            <p:cNvSpPr>
              <a:spLocks noChangeArrowheads="1"/>
            </p:cNvSpPr>
            <p:nvPr/>
          </p:nvSpPr>
          <p:spPr bwMode="auto">
            <a:xfrm>
              <a:off x="864" y="3552"/>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70</a:t>
              </a:r>
            </a:p>
          </p:txBody>
        </p:sp>
        <p:sp>
          <p:nvSpPr>
            <p:cNvPr id="12" name="Rectangle 13">
              <a:extLst>
                <a:ext uri="{FF2B5EF4-FFF2-40B4-BE49-F238E27FC236}">
                  <a16:creationId xmlns:a16="http://schemas.microsoft.com/office/drawing/2014/main" id="{D2118202-9998-C23F-CC1E-10EA2E289E02}"/>
                </a:ext>
              </a:extLst>
            </p:cNvPr>
            <p:cNvSpPr>
              <a:spLocks noChangeArrowheads="1"/>
            </p:cNvSpPr>
            <p:nvPr/>
          </p:nvSpPr>
          <p:spPr bwMode="auto">
            <a:xfrm>
              <a:off x="864" y="3744"/>
              <a:ext cx="76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a:latin typeface="Times New Roman" panose="02020603050405020304" pitchFamily="18" charset="0"/>
                </a:rPr>
                <a:t>80</a:t>
              </a:r>
            </a:p>
          </p:txBody>
        </p:sp>
      </p:grpSp>
      <p:pic>
        <p:nvPicPr>
          <p:cNvPr id="13" name="Picture 12">
            <a:extLst>
              <a:ext uri="{FF2B5EF4-FFF2-40B4-BE49-F238E27FC236}">
                <a16:creationId xmlns:a16="http://schemas.microsoft.com/office/drawing/2014/main" id="{5CF2E4AD-DB39-586E-73A2-EE8B2DE4D1E2}"/>
              </a:ext>
            </a:extLst>
          </p:cNvPr>
          <p:cNvPicPr>
            <a:picLocks noChangeAspect="1"/>
          </p:cNvPicPr>
          <p:nvPr/>
        </p:nvPicPr>
        <p:blipFill>
          <a:blip r:embed="rId2"/>
          <a:stretch>
            <a:fillRect/>
          </a:stretch>
        </p:blipFill>
        <p:spPr>
          <a:xfrm>
            <a:off x="6096000" y="4567238"/>
            <a:ext cx="2476500" cy="1625600"/>
          </a:xfrm>
          <a:prstGeom prst="rect">
            <a:avLst/>
          </a:prstGeom>
          <a:ln>
            <a:solidFill>
              <a:schemeClr val="accent1"/>
            </a:solidFill>
          </a:ln>
        </p:spPr>
      </p:pic>
      <p:sp>
        <p:nvSpPr>
          <p:cNvPr id="14" name="Text Box 27">
            <a:extLst>
              <a:ext uri="{FF2B5EF4-FFF2-40B4-BE49-F238E27FC236}">
                <a16:creationId xmlns:a16="http://schemas.microsoft.com/office/drawing/2014/main" id="{15C9274D-58DE-7524-2E32-8EA7A17BCAAD}"/>
              </a:ext>
            </a:extLst>
          </p:cNvPr>
          <p:cNvSpPr txBox="1">
            <a:spLocks noChangeArrowheads="1"/>
          </p:cNvSpPr>
          <p:nvPr/>
        </p:nvSpPr>
        <p:spPr bwMode="auto">
          <a:xfrm>
            <a:off x="2114978" y="6311900"/>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Times New Roman" panose="02020603050405020304" pitchFamily="18" charset="0"/>
              </a:rPr>
              <a:t>Figure 3: Array with 8 items</a:t>
            </a:r>
          </a:p>
        </p:txBody>
      </p:sp>
      <p:sp>
        <p:nvSpPr>
          <p:cNvPr id="15" name="Text Box 27">
            <a:extLst>
              <a:ext uri="{FF2B5EF4-FFF2-40B4-BE49-F238E27FC236}">
                <a16:creationId xmlns:a16="http://schemas.microsoft.com/office/drawing/2014/main" id="{1C802421-4891-039C-C763-16C199B37DDF}"/>
              </a:ext>
            </a:extLst>
          </p:cNvPr>
          <p:cNvSpPr txBox="1">
            <a:spLocks noChangeArrowheads="1"/>
          </p:cNvSpPr>
          <p:nvPr/>
        </p:nvSpPr>
        <p:spPr bwMode="auto">
          <a:xfrm>
            <a:off x="5886450" y="6298405"/>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Times New Roman" panose="02020603050405020304" pitchFamily="18" charset="0"/>
              </a:rPr>
              <a:t>Figure 4: Tree with 8 nodes</a:t>
            </a:r>
          </a:p>
        </p:txBody>
      </p:sp>
    </p:spTree>
    <p:extLst>
      <p:ext uri="{BB962C8B-B14F-4D97-AF65-F5344CB8AC3E}">
        <p14:creationId xmlns:p14="http://schemas.microsoft.com/office/powerpoint/2010/main" val="2228291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BC860C-C40F-8B3A-603E-18379C9C1454}"/>
              </a:ext>
            </a:extLst>
          </p:cNvPr>
          <p:cNvSpPr>
            <a:spLocks noGrp="1"/>
          </p:cNvSpPr>
          <p:nvPr>
            <p:ph type="title"/>
          </p:nvPr>
        </p:nvSpPr>
        <p:spPr>
          <a:xfrm>
            <a:off x="841248" y="548640"/>
            <a:ext cx="3600860" cy="5431536"/>
          </a:xfrm>
        </p:spPr>
        <p:txBody>
          <a:bodyPr>
            <a:normAutofit/>
          </a:bodyPr>
          <a:lstStyle/>
          <a:p>
            <a:r>
              <a:rPr lang="en-US" altLang="en-US" sz="5400" b="1" u="sng" dirty="0">
                <a:latin typeface="Times New Roman" panose="02020603050405020304" pitchFamily="18" charset="0"/>
              </a:rPr>
              <a:t>Data Structure Operations</a:t>
            </a:r>
            <a:br>
              <a:rPr lang="en-US" altLang="en-US" sz="5400" b="1" u="sng" dirty="0">
                <a:latin typeface="Times New Roman" panose="02020603050405020304" pitchFamily="18" charset="0"/>
              </a:rPr>
            </a:br>
            <a:endParaRPr lang="en-US" sz="5400" dirty="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59FB81-81FE-E4BC-5C8D-27707CBABED6}"/>
              </a:ext>
            </a:extLst>
          </p:cNvPr>
          <p:cNvSpPr>
            <a:spLocks noGrp="1"/>
          </p:cNvSpPr>
          <p:nvPr>
            <p:ph idx="1"/>
          </p:nvPr>
        </p:nvSpPr>
        <p:spPr>
          <a:xfrm>
            <a:off x="4989444" y="188842"/>
            <a:ext cx="6794918" cy="6211957"/>
          </a:xfrm>
        </p:spPr>
        <p:txBody>
          <a:bodyPr anchor="ctr">
            <a:normAutofit/>
          </a:bodyPr>
          <a:lstStyle/>
          <a:p>
            <a:pPr>
              <a:buFontTx/>
              <a:buAutoNum type="arabicPeriod"/>
            </a:pPr>
            <a:r>
              <a:rPr lang="en-US" altLang="en-US" sz="2400" b="1" dirty="0">
                <a:latin typeface="Times New Roman" panose="02020603050405020304" pitchFamily="18" charset="0"/>
              </a:rPr>
              <a:t>Traversing:</a:t>
            </a:r>
            <a:r>
              <a:rPr lang="en-US" altLang="en-US" sz="2400" dirty="0">
                <a:latin typeface="Times New Roman" panose="02020603050405020304" pitchFamily="18" charset="0"/>
              </a:rPr>
              <a:t> Accessing each record exactly once so that certain items in the record may be processed.</a:t>
            </a:r>
          </a:p>
          <a:p>
            <a:pPr marL="0" indent="0">
              <a:buNone/>
            </a:pPr>
            <a:r>
              <a:rPr lang="en-US" altLang="en-US" sz="2400" b="1" dirty="0">
                <a:latin typeface="Times New Roman" panose="02020603050405020304" pitchFamily="18" charset="0"/>
              </a:rPr>
              <a:t>2.  Searching:</a:t>
            </a:r>
            <a:r>
              <a:rPr lang="en-US" altLang="en-US" sz="2400" dirty="0">
                <a:latin typeface="Times New Roman" panose="02020603050405020304" pitchFamily="18" charset="0"/>
              </a:rPr>
              <a:t> Finding the location of the record with a given key value.</a:t>
            </a:r>
          </a:p>
          <a:p>
            <a:pPr marL="0" indent="0">
              <a:buNone/>
            </a:pPr>
            <a:r>
              <a:rPr lang="en-US" altLang="en-US" sz="2400" b="1" dirty="0">
                <a:latin typeface="Times New Roman" panose="02020603050405020304" pitchFamily="18" charset="0"/>
              </a:rPr>
              <a:t>3.  Inserting:</a:t>
            </a:r>
            <a:r>
              <a:rPr lang="en-US" altLang="en-US" sz="2400" dirty="0">
                <a:latin typeface="Times New Roman" panose="02020603050405020304" pitchFamily="18" charset="0"/>
              </a:rPr>
              <a:t> Adding a new record to the structure.</a:t>
            </a:r>
          </a:p>
          <a:p>
            <a:pPr marL="0" indent="0">
              <a:buNone/>
            </a:pPr>
            <a:r>
              <a:rPr lang="en-US" altLang="en-US" sz="2400" b="1" dirty="0">
                <a:latin typeface="Times New Roman" panose="02020603050405020304" pitchFamily="18" charset="0"/>
              </a:rPr>
              <a:t>4.  Deleting:</a:t>
            </a:r>
            <a:r>
              <a:rPr lang="en-US" altLang="en-US" sz="2400" dirty="0">
                <a:latin typeface="Times New Roman" panose="02020603050405020304" pitchFamily="18" charset="0"/>
              </a:rPr>
              <a:t>  Removing a record from the structure.</a:t>
            </a:r>
          </a:p>
          <a:p>
            <a:pPr marL="0" indent="0">
              <a:buNone/>
            </a:pPr>
            <a:r>
              <a:rPr lang="en-US" altLang="en-US" sz="2400" b="1" dirty="0">
                <a:latin typeface="Times New Roman" panose="02020603050405020304" pitchFamily="18" charset="0"/>
              </a:rPr>
              <a:t>5.  Sorting:</a:t>
            </a:r>
            <a:r>
              <a:rPr lang="en-US" altLang="en-US" sz="2400" dirty="0">
                <a:latin typeface="Times New Roman" panose="02020603050405020304" pitchFamily="18" charset="0"/>
              </a:rPr>
              <a:t>   Arranging the records in some logical order.</a:t>
            </a:r>
          </a:p>
          <a:p>
            <a:pPr marL="0" indent="0">
              <a:buNone/>
            </a:pPr>
            <a:r>
              <a:rPr lang="en-US" altLang="en-US" sz="2400" b="1" dirty="0">
                <a:latin typeface="Times New Roman" panose="02020603050405020304" pitchFamily="18" charset="0"/>
              </a:rPr>
              <a:t>6.  Merging:</a:t>
            </a:r>
            <a:r>
              <a:rPr lang="en-US" altLang="en-US" sz="2400" dirty="0">
                <a:latin typeface="Times New Roman" panose="02020603050405020304" pitchFamily="18" charset="0"/>
              </a:rPr>
              <a:t> Combing the records in two different sorted files into a single sorted file.</a:t>
            </a:r>
          </a:p>
          <a:p>
            <a:pPr>
              <a:spcBef>
                <a:spcPct val="50000"/>
              </a:spcBef>
            </a:pPr>
            <a:endParaRPr lang="en-US" altLang="en-US" sz="2200" dirty="0">
              <a:latin typeface="Times New Roman" panose="02020603050405020304" pitchFamily="18" charset="0"/>
            </a:endParaRPr>
          </a:p>
          <a:p>
            <a:endParaRPr lang="en-US" sz="2200" dirty="0"/>
          </a:p>
        </p:txBody>
      </p:sp>
    </p:spTree>
    <p:extLst>
      <p:ext uri="{BB962C8B-B14F-4D97-AF65-F5344CB8AC3E}">
        <p14:creationId xmlns:p14="http://schemas.microsoft.com/office/powerpoint/2010/main" val="3182302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520D5E9-1DE1-A156-4ACF-973FC65BCD66}"/>
              </a:ext>
            </a:extLst>
          </p:cNvPr>
          <p:cNvSpPr>
            <a:spLocks noGrp="1" noChangeArrowheads="1"/>
          </p:cNvSpPr>
          <p:nvPr>
            <p:ph type="title"/>
          </p:nvPr>
        </p:nvSpPr>
        <p:spPr/>
        <p:txBody>
          <a:bodyPr/>
          <a:lstStyle/>
          <a:p>
            <a:r>
              <a:rPr lang="en-US" altLang="en-US"/>
              <a:t>Why so many data structures?</a:t>
            </a:r>
          </a:p>
        </p:txBody>
      </p:sp>
      <p:sp>
        <p:nvSpPr>
          <p:cNvPr id="28675" name="Rectangle 3">
            <a:extLst>
              <a:ext uri="{FF2B5EF4-FFF2-40B4-BE49-F238E27FC236}">
                <a16:creationId xmlns:a16="http://schemas.microsoft.com/office/drawing/2014/main" id="{ECA4690C-68B1-42A4-7A04-A382B12741C0}"/>
              </a:ext>
            </a:extLst>
          </p:cNvPr>
          <p:cNvSpPr>
            <a:spLocks noGrp="1" noChangeArrowheads="1"/>
          </p:cNvSpPr>
          <p:nvPr>
            <p:ph type="body" sz="half" idx="1"/>
          </p:nvPr>
        </p:nvSpPr>
        <p:spPr/>
        <p:txBody>
          <a:bodyPr>
            <a:normAutofit/>
          </a:bodyPr>
          <a:lstStyle/>
          <a:p>
            <a:pPr>
              <a:lnSpc>
                <a:spcPct val="90000"/>
              </a:lnSpc>
              <a:buFontTx/>
              <a:buNone/>
            </a:pPr>
            <a:r>
              <a:rPr lang="en-US" altLang="en-US" sz="2400" dirty="0"/>
              <a:t>Ideal data structure:</a:t>
            </a:r>
          </a:p>
          <a:p>
            <a:pPr>
              <a:lnSpc>
                <a:spcPct val="90000"/>
              </a:lnSpc>
              <a:buFontTx/>
              <a:buNone/>
            </a:pPr>
            <a:r>
              <a:rPr lang="en-US" altLang="en-US" sz="2400" dirty="0"/>
              <a:t>	fast, elegant, memory efficient</a:t>
            </a:r>
          </a:p>
          <a:p>
            <a:pPr>
              <a:lnSpc>
                <a:spcPct val="90000"/>
              </a:lnSpc>
              <a:buFontTx/>
              <a:buNone/>
            </a:pPr>
            <a:endParaRPr lang="en-US" altLang="en-US" sz="2400" dirty="0"/>
          </a:p>
          <a:p>
            <a:pPr>
              <a:lnSpc>
                <a:spcPct val="90000"/>
              </a:lnSpc>
              <a:buFontTx/>
              <a:buNone/>
            </a:pPr>
            <a:r>
              <a:rPr lang="en-US" altLang="en-US" sz="2400" dirty="0"/>
              <a:t>Generates tensions:</a:t>
            </a:r>
          </a:p>
          <a:p>
            <a:pPr lvl="1">
              <a:lnSpc>
                <a:spcPct val="90000"/>
              </a:lnSpc>
            </a:pPr>
            <a:r>
              <a:rPr lang="en-US" altLang="en-US" dirty="0"/>
              <a:t>time </a:t>
            </a:r>
            <a:r>
              <a:rPr lang="en-US" altLang="en-US" i="1" dirty="0"/>
              <a:t>vs.</a:t>
            </a:r>
            <a:r>
              <a:rPr lang="en-US" altLang="en-US" dirty="0"/>
              <a:t> space</a:t>
            </a:r>
          </a:p>
          <a:p>
            <a:pPr lvl="1">
              <a:lnSpc>
                <a:spcPct val="90000"/>
              </a:lnSpc>
            </a:pPr>
            <a:r>
              <a:rPr lang="en-US" altLang="en-US" dirty="0"/>
              <a:t>performance </a:t>
            </a:r>
            <a:r>
              <a:rPr lang="en-US" altLang="en-US" i="1" dirty="0"/>
              <a:t>vs.</a:t>
            </a:r>
            <a:r>
              <a:rPr lang="en-US" altLang="en-US" dirty="0"/>
              <a:t> elegance</a:t>
            </a:r>
          </a:p>
          <a:p>
            <a:pPr lvl="1">
              <a:lnSpc>
                <a:spcPct val="90000"/>
              </a:lnSpc>
            </a:pPr>
            <a:r>
              <a:rPr lang="en-US" altLang="en-US" dirty="0"/>
              <a:t>generality </a:t>
            </a:r>
            <a:r>
              <a:rPr lang="en-US" altLang="en-US" i="1" dirty="0"/>
              <a:t>vs. </a:t>
            </a:r>
            <a:r>
              <a:rPr lang="en-US" altLang="en-US" dirty="0"/>
              <a:t>simplicity</a:t>
            </a:r>
          </a:p>
          <a:p>
            <a:pPr lvl="1">
              <a:lnSpc>
                <a:spcPct val="90000"/>
              </a:lnSpc>
            </a:pPr>
            <a:r>
              <a:rPr lang="en-US" altLang="en-US" dirty="0"/>
              <a:t>one operation’s performance </a:t>
            </a:r>
            <a:r>
              <a:rPr lang="en-US" altLang="en-US" i="1" dirty="0"/>
              <a:t>vs.</a:t>
            </a:r>
            <a:r>
              <a:rPr lang="en-US" altLang="en-US" dirty="0"/>
              <a:t> another’s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5F6125-0C08-1A81-5D61-0E1ABC2B2C52}"/>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b="1" kern="1200" dirty="0">
                <a:solidFill>
                  <a:schemeClr val="tx1"/>
                </a:solidFill>
                <a:latin typeface="+mj-lt"/>
                <a:ea typeface="+mj-ea"/>
                <a:cs typeface="+mj-cs"/>
              </a:rPr>
              <a:t>Array</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6752D8F-2B68-E348-6BED-DB8E38A89AA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654296" y="630936"/>
            <a:ext cx="4802002" cy="316581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0FCAC7C2-2DFE-9C3D-9AF3-6054598D873A}"/>
              </a:ext>
            </a:extLst>
          </p:cNvPr>
          <p:cNvSpPr>
            <a:spLocks noGrp="1"/>
          </p:cNvSpPr>
          <p:nvPr>
            <p:ph sz="half" idx="1"/>
          </p:nvPr>
        </p:nvSpPr>
        <p:spPr>
          <a:xfrm>
            <a:off x="4538472" y="4194313"/>
            <a:ext cx="7010400" cy="2032751"/>
          </a:xfrm>
        </p:spPr>
        <p:txBody>
          <a:bodyPr vert="horz" lIns="91440" tIns="45720" rIns="91440" bIns="45720" rtlCol="0" anchor="t">
            <a:normAutofit fontScale="47500" lnSpcReduction="20000"/>
          </a:bodyPr>
          <a:lstStyle/>
          <a:p>
            <a:pPr>
              <a:spcBef>
                <a:spcPct val="75000"/>
              </a:spcBef>
            </a:pPr>
            <a:r>
              <a:rPr lang="en-US" altLang="en-US" sz="4400" dirty="0"/>
              <a:t>An array is an indexed set of variables, such as  dancer</a:t>
            </a:r>
            <a:r>
              <a:rPr lang="en-US" altLang="en-US" sz="4400" baseline="-25000" dirty="0"/>
              <a:t>[1]</a:t>
            </a:r>
            <a:r>
              <a:rPr lang="en-US" altLang="en-US" sz="4400" dirty="0"/>
              <a:t>, dancer</a:t>
            </a:r>
            <a:r>
              <a:rPr lang="en-US" altLang="en-US" sz="4400" baseline="-25000" dirty="0"/>
              <a:t>[2]</a:t>
            </a:r>
            <a:r>
              <a:rPr lang="en-US" altLang="en-US" sz="4400" dirty="0"/>
              <a:t>, dancer</a:t>
            </a:r>
            <a:r>
              <a:rPr lang="en-US" altLang="en-US" sz="4400" baseline="-25000" dirty="0"/>
              <a:t>[3]</a:t>
            </a:r>
            <a:r>
              <a:rPr lang="en-US" altLang="en-US" sz="4400" dirty="0"/>
              <a:t>,… It is like a set of boxes that hold things. </a:t>
            </a:r>
          </a:p>
          <a:p>
            <a:pPr>
              <a:spcBef>
                <a:spcPct val="75000"/>
              </a:spcBef>
            </a:pPr>
            <a:r>
              <a:rPr lang="en-US" altLang="en-US" sz="4400" dirty="0"/>
              <a:t>A list is a set of items.</a:t>
            </a:r>
          </a:p>
          <a:p>
            <a:pPr>
              <a:spcBef>
                <a:spcPct val="75000"/>
              </a:spcBef>
            </a:pPr>
            <a:r>
              <a:rPr lang="en-US" altLang="en-US" sz="4400" dirty="0"/>
              <a:t>An array is a set of</a:t>
            </a:r>
            <a:br>
              <a:rPr lang="en-US" altLang="en-US" sz="4400" dirty="0"/>
            </a:br>
            <a:r>
              <a:rPr lang="en-US" altLang="en-US" sz="4400" dirty="0"/>
              <a:t>variables that each </a:t>
            </a:r>
            <a:br>
              <a:rPr lang="en-US" altLang="en-US" sz="4400" dirty="0"/>
            </a:br>
            <a:r>
              <a:rPr lang="en-US" altLang="en-US" sz="4400" dirty="0"/>
              <a:t>store an item.</a:t>
            </a:r>
          </a:p>
          <a:p>
            <a:endParaRPr lang="en-US" sz="1200" dirty="0"/>
          </a:p>
        </p:txBody>
      </p:sp>
    </p:spTree>
    <p:extLst>
      <p:ext uri="{BB962C8B-B14F-4D97-AF65-F5344CB8AC3E}">
        <p14:creationId xmlns:p14="http://schemas.microsoft.com/office/powerpoint/2010/main" val="184262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0DEC33-C200-C16E-6E4C-BB954E90BF68}"/>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b="1" kern="1200">
                <a:solidFill>
                  <a:schemeClr val="tx1"/>
                </a:solidFill>
                <a:latin typeface="+mj-lt"/>
                <a:ea typeface="+mj-ea"/>
                <a:cs typeface="+mj-cs"/>
              </a:rPr>
              <a:t>Lists</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235C63A-DD9F-7304-9260-9CEF8542598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654296" y="630936"/>
            <a:ext cx="4802002" cy="349380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4D3F4840-DE23-C9BF-9C02-6F8121CC6647}"/>
              </a:ext>
            </a:extLst>
          </p:cNvPr>
          <p:cNvSpPr>
            <a:spLocks noGrp="1"/>
          </p:cNvSpPr>
          <p:nvPr>
            <p:ph sz="half" idx="1"/>
          </p:nvPr>
        </p:nvSpPr>
        <p:spPr>
          <a:xfrm>
            <a:off x="4654296" y="4263887"/>
            <a:ext cx="6894576" cy="1963178"/>
          </a:xfrm>
        </p:spPr>
        <p:txBody>
          <a:bodyPr vert="horz" lIns="91440" tIns="45720" rIns="91440" bIns="45720" rtlCol="0" anchor="t">
            <a:normAutofit/>
          </a:bodyPr>
          <a:lstStyle/>
          <a:p>
            <a:pPr>
              <a:spcBef>
                <a:spcPct val="75000"/>
              </a:spcBef>
            </a:pPr>
            <a:r>
              <a:rPr lang="en-US" altLang="en-US" sz="2400" dirty="0"/>
              <a:t>A list is an ordered set of data. It is often used to store objects that are to be processed sequentially. </a:t>
            </a:r>
          </a:p>
          <a:p>
            <a:pPr>
              <a:spcBef>
                <a:spcPct val="75000"/>
              </a:spcBef>
            </a:pPr>
            <a:r>
              <a:rPr lang="en-US" altLang="en-US" sz="2400" dirty="0"/>
              <a:t>A list can be used</a:t>
            </a:r>
            <a:br>
              <a:rPr lang="en-US" altLang="en-US" sz="2400" dirty="0"/>
            </a:br>
            <a:r>
              <a:rPr lang="en-US" altLang="en-US" sz="2400" dirty="0"/>
              <a:t> to create a queue.</a:t>
            </a:r>
          </a:p>
        </p:txBody>
      </p:sp>
    </p:spTree>
    <p:extLst>
      <p:ext uri="{BB962C8B-B14F-4D97-AF65-F5344CB8AC3E}">
        <p14:creationId xmlns:p14="http://schemas.microsoft.com/office/powerpoint/2010/main" val="2911846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9B8F35-D145-55A5-6AD2-979321EC450E}"/>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b="1" kern="1200">
                <a:solidFill>
                  <a:schemeClr val="tx1"/>
                </a:solidFill>
                <a:latin typeface="+mj-lt"/>
                <a:ea typeface="+mj-ea"/>
                <a:cs typeface="+mj-cs"/>
              </a:rPr>
              <a:t>Array and Lists</a:t>
            </a: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4">
            <a:extLst>
              <a:ext uri="{FF2B5EF4-FFF2-40B4-BE49-F238E27FC236}">
                <a16:creationId xmlns:a16="http://schemas.microsoft.com/office/drawing/2014/main" id="{CA7B6B35-AF71-B905-CA07-159853A0D36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654296" y="941672"/>
            <a:ext cx="6894576" cy="329215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BF3BE47C-CF7D-D574-9A78-0C42ED851E1A}"/>
              </a:ext>
            </a:extLst>
          </p:cNvPr>
          <p:cNvSpPr>
            <a:spLocks noGrp="1"/>
          </p:cNvSpPr>
          <p:nvPr>
            <p:ph sz="half" idx="1"/>
          </p:nvPr>
        </p:nvSpPr>
        <p:spPr>
          <a:xfrm>
            <a:off x="4654296" y="4798577"/>
            <a:ext cx="6894576" cy="1428487"/>
          </a:xfrm>
        </p:spPr>
        <p:txBody>
          <a:bodyPr vert="horz" lIns="91440" tIns="45720" rIns="91440" bIns="45720" rtlCol="0" anchor="t">
            <a:normAutofit/>
          </a:bodyPr>
          <a:lstStyle/>
          <a:p>
            <a:r>
              <a:rPr lang="en-US" altLang="en-US" sz="2400" dirty="0"/>
              <a:t>You can see the difference between arrays and lists when you delete items.</a:t>
            </a:r>
          </a:p>
          <a:p>
            <a:endParaRPr lang="en-US" sz="2200" dirty="0"/>
          </a:p>
        </p:txBody>
      </p:sp>
    </p:spTree>
    <p:extLst>
      <p:ext uri="{BB962C8B-B14F-4D97-AF65-F5344CB8AC3E}">
        <p14:creationId xmlns:p14="http://schemas.microsoft.com/office/powerpoint/2010/main" val="3939070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0B020-BDCC-3CA0-50F7-73E2837C5624}"/>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b="1" kern="1200" dirty="0">
                <a:solidFill>
                  <a:schemeClr val="tx1"/>
                </a:solidFill>
                <a:latin typeface="+mj-lt"/>
                <a:ea typeface="+mj-ea"/>
                <a:cs typeface="+mj-cs"/>
              </a:rPr>
              <a:t>Array and Lists</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BC53F44-4464-3595-DD40-D41E08CD735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654296" y="941672"/>
            <a:ext cx="6894576" cy="329215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FEEDA788-2A5B-C04C-CDE6-DB0AD3B53EF4}"/>
              </a:ext>
            </a:extLst>
          </p:cNvPr>
          <p:cNvSpPr>
            <a:spLocks noGrp="1"/>
          </p:cNvSpPr>
          <p:nvPr>
            <p:ph sz="half" idx="1"/>
          </p:nvPr>
        </p:nvSpPr>
        <p:spPr>
          <a:xfrm>
            <a:off x="4654296" y="4798577"/>
            <a:ext cx="6894576" cy="1428487"/>
          </a:xfrm>
        </p:spPr>
        <p:txBody>
          <a:bodyPr vert="horz" lIns="91440" tIns="45720" rIns="91440" bIns="45720" rtlCol="0" anchor="t">
            <a:normAutofit/>
          </a:bodyPr>
          <a:lstStyle/>
          <a:p>
            <a:r>
              <a:rPr lang="en-US" altLang="en-US" sz="2400" dirty="0"/>
              <a:t>In an array, an empty variable is left behind when something is deleted.</a:t>
            </a:r>
          </a:p>
          <a:p>
            <a:endParaRPr lang="en-US" sz="2200" dirty="0"/>
          </a:p>
        </p:txBody>
      </p:sp>
    </p:spTree>
    <p:extLst>
      <p:ext uri="{BB962C8B-B14F-4D97-AF65-F5344CB8AC3E}">
        <p14:creationId xmlns:p14="http://schemas.microsoft.com/office/powerpoint/2010/main" val="3762771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Rectangle 1039">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EAC41AA-5146-ACB2-A22C-8901D7EF5F28}"/>
              </a:ext>
            </a:extLst>
          </p:cNvPr>
          <p:cNvSpPr>
            <a:spLocks noGrp="1"/>
          </p:cNvSpPr>
          <p:nvPr>
            <p:ph type="title"/>
          </p:nvPr>
        </p:nvSpPr>
        <p:spPr>
          <a:xfrm>
            <a:off x="1046746" y="586822"/>
            <a:ext cx="3560252" cy="1645920"/>
          </a:xfrm>
        </p:spPr>
        <p:txBody>
          <a:bodyPr vert="horz" lIns="91440" tIns="45720" rIns="91440" bIns="45720" rtlCol="0" anchor="ctr">
            <a:normAutofit/>
          </a:bodyPr>
          <a:lstStyle/>
          <a:p>
            <a:r>
              <a:rPr lang="en-US" sz="3200" kern="1200" dirty="0">
                <a:solidFill>
                  <a:schemeClr val="tx1"/>
                </a:solidFill>
                <a:latin typeface="+mj-lt"/>
                <a:ea typeface="+mj-ea"/>
                <a:cs typeface="+mj-cs"/>
              </a:rPr>
              <a:t>Stack</a:t>
            </a:r>
          </a:p>
        </p:txBody>
      </p:sp>
      <p:sp>
        <p:nvSpPr>
          <p:cNvPr id="1042" name="Rectangle 1041">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044" name="Rectangle 1043">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EB340FC-A0A6-6447-8484-3B20A8838B50}"/>
              </a:ext>
            </a:extLst>
          </p:cNvPr>
          <p:cNvSpPr>
            <a:spLocks noGrp="1"/>
          </p:cNvSpPr>
          <p:nvPr>
            <p:ph sz="half" idx="1"/>
          </p:nvPr>
        </p:nvSpPr>
        <p:spPr>
          <a:xfrm>
            <a:off x="5197990" y="365125"/>
            <a:ext cx="6155810" cy="1867617"/>
          </a:xfrm>
        </p:spPr>
        <p:txBody>
          <a:bodyPr vert="horz" lIns="91440" tIns="45720" rIns="91440" bIns="45720" rtlCol="0" anchor="ctr">
            <a:normAutofit fontScale="92500" lnSpcReduction="20000"/>
          </a:bodyPr>
          <a:lstStyle/>
          <a:p>
            <a:endParaRPr lang="en-US" sz="2400" dirty="0"/>
          </a:p>
          <a:p>
            <a:endParaRPr lang="en-US" sz="2400" dirty="0"/>
          </a:p>
          <a:p>
            <a:r>
              <a:rPr lang="en-US" sz="2400" dirty="0"/>
              <a:t>LIFO (Last in First Out)</a:t>
            </a:r>
          </a:p>
          <a:p>
            <a:r>
              <a:rPr lang="en-US" sz="2400" b="0" i="0" dirty="0">
                <a:effectLst/>
              </a:rPr>
              <a:t>Converting infix to postfix expressions.</a:t>
            </a:r>
          </a:p>
          <a:p>
            <a:r>
              <a:rPr lang="en-US" sz="2400" b="0" i="0" dirty="0">
                <a:effectLst/>
              </a:rPr>
              <a:t>Undo/Redo button/operation in word processors.</a:t>
            </a:r>
          </a:p>
          <a:p>
            <a:endParaRPr lang="en-US" sz="1800" dirty="0"/>
          </a:p>
          <a:p>
            <a:endParaRPr lang="en-US" sz="1800" dirty="0"/>
          </a:p>
        </p:txBody>
      </p:sp>
      <p:pic>
        <p:nvPicPr>
          <p:cNvPr id="1026" name="Picture 2" descr="Applications of Stack in Data Structure">
            <a:extLst>
              <a:ext uri="{FF2B5EF4-FFF2-40B4-BE49-F238E27FC236}">
                <a16:creationId xmlns:a16="http://schemas.microsoft.com/office/drawing/2014/main" id="{6AC962D1-B267-C717-E29E-C6F1FB13A6B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557784" y="2801264"/>
            <a:ext cx="11164824" cy="334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791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6" name="Rectangle 2075">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209C6F-010F-4269-D718-F21BF017A7B3}"/>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kern="1200">
                <a:solidFill>
                  <a:schemeClr val="tx1"/>
                </a:solidFill>
                <a:latin typeface="+mj-lt"/>
                <a:ea typeface="+mj-ea"/>
                <a:cs typeface="+mj-cs"/>
              </a:rPr>
              <a:t>Queue</a:t>
            </a:r>
          </a:p>
        </p:txBody>
      </p:sp>
      <p:sp>
        <p:nvSpPr>
          <p:cNvPr id="207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C72FE0-8C9F-6EDE-64C6-6364BF676AAF}"/>
              </a:ext>
            </a:extLst>
          </p:cNvPr>
          <p:cNvSpPr>
            <a:spLocks noGrp="1"/>
          </p:cNvSpPr>
          <p:nvPr>
            <p:ph sz="half" idx="1"/>
          </p:nvPr>
        </p:nvSpPr>
        <p:spPr>
          <a:xfrm>
            <a:off x="4352543" y="172277"/>
            <a:ext cx="7196328" cy="2034209"/>
          </a:xfrm>
        </p:spPr>
        <p:txBody>
          <a:bodyPr vert="horz" lIns="91440" tIns="45720" rIns="91440" bIns="45720" rtlCol="0" anchor="ctr">
            <a:normAutofit/>
          </a:bodyPr>
          <a:lstStyle/>
          <a:p>
            <a:r>
              <a:rPr lang="en-US" sz="2400" dirty="0"/>
              <a:t>FIFO (First in First Out)</a:t>
            </a:r>
          </a:p>
          <a:p>
            <a:r>
              <a:rPr lang="en-US" sz="2400" dirty="0"/>
              <a:t>F</a:t>
            </a:r>
            <a:r>
              <a:rPr lang="en-US" sz="2400" b="0" i="0" dirty="0">
                <a:effectLst/>
              </a:rPr>
              <a:t>ast and optimized. </a:t>
            </a:r>
          </a:p>
          <a:p>
            <a:r>
              <a:rPr lang="en-US" sz="2400" dirty="0"/>
              <a:t>Operating systems, network protocols, and data processing systems.</a:t>
            </a:r>
          </a:p>
          <a:p>
            <a:endParaRPr lang="en-US" sz="2000" dirty="0"/>
          </a:p>
        </p:txBody>
      </p:sp>
      <p:pic>
        <p:nvPicPr>
          <p:cNvPr id="2050" name="Picture 2" descr="real life example of queue data structure">
            <a:extLst>
              <a:ext uri="{FF2B5EF4-FFF2-40B4-BE49-F238E27FC236}">
                <a16:creationId xmlns:a16="http://schemas.microsoft.com/office/drawing/2014/main" id="{84A78D32-3417-4103-2444-A7FB166AA4A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1376390" y="2290936"/>
            <a:ext cx="9427028" cy="3959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077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1640C8-32FC-8E23-CFC7-C6ACFE0B4582}"/>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Tree</a:t>
            </a:r>
          </a:p>
        </p:txBody>
      </p:sp>
      <p:sp>
        <p:nvSpPr>
          <p:cNvPr id="308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618D23-3E21-0B12-695B-CBC24EE7F483}"/>
              </a:ext>
            </a:extLst>
          </p:cNvPr>
          <p:cNvSpPr>
            <a:spLocks noGrp="1"/>
          </p:cNvSpPr>
          <p:nvPr>
            <p:ph sz="half" idx="1"/>
          </p:nvPr>
        </p:nvSpPr>
        <p:spPr>
          <a:xfrm>
            <a:off x="630936" y="2807208"/>
            <a:ext cx="4057876" cy="4050792"/>
          </a:xfrm>
        </p:spPr>
        <p:txBody>
          <a:bodyPr vert="horz" lIns="91440" tIns="45720" rIns="91440" bIns="45720" rtlCol="0" anchor="t">
            <a:noAutofit/>
          </a:bodyPr>
          <a:lstStyle/>
          <a:p>
            <a:r>
              <a:rPr lang="en-US" sz="2400" b="0" i="0" dirty="0">
                <a:solidFill>
                  <a:srgbClr val="4D5156"/>
                </a:solidFill>
                <a:effectLst/>
                <a:latin typeface="Google Sans"/>
              </a:rPr>
              <a:t>The tree is </a:t>
            </a:r>
            <a:r>
              <a:rPr lang="en-US" sz="2400" b="0" i="0" dirty="0">
                <a:solidFill>
                  <a:srgbClr val="040C28"/>
                </a:solidFill>
                <a:effectLst/>
                <a:latin typeface="Google Sans"/>
              </a:rPr>
              <a:t>a nonlinear hierarchical data structure and comprises a collection of entities known as nodes</a:t>
            </a:r>
            <a:r>
              <a:rPr lang="en-US" sz="2400" b="0" i="0" dirty="0">
                <a:solidFill>
                  <a:srgbClr val="4D5156"/>
                </a:solidFill>
                <a:effectLst/>
                <a:latin typeface="Google Sans"/>
              </a:rPr>
              <a:t>. </a:t>
            </a:r>
          </a:p>
          <a:p>
            <a:r>
              <a:rPr lang="en-US" sz="2400" b="0" i="0" dirty="0">
                <a:solidFill>
                  <a:srgbClr val="202124"/>
                </a:solidFill>
                <a:effectLst/>
                <a:latin typeface="Google Sans"/>
              </a:rPr>
              <a:t>In a file system, directories, or folders, are structured as a tree.</a:t>
            </a:r>
          </a:p>
          <a:p>
            <a:r>
              <a:rPr lang="en-US" sz="2400" dirty="0">
                <a:solidFill>
                  <a:srgbClr val="040C28"/>
                </a:solidFill>
                <a:latin typeface="Google Sans"/>
              </a:rPr>
              <a:t>E</a:t>
            </a:r>
            <a:r>
              <a:rPr lang="en-US" sz="2400" b="0" i="0" dirty="0">
                <a:solidFill>
                  <a:srgbClr val="040C28"/>
                </a:solidFill>
                <a:effectLst/>
                <a:latin typeface="Google Sans"/>
              </a:rPr>
              <a:t>asy to understand and visualize the data</a:t>
            </a:r>
            <a:endParaRPr lang="en-US" sz="2400" dirty="0"/>
          </a:p>
        </p:txBody>
      </p:sp>
      <p:pic>
        <p:nvPicPr>
          <p:cNvPr id="3074" name="Picture 2" descr="What is Tree in Data Structure">
            <a:extLst>
              <a:ext uri="{FF2B5EF4-FFF2-40B4-BE49-F238E27FC236}">
                <a16:creationId xmlns:a16="http://schemas.microsoft.com/office/drawing/2014/main" id="{65FF96E9-8D60-4F7F-DCB4-A5C570BEEF02}"/>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1" r="69" b="7701"/>
          <a:stretch/>
        </p:blipFill>
        <p:spPr bwMode="auto">
          <a:xfrm>
            <a:off x="6077217" y="640080"/>
            <a:ext cx="4057877" cy="5151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357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524D-2348-F408-8352-425AB1C2FDCA}"/>
              </a:ext>
            </a:extLst>
          </p:cNvPr>
          <p:cNvSpPr>
            <a:spLocks noGrp="1"/>
          </p:cNvSpPr>
          <p:nvPr>
            <p:ph type="title"/>
          </p:nvPr>
        </p:nvSpPr>
        <p:spPr>
          <a:xfrm>
            <a:off x="691055" y="114354"/>
            <a:ext cx="10515600" cy="1325563"/>
          </a:xfrm>
        </p:spPr>
        <p:txBody>
          <a:bodyPr/>
          <a:lstStyle/>
          <a:p>
            <a:r>
              <a:rPr lang="en-US" dirty="0"/>
              <a:t>Algorithm</a:t>
            </a:r>
          </a:p>
        </p:txBody>
      </p:sp>
      <p:sp>
        <p:nvSpPr>
          <p:cNvPr id="3" name="Content Placeholder 2">
            <a:extLst>
              <a:ext uri="{FF2B5EF4-FFF2-40B4-BE49-F238E27FC236}">
                <a16:creationId xmlns:a16="http://schemas.microsoft.com/office/drawing/2014/main" id="{13480E3D-72F3-7531-CFB8-E3DFBC3965CF}"/>
              </a:ext>
            </a:extLst>
          </p:cNvPr>
          <p:cNvSpPr>
            <a:spLocks noGrp="1"/>
          </p:cNvSpPr>
          <p:nvPr>
            <p:ph sz="half" idx="1"/>
          </p:nvPr>
        </p:nvSpPr>
        <p:spPr>
          <a:xfrm>
            <a:off x="515007" y="1439917"/>
            <a:ext cx="10089931" cy="5052958"/>
          </a:xfrm>
        </p:spPr>
        <p:txBody>
          <a:bodyPr>
            <a:normAutofit fontScale="25000" lnSpcReduction="20000"/>
          </a:bodyPr>
          <a:lstStyle/>
          <a:p>
            <a:pPr marL="0" indent="0">
              <a:spcBef>
                <a:spcPct val="20000"/>
              </a:spcBef>
              <a:buNone/>
            </a:pPr>
            <a:r>
              <a:rPr lang="en-US" altLang="en-US" sz="9600" dirty="0">
                <a:latin typeface="Times New Roman" panose="02020603050405020304" pitchFamily="18" charset="0"/>
              </a:rPr>
              <a:t>   It is a well-defined set of instructions used to solve a particular         problem.</a:t>
            </a:r>
          </a:p>
          <a:p>
            <a:pPr marL="0" indent="0" algn="just">
              <a:lnSpc>
                <a:spcPct val="60000"/>
              </a:lnSpc>
              <a:spcBef>
                <a:spcPct val="20000"/>
              </a:spcBef>
              <a:buNone/>
            </a:pPr>
            <a:endParaRPr lang="en-US" altLang="en-US" sz="9600" dirty="0">
              <a:latin typeface="Times New Roman" panose="02020603050405020304" pitchFamily="18" charset="0"/>
            </a:endParaRPr>
          </a:p>
          <a:p>
            <a:pPr marL="0" indent="0" algn="just">
              <a:lnSpc>
                <a:spcPct val="30000"/>
              </a:lnSpc>
              <a:spcBef>
                <a:spcPct val="20000"/>
              </a:spcBef>
              <a:buNone/>
            </a:pPr>
            <a:r>
              <a:rPr lang="en-US" altLang="en-US" sz="9600" dirty="0">
                <a:latin typeface="Times New Roman" panose="02020603050405020304" pitchFamily="18" charset="0"/>
              </a:rPr>
              <a:t>  </a:t>
            </a:r>
            <a:r>
              <a:rPr lang="en-US" altLang="en-US" sz="9600" b="1" u="sng" dirty="0">
                <a:latin typeface="Times New Roman" panose="02020603050405020304" pitchFamily="18" charset="0"/>
              </a:rPr>
              <a:t>Example:</a:t>
            </a:r>
          </a:p>
          <a:p>
            <a:pPr algn="just">
              <a:lnSpc>
                <a:spcPct val="80000"/>
              </a:lnSpc>
              <a:spcBef>
                <a:spcPct val="20000"/>
              </a:spcBef>
            </a:pPr>
            <a:endParaRPr lang="en-US" altLang="en-US" sz="9600" b="1" u="sng" dirty="0">
              <a:latin typeface="Times New Roman" panose="02020603050405020304" pitchFamily="18" charset="0"/>
            </a:endParaRPr>
          </a:p>
          <a:p>
            <a:pPr marL="0" indent="0">
              <a:lnSpc>
                <a:spcPct val="70000"/>
              </a:lnSpc>
              <a:spcBef>
                <a:spcPct val="20000"/>
              </a:spcBef>
              <a:buNone/>
            </a:pPr>
            <a:r>
              <a:rPr lang="en-US" altLang="en-US" sz="9600" dirty="0">
                <a:latin typeface="Times New Roman" panose="02020603050405020304" pitchFamily="18" charset="0"/>
              </a:rPr>
              <a:t>   Write an algorithm for finding the location of the largest  element of an </a:t>
            </a:r>
          </a:p>
          <a:p>
            <a:pPr marL="0" indent="0">
              <a:lnSpc>
                <a:spcPct val="70000"/>
              </a:lnSpc>
              <a:spcBef>
                <a:spcPct val="20000"/>
              </a:spcBef>
              <a:buNone/>
            </a:pPr>
            <a:r>
              <a:rPr lang="en-US" altLang="en-US" sz="9600" dirty="0">
                <a:latin typeface="Times New Roman" panose="02020603050405020304" pitchFamily="18" charset="0"/>
              </a:rPr>
              <a:t>   array Data.</a:t>
            </a:r>
          </a:p>
          <a:p>
            <a:pPr marL="0" indent="0">
              <a:lnSpc>
                <a:spcPct val="70000"/>
              </a:lnSpc>
              <a:spcBef>
                <a:spcPct val="20000"/>
              </a:spcBef>
              <a:buNone/>
            </a:pPr>
            <a:endParaRPr lang="en-US" altLang="en-US" sz="9600" dirty="0">
              <a:latin typeface="Times New Roman" panose="02020603050405020304" pitchFamily="18" charset="0"/>
            </a:endParaRPr>
          </a:p>
          <a:p>
            <a:pPr marL="0" indent="0">
              <a:lnSpc>
                <a:spcPct val="70000"/>
              </a:lnSpc>
              <a:spcBef>
                <a:spcPct val="20000"/>
              </a:spcBef>
              <a:spcAft>
                <a:spcPct val="40000"/>
              </a:spcAft>
              <a:buNone/>
            </a:pPr>
            <a:r>
              <a:rPr lang="en-US" altLang="en-US" sz="9600" dirty="0">
                <a:latin typeface="Times New Roman" panose="02020603050405020304" pitchFamily="18" charset="0"/>
              </a:rPr>
              <a:t>  </a:t>
            </a:r>
            <a:r>
              <a:rPr lang="en-US" altLang="en-US" sz="9600" b="1" u="sng" dirty="0">
                <a:latin typeface="Times New Roman" panose="02020603050405020304" pitchFamily="18" charset="0"/>
              </a:rPr>
              <a:t>Largest-Item (Data, N, Loc)</a:t>
            </a:r>
          </a:p>
          <a:p>
            <a:pPr marL="0" indent="0">
              <a:lnSpc>
                <a:spcPct val="70000"/>
              </a:lnSpc>
              <a:spcBef>
                <a:spcPct val="30000"/>
              </a:spcBef>
              <a:buNone/>
            </a:pPr>
            <a:r>
              <a:rPr lang="en-US" altLang="en-US" sz="9600" dirty="0">
                <a:latin typeface="Times New Roman" panose="02020603050405020304" pitchFamily="18" charset="0"/>
              </a:rPr>
              <a:t>         1.   set k:=1, Loc:=1 and Max:=Data[1]</a:t>
            </a:r>
          </a:p>
          <a:p>
            <a:pPr marL="0" indent="0">
              <a:lnSpc>
                <a:spcPct val="140000"/>
              </a:lnSpc>
              <a:spcBef>
                <a:spcPct val="20000"/>
              </a:spcBef>
              <a:buNone/>
            </a:pPr>
            <a:r>
              <a:rPr lang="en-US" altLang="en-US" sz="9600" dirty="0">
                <a:latin typeface="Times New Roman" panose="02020603050405020304" pitchFamily="18" charset="0"/>
              </a:rPr>
              <a:t>         2.   while k&lt;=N repeat steps 3, 4</a:t>
            </a:r>
          </a:p>
          <a:p>
            <a:pPr marL="0" indent="0">
              <a:lnSpc>
                <a:spcPct val="140000"/>
              </a:lnSpc>
              <a:spcBef>
                <a:spcPct val="20000"/>
              </a:spcBef>
              <a:buNone/>
            </a:pPr>
            <a:r>
              <a:rPr lang="en-US" altLang="en-US" sz="9600" dirty="0">
                <a:latin typeface="Times New Roman" panose="02020603050405020304" pitchFamily="18" charset="0"/>
              </a:rPr>
              <a:t>         3.         If Max &lt; Data[k] then Set Loc:=k and Max:=Data[k]</a:t>
            </a:r>
          </a:p>
          <a:p>
            <a:pPr marL="0" indent="0">
              <a:lnSpc>
                <a:spcPct val="140000"/>
              </a:lnSpc>
              <a:spcBef>
                <a:spcPct val="20000"/>
              </a:spcBef>
              <a:buNone/>
            </a:pPr>
            <a:r>
              <a:rPr lang="en-US" altLang="en-US" sz="9600" dirty="0">
                <a:latin typeface="Times New Roman" panose="02020603050405020304" pitchFamily="18" charset="0"/>
              </a:rPr>
              <a:t>         4.         Set k:=k+1</a:t>
            </a:r>
          </a:p>
          <a:p>
            <a:pPr marL="0" indent="0">
              <a:lnSpc>
                <a:spcPct val="140000"/>
              </a:lnSpc>
              <a:spcBef>
                <a:spcPct val="20000"/>
              </a:spcBef>
              <a:buNone/>
            </a:pPr>
            <a:r>
              <a:rPr lang="en-US" altLang="en-US" sz="9600" dirty="0">
                <a:latin typeface="Times New Roman" panose="02020603050405020304" pitchFamily="18" charset="0"/>
              </a:rPr>
              <a:t>         5.   write: Max and Loc</a:t>
            </a:r>
          </a:p>
          <a:p>
            <a:pPr marL="0" indent="0">
              <a:lnSpc>
                <a:spcPct val="140000"/>
              </a:lnSpc>
              <a:spcBef>
                <a:spcPct val="20000"/>
              </a:spcBef>
              <a:buNone/>
            </a:pPr>
            <a:r>
              <a:rPr lang="en-US" altLang="en-US" sz="9600" dirty="0">
                <a:latin typeface="Times New Roman" panose="02020603050405020304" pitchFamily="18" charset="0"/>
              </a:rPr>
              <a:t>         6.    exit</a:t>
            </a:r>
          </a:p>
          <a:p>
            <a:pPr>
              <a:spcBef>
                <a:spcPct val="50000"/>
              </a:spcBef>
            </a:pPr>
            <a:endParaRPr lang="en-US" altLang="en-US" dirty="0">
              <a:latin typeface="Times New Roman" panose="02020603050405020304" pitchFamily="18" charset="0"/>
            </a:endParaRPr>
          </a:p>
          <a:p>
            <a:endParaRPr lang="en-US" dirty="0"/>
          </a:p>
        </p:txBody>
      </p:sp>
    </p:spTree>
    <p:extLst>
      <p:ext uri="{BB962C8B-B14F-4D97-AF65-F5344CB8AC3E}">
        <p14:creationId xmlns:p14="http://schemas.microsoft.com/office/powerpoint/2010/main" val="463467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E82C-0972-6E70-CCD3-A00589E18D04}"/>
              </a:ext>
            </a:extLst>
          </p:cNvPr>
          <p:cNvSpPr>
            <a:spLocks noGrp="1"/>
          </p:cNvSpPr>
          <p:nvPr>
            <p:ph type="title"/>
          </p:nvPr>
        </p:nvSpPr>
        <p:spPr/>
        <p:txBody>
          <a:bodyPr>
            <a:normAutofit/>
          </a:bodyPr>
          <a:lstStyle/>
          <a:p>
            <a:r>
              <a:rPr lang="en-US" altLang="en-US" sz="4000" u="sng" dirty="0">
                <a:latin typeface="Times New Roman" panose="02020603050405020304" pitchFamily="18" charset="0"/>
              </a:rPr>
              <a:t>Complexity of Algorithms</a:t>
            </a:r>
            <a:endParaRPr lang="en-US" sz="4000" dirty="0"/>
          </a:p>
        </p:txBody>
      </p:sp>
      <p:sp>
        <p:nvSpPr>
          <p:cNvPr id="3" name="Content Placeholder 2">
            <a:extLst>
              <a:ext uri="{FF2B5EF4-FFF2-40B4-BE49-F238E27FC236}">
                <a16:creationId xmlns:a16="http://schemas.microsoft.com/office/drawing/2014/main" id="{A9017457-0E38-CDBA-8F8B-ADA714747353}"/>
              </a:ext>
            </a:extLst>
          </p:cNvPr>
          <p:cNvSpPr>
            <a:spLocks noGrp="1"/>
          </p:cNvSpPr>
          <p:nvPr>
            <p:ph sz="half" idx="1"/>
          </p:nvPr>
        </p:nvSpPr>
        <p:spPr/>
        <p:txBody>
          <a:bodyPr>
            <a:normAutofit fontScale="70000" lnSpcReduction="20000"/>
          </a:bodyPr>
          <a:lstStyle/>
          <a:p>
            <a:pPr algn="just">
              <a:lnSpc>
                <a:spcPct val="160000"/>
              </a:lnSpc>
              <a:spcBef>
                <a:spcPct val="50000"/>
              </a:spcBef>
              <a:buFontTx/>
              <a:buChar char="•"/>
            </a:pPr>
            <a:r>
              <a:rPr lang="en-US" altLang="en-US" sz="3100" dirty="0">
                <a:latin typeface="Times New Roman" panose="02020603050405020304" pitchFamily="18" charset="0"/>
              </a:rPr>
              <a:t>The complexity of an algorithm M is the function f(n) which gives the running time and/or storage space requirement of the algorithm in terms of the size n of the input data. </a:t>
            </a:r>
          </a:p>
          <a:p>
            <a:pPr algn="just">
              <a:lnSpc>
                <a:spcPct val="160000"/>
              </a:lnSpc>
              <a:spcBef>
                <a:spcPct val="50000"/>
              </a:spcBef>
              <a:buFontTx/>
              <a:buChar char="•"/>
            </a:pPr>
            <a:r>
              <a:rPr lang="en-US" altLang="en-US" sz="3100" dirty="0">
                <a:latin typeface="Times New Roman" panose="02020603050405020304" pitchFamily="18" charset="0"/>
              </a:rPr>
              <a:t> Two types of complexity</a:t>
            </a:r>
          </a:p>
          <a:p>
            <a:pPr marL="0" indent="0">
              <a:lnSpc>
                <a:spcPct val="160000"/>
              </a:lnSpc>
              <a:buNone/>
            </a:pPr>
            <a:r>
              <a:rPr lang="en-US" altLang="en-US" sz="3100" dirty="0">
                <a:latin typeface="Times New Roman" panose="02020603050405020304" pitchFamily="18" charset="0"/>
              </a:rPr>
              <a:t>       1. Time Complexity</a:t>
            </a:r>
          </a:p>
          <a:p>
            <a:pPr marL="0" indent="0">
              <a:lnSpc>
                <a:spcPct val="160000"/>
              </a:lnSpc>
              <a:buNone/>
            </a:pPr>
            <a:r>
              <a:rPr lang="en-US" altLang="en-US" sz="3100" dirty="0">
                <a:latin typeface="Times New Roman" panose="02020603050405020304" pitchFamily="18" charset="0"/>
              </a:rPr>
              <a:t>       2. Space Complexity</a:t>
            </a:r>
          </a:p>
          <a:p>
            <a:pPr>
              <a:lnSpc>
                <a:spcPct val="160000"/>
              </a:lnSpc>
              <a:spcBef>
                <a:spcPct val="50000"/>
              </a:spcBef>
              <a:buFontTx/>
              <a:buAutoNum type="arabicPeriod"/>
            </a:pPr>
            <a:endParaRPr lang="en-US" altLang="en-US" dirty="0">
              <a:latin typeface="Times New Roman" panose="02020603050405020304" pitchFamily="18" charset="0"/>
            </a:endParaRPr>
          </a:p>
          <a:p>
            <a:pPr algn="just">
              <a:lnSpc>
                <a:spcPct val="160000"/>
              </a:lnSpc>
              <a:spcBef>
                <a:spcPct val="50000"/>
              </a:spcBef>
              <a:buFontTx/>
              <a:buChar char="•"/>
            </a:pPr>
            <a:endParaRPr lang="en-US" altLang="en-US" dirty="0">
              <a:latin typeface="Times New Roman" panose="02020603050405020304" pitchFamily="18" charset="0"/>
            </a:endParaRPr>
          </a:p>
          <a:p>
            <a:pPr>
              <a:lnSpc>
                <a:spcPct val="160000"/>
              </a:lnSpc>
              <a:spcBef>
                <a:spcPct val="50000"/>
              </a:spcBef>
            </a:pPr>
            <a:endParaRPr lang="en-US" altLang="en-US" dirty="0">
              <a:latin typeface="Times New Roman" panose="02020603050405020304" pitchFamily="18" charset="0"/>
            </a:endParaRPr>
          </a:p>
          <a:p>
            <a:endParaRPr lang="en-US" dirty="0"/>
          </a:p>
        </p:txBody>
      </p:sp>
    </p:spTree>
    <p:extLst>
      <p:ext uri="{BB962C8B-B14F-4D97-AF65-F5344CB8AC3E}">
        <p14:creationId xmlns:p14="http://schemas.microsoft.com/office/powerpoint/2010/main" val="1119404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597E-1C4C-12A2-7130-46E87CD832C8}"/>
              </a:ext>
            </a:extLst>
          </p:cNvPr>
          <p:cNvSpPr>
            <a:spLocks noGrp="1"/>
          </p:cNvSpPr>
          <p:nvPr>
            <p:ph type="title"/>
          </p:nvPr>
        </p:nvSpPr>
        <p:spPr/>
        <p:txBody>
          <a:bodyPr>
            <a:normAutofit/>
          </a:bodyPr>
          <a:lstStyle/>
          <a:p>
            <a:r>
              <a:rPr lang="en-US" altLang="en-US" sz="4000" u="sng" dirty="0">
                <a:latin typeface="Times New Roman" panose="02020603050405020304" pitchFamily="18" charset="0"/>
              </a:rPr>
              <a:t>Asymptotic Notation</a:t>
            </a:r>
            <a:endParaRPr lang="en-US" sz="4000" dirty="0"/>
          </a:p>
        </p:txBody>
      </p:sp>
      <p:sp>
        <p:nvSpPr>
          <p:cNvPr id="3" name="Content Placeholder 2">
            <a:extLst>
              <a:ext uri="{FF2B5EF4-FFF2-40B4-BE49-F238E27FC236}">
                <a16:creationId xmlns:a16="http://schemas.microsoft.com/office/drawing/2014/main" id="{5AAE0A08-7D44-28D4-B497-1C5088E04B8A}"/>
              </a:ext>
            </a:extLst>
          </p:cNvPr>
          <p:cNvSpPr>
            <a:spLocks noGrp="1"/>
          </p:cNvSpPr>
          <p:nvPr>
            <p:ph sz="half" idx="1"/>
          </p:nvPr>
        </p:nvSpPr>
        <p:spPr/>
        <p:txBody>
          <a:bodyPr>
            <a:normAutofit fontScale="25000" lnSpcReduction="20000"/>
          </a:bodyPr>
          <a:lstStyle/>
          <a:p>
            <a:pPr>
              <a:lnSpc>
                <a:spcPct val="190000"/>
              </a:lnSpc>
            </a:pPr>
            <a:r>
              <a:rPr lang="en-US" altLang="en-US" sz="7400" dirty="0">
                <a:latin typeface="Times New Roman" panose="02020603050405020304" pitchFamily="18" charset="0"/>
              </a:rPr>
              <a:t>These notations are used to describe the running time or space requirement of an algorithm.</a:t>
            </a:r>
          </a:p>
          <a:p>
            <a:pPr marL="0" indent="0">
              <a:lnSpc>
                <a:spcPct val="190000"/>
              </a:lnSpc>
              <a:buNone/>
            </a:pPr>
            <a:r>
              <a:rPr lang="en-US" altLang="en-US" sz="7400" dirty="0">
                <a:latin typeface="Times New Roman" panose="02020603050405020304" pitchFamily="18" charset="0"/>
              </a:rPr>
              <a:t>     1.  0-notation</a:t>
            </a:r>
          </a:p>
          <a:p>
            <a:pPr marL="0" indent="0">
              <a:lnSpc>
                <a:spcPct val="190000"/>
              </a:lnSpc>
              <a:buNone/>
            </a:pPr>
            <a:r>
              <a:rPr lang="en-US" altLang="en-US" sz="7400" dirty="0">
                <a:latin typeface="Times New Roman" panose="02020603050405020304" pitchFamily="18" charset="0"/>
              </a:rPr>
              <a:t>     2.  </a:t>
            </a:r>
            <a:r>
              <a:rPr lang="en-US" altLang="en-US" sz="7400" dirty="0" err="1">
                <a:latin typeface="Times New Roman" panose="02020603050405020304" pitchFamily="18" charset="0"/>
              </a:rPr>
              <a:t>Ω</a:t>
            </a:r>
            <a:r>
              <a:rPr lang="en-US" altLang="en-US" sz="7400" dirty="0">
                <a:latin typeface="Times New Roman" panose="02020603050405020304" pitchFamily="18" charset="0"/>
              </a:rPr>
              <a:t>-notation</a:t>
            </a:r>
          </a:p>
          <a:p>
            <a:pPr marL="0" indent="0">
              <a:lnSpc>
                <a:spcPct val="190000"/>
              </a:lnSpc>
              <a:buNone/>
            </a:pPr>
            <a:r>
              <a:rPr lang="en-US" altLang="en-US" sz="7400" dirty="0">
                <a:latin typeface="Times New Roman" panose="02020603050405020304" pitchFamily="18" charset="0"/>
              </a:rPr>
              <a:t>     3.  </a:t>
            </a:r>
            <a:r>
              <a:rPr lang="en-US" altLang="en-US" sz="7400" dirty="0" err="1">
                <a:latin typeface="Times New Roman" panose="02020603050405020304" pitchFamily="18" charset="0"/>
              </a:rPr>
              <a:t>Θ</a:t>
            </a:r>
            <a:r>
              <a:rPr lang="en-US" altLang="en-US" sz="7400" dirty="0">
                <a:latin typeface="Times New Roman" panose="02020603050405020304" pitchFamily="18" charset="0"/>
              </a:rPr>
              <a:t>-notation</a:t>
            </a:r>
          </a:p>
          <a:p>
            <a:pPr marL="0" indent="0">
              <a:lnSpc>
                <a:spcPct val="190000"/>
              </a:lnSpc>
              <a:buNone/>
            </a:pPr>
            <a:r>
              <a:rPr lang="en-US" altLang="en-US" sz="7400" dirty="0">
                <a:latin typeface="Times New Roman" panose="02020603050405020304" pitchFamily="18" charset="0"/>
              </a:rPr>
              <a:t>     4.  o-notation</a:t>
            </a:r>
          </a:p>
          <a:p>
            <a:pPr marL="0" indent="0">
              <a:lnSpc>
                <a:spcPct val="190000"/>
              </a:lnSpc>
              <a:buNone/>
            </a:pPr>
            <a:r>
              <a:rPr lang="en-US" altLang="en-US" sz="7400" dirty="0">
                <a:solidFill>
                  <a:srgbClr val="010000"/>
                </a:solidFill>
                <a:latin typeface="Times New Roman" panose="02020603050405020304" pitchFamily="18" charset="0"/>
              </a:rPr>
              <a:t>     5.  </a:t>
            </a:r>
            <a:r>
              <a:rPr lang="en-US" altLang="en-US" sz="7400" dirty="0" err="1">
                <a:solidFill>
                  <a:srgbClr val="010000"/>
                </a:solidFill>
                <a:latin typeface="Times New Roman" panose="02020603050405020304" pitchFamily="18" charset="0"/>
              </a:rPr>
              <a:t>ω</a:t>
            </a:r>
            <a:r>
              <a:rPr lang="en-US" altLang="en-US" sz="7400" dirty="0">
                <a:latin typeface="Times New Roman" panose="02020603050405020304" pitchFamily="18" charset="0"/>
              </a:rPr>
              <a:t>-notation</a:t>
            </a:r>
          </a:p>
          <a:p>
            <a:pPr>
              <a:lnSpc>
                <a:spcPct val="190000"/>
              </a:lnSpc>
              <a:spcBef>
                <a:spcPct val="50000"/>
              </a:spcBef>
            </a:pPr>
            <a:endParaRPr lang="en-US" altLang="en-US" dirty="0">
              <a:latin typeface="Times New Roman" panose="02020603050405020304" pitchFamily="18" charset="0"/>
            </a:endParaRPr>
          </a:p>
          <a:p>
            <a:endParaRPr lang="en-US" dirty="0"/>
          </a:p>
        </p:txBody>
      </p:sp>
    </p:spTree>
    <p:extLst>
      <p:ext uri="{BB962C8B-B14F-4D97-AF65-F5344CB8AC3E}">
        <p14:creationId xmlns:p14="http://schemas.microsoft.com/office/powerpoint/2010/main" val="432297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533E-994C-22A6-8762-2F25819229E5}"/>
              </a:ext>
            </a:extLst>
          </p:cNvPr>
          <p:cNvSpPr>
            <a:spLocks noGrp="1"/>
          </p:cNvSpPr>
          <p:nvPr>
            <p:ph type="title"/>
          </p:nvPr>
        </p:nvSpPr>
        <p:spPr/>
        <p:txBody>
          <a:bodyPr/>
          <a:lstStyle/>
          <a:p>
            <a:r>
              <a:rPr lang="en-US" dirty="0"/>
              <a:t>Upcoming topics</a:t>
            </a:r>
          </a:p>
        </p:txBody>
      </p:sp>
      <p:sp>
        <p:nvSpPr>
          <p:cNvPr id="3" name="Content Placeholder 2">
            <a:extLst>
              <a:ext uri="{FF2B5EF4-FFF2-40B4-BE49-F238E27FC236}">
                <a16:creationId xmlns:a16="http://schemas.microsoft.com/office/drawing/2014/main" id="{97BCBB54-650D-5C13-A30F-8474BBC4E3CF}"/>
              </a:ext>
            </a:extLst>
          </p:cNvPr>
          <p:cNvSpPr>
            <a:spLocks noGrp="1"/>
          </p:cNvSpPr>
          <p:nvPr>
            <p:ph sz="half" idx="1"/>
          </p:nvPr>
        </p:nvSpPr>
        <p:spPr/>
        <p:txBody>
          <a:bodyPr/>
          <a:lstStyle/>
          <a:p>
            <a:r>
              <a:rPr lang="en-US" dirty="0"/>
              <a:t>Briefly describes  Recursion, Array and Link Lists</a:t>
            </a:r>
          </a:p>
          <a:p>
            <a:r>
              <a:rPr lang="en-US" dirty="0"/>
              <a:t>Coding Examples</a:t>
            </a:r>
          </a:p>
        </p:txBody>
      </p:sp>
    </p:spTree>
    <p:extLst>
      <p:ext uri="{BB962C8B-B14F-4D97-AF65-F5344CB8AC3E}">
        <p14:creationId xmlns:p14="http://schemas.microsoft.com/office/powerpoint/2010/main" val="3121572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9E99A-5204-E4FC-E032-166393FA9311}"/>
              </a:ext>
            </a:extLst>
          </p:cNvPr>
          <p:cNvSpPr>
            <a:spLocks noGrp="1"/>
          </p:cNvSpPr>
          <p:nvPr>
            <p:ph type="title"/>
          </p:nvPr>
        </p:nvSpPr>
        <p:spPr/>
        <p:txBody>
          <a:bodyPr/>
          <a:lstStyle/>
          <a:p>
            <a:r>
              <a:rPr lang="en-US" dirty="0"/>
              <a:t>Thank you</a:t>
            </a:r>
          </a:p>
        </p:txBody>
      </p:sp>
      <p:pic>
        <p:nvPicPr>
          <p:cNvPr id="26626" name="Picture 2">
            <a:extLst>
              <a:ext uri="{FF2B5EF4-FFF2-40B4-BE49-F238E27FC236}">
                <a16:creationId xmlns:a16="http://schemas.microsoft.com/office/drawing/2014/main" id="{98C4F072-BAD1-65BD-0CD1-813C84BE27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161" y="1983925"/>
            <a:ext cx="5474804" cy="3979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761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5811</TotalTime>
  <Words>1278</Words>
  <Application>Microsoft Macintosh PowerPoint</Application>
  <PresentationFormat>Widescreen</PresentationFormat>
  <Paragraphs>180</Paragraphs>
  <Slides>24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ＭＳ Ｐゴシック</vt:lpstr>
      <vt:lpstr>Arial</vt:lpstr>
      <vt:lpstr>Calibri</vt:lpstr>
      <vt:lpstr>Calibri Light</vt:lpstr>
      <vt:lpstr>Google Sans</vt:lpstr>
      <vt:lpstr>Times New Roman</vt:lpstr>
      <vt:lpstr>Office Theme</vt:lpstr>
      <vt:lpstr>CS 3305: Data Structures Lecture 1: Introduction</vt:lpstr>
      <vt:lpstr>Today’s Outline</vt:lpstr>
      <vt:lpstr>About Me</vt:lpstr>
      <vt:lpstr>Course Information</vt:lpstr>
      <vt:lpstr>Why Learning Data Structure? </vt:lpstr>
      <vt:lpstr>Goals of the Course</vt:lpstr>
      <vt:lpstr>Observation</vt:lpstr>
      <vt:lpstr>What is a Data Structure?</vt:lpstr>
      <vt:lpstr>What is a Data Structure?</vt:lpstr>
      <vt:lpstr>Choice of Data Structures </vt:lpstr>
      <vt:lpstr>Data Structure Operations </vt:lpstr>
      <vt:lpstr>Why so many data structures?</vt:lpstr>
      <vt:lpstr>Array</vt:lpstr>
      <vt:lpstr>Lists</vt:lpstr>
      <vt:lpstr>Array and Lists</vt:lpstr>
      <vt:lpstr>Array and Lists</vt:lpstr>
      <vt:lpstr>Stack</vt:lpstr>
      <vt:lpstr>Queue</vt:lpstr>
      <vt:lpstr>Tree</vt:lpstr>
      <vt:lpstr>Algorithm</vt:lpstr>
      <vt:lpstr>Complexity of Algorithms</vt:lpstr>
      <vt:lpstr>Asymptotic Notation</vt:lpstr>
      <vt:lpstr>Upcoming topics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Umama Tasnim</dc:creator>
  <cp:lastModifiedBy>Umama Tasnim</cp:lastModifiedBy>
  <cp:revision>12</cp:revision>
  <dcterms:created xsi:type="dcterms:W3CDTF">2023-08-09T20:01:50Z</dcterms:created>
  <dcterms:modified xsi:type="dcterms:W3CDTF">2026-08-24T14:46:37Z</dcterms:modified>
</cp:coreProperties>
</file>