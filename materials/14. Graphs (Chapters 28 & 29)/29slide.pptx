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8"/>
  </p:notesMasterIdLst>
  <p:handoutMasterIdLst>
    <p:handoutMasterId r:id="rId39"/>
  </p:handoutMasterIdLst>
  <p:sldIdLst>
    <p:sldId id="256" r:id="rId2"/>
    <p:sldId id="283" r:id="rId3"/>
    <p:sldId id="389" r:id="rId4"/>
    <p:sldId id="390" r:id="rId5"/>
    <p:sldId id="358" r:id="rId6"/>
    <p:sldId id="368" r:id="rId7"/>
    <p:sldId id="370" r:id="rId8"/>
    <p:sldId id="369" r:id="rId9"/>
    <p:sldId id="402" r:id="rId10"/>
    <p:sldId id="359" r:id="rId11"/>
    <p:sldId id="294" r:id="rId12"/>
    <p:sldId id="371" r:id="rId13"/>
    <p:sldId id="372" r:id="rId14"/>
    <p:sldId id="373" r:id="rId15"/>
    <p:sldId id="401" r:id="rId16"/>
    <p:sldId id="374" r:id="rId17"/>
    <p:sldId id="375" r:id="rId18"/>
    <p:sldId id="361" r:id="rId19"/>
    <p:sldId id="366" r:id="rId20"/>
    <p:sldId id="392" r:id="rId21"/>
    <p:sldId id="377" r:id="rId22"/>
    <p:sldId id="400" r:id="rId23"/>
    <p:sldId id="405" r:id="rId24"/>
    <p:sldId id="362" r:id="rId25"/>
    <p:sldId id="393" r:id="rId26"/>
    <p:sldId id="394" r:id="rId27"/>
    <p:sldId id="395" r:id="rId28"/>
    <p:sldId id="396" r:id="rId29"/>
    <p:sldId id="397" r:id="rId30"/>
    <p:sldId id="398" r:id="rId31"/>
    <p:sldId id="384" r:id="rId32"/>
    <p:sldId id="403" r:id="rId33"/>
    <p:sldId id="385" r:id="rId34"/>
    <p:sldId id="388" r:id="rId35"/>
    <p:sldId id="302" r:id="rId36"/>
    <p:sldId id="391" r:id="rId3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3" autoAdjust="0"/>
    <p:restoredTop sz="94630" autoAdjust="0"/>
  </p:normalViewPr>
  <p:slideViewPr>
    <p:cSldViewPr>
      <p:cViewPr varScale="1">
        <p:scale>
          <a:sx n="72" d="100"/>
          <a:sy n="72" d="100"/>
        </p:scale>
        <p:origin x="1190" y="72"/>
      </p:cViewPr>
      <p:guideLst>
        <p:guide orient="horz" pos="57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440"/>
    </p:cViewPr>
  </p:sorterViewPr>
  <p:notesViewPr>
    <p:cSldViewPr>
      <p:cViewPr varScale="1">
        <p:scale>
          <a:sx n="40" d="100"/>
          <a:sy n="40" d="100"/>
        </p:scale>
        <p:origin x="-1404" y="-78"/>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B4A7290-73ED-28DD-5BE5-EF5D8175728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AD9CE2B8-22C5-0C17-60CB-0EB6EE8BABC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39940" name="Rectangle 4">
            <a:extLst>
              <a:ext uri="{FF2B5EF4-FFF2-40B4-BE49-F238E27FC236}">
                <a16:creationId xmlns:a16="http://schemas.microsoft.com/office/drawing/2014/main" id="{85468FAF-AFE5-B90A-8F89-EFF9702C4A47}"/>
              </a:ext>
            </a:extLst>
          </p:cNvPr>
          <p:cNvSpPr>
            <a:spLocks noGrp="1" noRot="1" noChangeAspect="1" noChangeArrowheads="1" noTextEdit="1"/>
          </p:cNvSpPr>
          <p:nvPr>
            <p:ph type="sldImg" idx="2"/>
          </p:nvPr>
        </p:nvSpPr>
        <p:spPr bwMode="auto">
          <a:xfrm>
            <a:off x="1150938" y="692150"/>
            <a:ext cx="4556125"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27120D44-57D8-4DF1-2EB4-E12953B18BEB}"/>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FDCFE1B8-FD95-F9AE-3A86-2F44A4381D56}"/>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78CA0817-7BDC-EE72-70A9-14F7EDD6E90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C8E5ED41-F486-4EAE-B3D8-052803A1772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9C1E04B6-979D-2244-D93C-F73D1CE36122}"/>
              </a:ext>
            </a:extLst>
          </p:cNvPr>
          <p:cNvGrpSpPr>
            <a:grpSpLocks/>
          </p:cNvGrpSpPr>
          <p:nvPr/>
        </p:nvGrpSpPr>
        <p:grpSpPr bwMode="auto">
          <a:xfrm>
            <a:off x="0" y="114300"/>
            <a:ext cx="9142413" cy="6742113"/>
            <a:chOff x="0" y="72"/>
            <a:chExt cx="5759" cy="4247"/>
          </a:xfrm>
        </p:grpSpPr>
        <p:sp>
          <p:nvSpPr>
            <p:cNvPr id="3" name="Rectangle 2">
              <a:extLst>
                <a:ext uri="{FF2B5EF4-FFF2-40B4-BE49-F238E27FC236}">
                  <a16:creationId xmlns:a16="http://schemas.microsoft.com/office/drawing/2014/main" id="{6E8CE677-F333-7551-0AA7-3F2CF03AAEF2}"/>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4" name="Group 30">
              <a:extLst>
                <a:ext uri="{FF2B5EF4-FFF2-40B4-BE49-F238E27FC236}">
                  <a16:creationId xmlns:a16="http://schemas.microsoft.com/office/drawing/2014/main" id="{07A1AA3A-A509-0C22-037C-1E7FE36CC7A3}"/>
                </a:ext>
              </a:extLst>
            </p:cNvPr>
            <p:cNvGrpSpPr>
              <a:grpSpLocks/>
            </p:cNvGrpSpPr>
            <p:nvPr/>
          </p:nvGrpSpPr>
          <p:grpSpPr bwMode="auto">
            <a:xfrm>
              <a:off x="0" y="72"/>
              <a:ext cx="5759" cy="2040"/>
              <a:chOff x="0" y="72"/>
              <a:chExt cx="5759" cy="2040"/>
            </a:xfrm>
          </p:grpSpPr>
          <p:sp>
            <p:nvSpPr>
              <p:cNvPr id="5" name="Rectangle 3">
                <a:extLst>
                  <a:ext uri="{FF2B5EF4-FFF2-40B4-BE49-F238E27FC236}">
                    <a16:creationId xmlns:a16="http://schemas.microsoft.com/office/drawing/2014/main" id="{7560DD99-D853-41DA-B3C0-274B8DAF8503}"/>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9">
                <a:extLst>
                  <a:ext uri="{FF2B5EF4-FFF2-40B4-BE49-F238E27FC236}">
                    <a16:creationId xmlns:a16="http://schemas.microsoft.com/office/drawing/2014/main" id="{189C7F1B-1E98-D02D-15AE-BABABC40EDE5}"/>
                  </a:ext>
                </a:extLst>
              </p:cNvPr>
              <p:cNvGrpSpPr>
                <a:grpSpLocks/>
              </p:cNvGrpSpPr>
              <p:nvPr/>
            </p:nvGrpSpPr>
            <p:grpSpPr bwMode="auto">
              <a:xfrm>
                <a:off x="2289" y="72"/>
                <a:ext cx="1440" cy="1984"/>
                <a:chOff x="2289" y="72"/>
                <a:chExt cx="1440" cy="1984"/>
              </a:xfrm>
            </p:grpSpPr>
            <p:sp>
              <p:nvSpPr>
                <p:cNvPr id="27" name="Freeform 4">
                  <a:extLst>
                    <a:ext uri="{FF2B5EF4-FFF2-40B4-BE49-F238E27FC236}">
                      <a16:creationId xmlns:a16="http://schemas.microsoft.com/office/drawing/2014/main" id="{DEDB9FD2-A0D9-2549-7AF4-501532907DC6}"/>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5">
                  <a:extLst>
                    <a:ext uri="{FF2B5EF4-FFF2-40B4-BE49-F238E27FC236}">
                      <a16:creationId xmlns:a16="http://schemas.microsoft.com/office/drawing/2014/main" id="{E523614F-6040-0516-5625-175730AC3CC5}"/>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6">
                  <a:extLst>
                    <a:ext uri="{FF2B5EF4-FFF2-40B4-BE49-F238E27FC236}">
                      <a16:creationId xmlns:a16="http://schemas.microsoft.com/office/drawing/2014/main" id="{364EBA1C-94BD-2199-25F8-82C10AF867C6}"/>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7">
                  <a:extLst>
                    <a:ext uri="{FF2B5EF4-FFF2-40B4-BE49-F238E27FC236}">
                      <a16:creationId xmlns:a16="http://schemas.microsoft.com/office/drawing/2014/main" id="{E0DF7B58-68B9-02B8-8AA1-1F54C770D2A2}"/>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Freeform 8">
                  <a:extLst>
                    <a:ext uri="{FF2B5EF4-FFF2-40B4-BE49-F238E27FC236}">
                      <a16:creationId xmlns:a16="http://schemas.microsoft.com/office/drawing/2014/main" id="{9D076439-FFAC-9931-A839-A192F382F344}"/>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 name="Oval 10">
                <a:extLst>
                  <a:ext uri="{FF2B5EF4-FFF2-40B4-BE49-F238E27FC236}">
                    <a16:creationId xmlns:a16="http://schemas.microsoft.com/office/drawing/2014/main" id="{0D87207C-4330-9A61-7D06-C1781730496C}"/>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29">
                <a:extLst>
                  <a:ext uri="{FF2B5EF4-FFF2-40B4-BE49-F238E27FC236}">
                    <a16:creationId xmlns:a16="http://schemas.microsoft.com/office/drawing/2014/main" id="{E52C09B1-D79B-C900-2A81-1667AC600662}"/>
                  </a:ext>
                </a:extLst>
              </p:cNvPr>
              <p:cNvGrpSpPr>
                <a:grpSpLocks/>
              </p:cNvGrpSpPr>
              <p:nvPr/>
            </p:nvGrpSpPr>
            <p:grpSpPr bwMode="auto">
              <a:xfrm>
                <a:off x="2071" y="406"/>
                <a:ext cx="1392" cy="1109"/>
                <a:chOff x="2071" y="406"/>
                <a:chExt cx="1392" cy="1109"/>
              </a:xfrm>
            </p:grpSpPr>
            <p:sp>
              <p:nvSpPr>
                <p:cNvPr id="9" name="Freeform 11">
                  <a:extLst>
                    <a:ext uri="{FF2B5EF4-FFF2-40B4-BE49-F238E27FC236}">
                      <a16:creationId xmlns:a16="http://schemas.microsoft.com/office/drawing/2014/main" id="{7819B98B-EA71-BB38-5615-3FC1FAC35A86}"/>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8897C358-21AA-0444-41B5-53D0048023B4}"/>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F328F0F9-9184-C31B-AD82-3ACBF46C7D96}"/>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5797791E-73AA-2612-D4F9-64755EBEBFEB}"/>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46E4FB10-7A7C-890E-4512-952101719AAA}"/>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8CCE3843-473F-A93F-4D86-792BD7E1997D}"/>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1478E6C2-4C24-FD0A-3CE5-FC28325B00D7}"/>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8">
                  <a:extLst>
                    <a:ext uri="{FF2B5EF4-FFF2-40B4-BE49-F238E27FC236}">
                      <a16:creationId xmlns:a16="http://schemas.microsoft.com/office/drawing/2014/main" id="{7D4911C4-09F7-9B48-D3FC-10658A6FA273}"/>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9">
                  <a:extLst>
                    <a:ext uri="{FF2B5EF4-FFF2-40B4-BE49-F238E27FC236}">
                      <a16:creationId xmlns:a16="http://schemas.microsoft.com/office/drawing/2014/main" id="{F5B4C5CF-3E9D-5222-D081-B669A50ED03D}"/>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20">
                  <a:extLst>
                    <a:ext uri="{FF2B5EF4-FFF2-40B4-BE49-F238E27FC236}">
                      <a16:creationId xmlns:a16="http://schemas.microsoft.com/office/drawing/2014/main" id="{FCDAFCB0-6F15-062D-0C0E-A8A2494CC27A}"/>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21">
                  <a:extLst>
                    <a:ext uri="{FF2B5EF4-FFF2-40B4-BE49-F238E27FC236}">
                      <a16:creationId xmlns:a16="http://schemas.microsoft.com/office/drawing/2014/main" id="{1E8B3C41-EB01-4CB0-EB1A-2689207BB3DB}"/>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2">
                  <a:extLst>
                    <a:ext uri="{FF2B5EF4-FFF2-40B4-BE49-F238E27FC236}">
                      <a16:creationId xmlns:a16="http://schemas.microsoft.com/office/drawing/2014/main" id="{22C4F5F0-244C-C9BC-C71C-698BBC8F0F2D}"/>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3">
                  <a:extLst>
                    <a:ext uri="{FF2B5EF4-FFF2-40B4-BE49-F238E27FC236}">
                      <a16:creationId xmlns:a16="http://schemas.microsoft.com/office/drawing/2014/main" id="{BE38503C-7990-963B-7A9D-952A627C93FB}"/>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4">
                  <a:extLst>
                    <a:ext uri="{FF2B5EF4-FFF2-40B4-BE49-F238E27FC236}">
                      <a16:creationId xmlns:a16="http://schemas.microsoft.com/office/drawing/2014/main" id="{B05A5D3E-566C-C091-2BA0-F2317E9806CA}"/>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5">
                  <a:extLst>
                    <a:ext uri="{FF2B5EF4-FFF2-40B4-BE49-F238E27FC236}">
                      <a16:creationId xmlns:a16="http://schemas.microsoft.com/office/drawing/2014/main" id="{168029DF-5D91-C11D-C5C2-B831639EF43A}"/>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6">
                  <a:extLst>
                    <a:ext uri="{FF2B5EF4-FFF2-40B4-BE49-F238E27FC236}">
                      <a16:creationId xmlns:a16="http://schemas.microsoft.com/office/drawing/2014/main" id="{9A2952E5-791E-2B3A-2D96-9521602BECA0}"/>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7">
                  <a:extLst>
                    <a:ext uri="{FF2B5EF4-FFF2-40B4-BE49-F238E27FC236}">
                      <a16:creationId xmlns:a16="http://schemas.microsoft.com/office/drawing/2014/main" id="{A8767D47-8EC2-FBB9-2F2E-1A80DD35B4D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8">
                  <a:extLst>
                    <a:ext uri="{FF2B5EF4-FFF2-40B4-BE49-F238E27FC236}">
                      <a16:creationId xmlns:a16="http://schemas.microsoft.com/office/drawing/2014/main" id="{369EF0F1-D845-C464-D8A7-6C7502AEC83F}"/>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2" name="Rectangle 34">
            <a:extLst>
              <a:ext uri="{FF2B5EF4-FFF2-40B4-BE49-F238E27FC236}">
                <a16:creationId xmlns:a16="http://schemas.microsoft.com/office/drawing/2014/main" id="{DC63DBC5-2D0E-60AB-744A-33AEDB9A4B88}"/>
              </a:ext>
            </a:extLst>
          </p:cNvPr>
          <p:cNvSpPr>
            <a:spLocks noGrp="1" noChangeArrowheads="1"/>
          </p:cNvSpPr>
          <p:nvPr>
            <p:ph type="dt" sz="quarter" idx="10"/>
          </p:nvPr>
        </p:nvSpPr>
        <p:spPr/>
        <p:txBody>
          <a:bodyPr/>
          <a:lstStyle>
            <a:lvl1pPr>
              <a:defRPr/>
            </a:lvl1pPr>
          </a:lstStyle>
          <a:p>
            <a:pPr>
              <a:defRPr/>
            </a:pPr>
            <a:endParaRPr lang="en-US"/>
          </a:p>
        </p:txBody>
      </p:sp>
      <p:sp>
        <p:nvSpPr>
          <p:cNvPr id="33" name="Rectangle 35">
            <a:extLst>
              <a:ext uri="{FF2B5EF4-FFF2-40B4-BE49-F238E27FC236}">
                <a16:creationId xmlns:a16="http://schemas.microsoft.com/office/drawing/2014/main" id="{17BC46BD-9241-F0E5-6B01-33235CB6620D}"/>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Tenth Edition, (c) 2013 Pearson Education, Inc. All rights reserved. </a:t>
            </a:r>
          </a:p>
        </p:txBody>
      </p:sp>
      <p:sp>
        <p:nvSpPr>
          <p:cNvPr id="34" name="Rectangle 36">
            <a:extLst>
              <a:ext uri="{FF2B5EF4-FFF2-40B4-BE49-F238E27FC236}">
                <a16:creationId xmlns:a16="http://schemas.microsoft.com/office/drawing/2014/main" id="{1B91A185-B917-CFF7-B4A7-5114CAE720E0}"/>
              </a:ext>
            </a:extLst>
          </p:cNvPr>
          <p:cNvSpPr>
            <a:spLocks noGrp="1" noChangeArrowheads="1"/>
          </p:cNvSpPr>
          <p:nvPr>
            <p:ph type="sldNum" sz="quarter" idx="12"/>
          </p:nvPr>
        </p:nvSpPr>
        <p:spPr>
          <a:xfrm>
            <a:off x="6553200" y="6400800"/>
            <a:ext cx="1905000" cy="457200"/>
          </a:xfrm>
        </p:spPr>
        <p:txBody>
          <a:bodyPr/>
          <a:lstStyle>
            <a:lvl1pPr>
              <a:defRPr/>
            </a:lvl1pPr>
          </a:lstStyle>
          <a:p>
            <a:fld id="{A95535B0-9B1A-414D-9A39-4B5A883E3D08}" type="slidenum">
              <a:rPr lang="en-US" altLang="en-US"/>
              <a:pPr/>
              <a:t>‹#›</a:t>
            </a:fld>
            <a:endParaRPr lang="en-US" altLang="en-US"/>
          </a:p>
        </p:txBody>
      </p:sp>
    </p:spTree>
    <p:extLst>
      <p:ext uri="{BB962C8B-B14F-4D97-AF65-F5344CB8AC3E}">
        <p14:creationId xmlns:p14="http://schemas.microsoft.com/office/powerpoint/2010/main" val="1276718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E7F81CF2-38C6-177A-0222-C41FD09AAA5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2B072378-82D1-2EF4-E7D9-5EC8E90EFEC2}"/>
              </a:ext>
            </a:extLst>
          </p:cNvPr>
          <p:cNvSpPr>
            <a:spLocks noGrp="1" noChangeArrowheads="1"/>
          </p:cNvSpPr>
          <p:nvPr>
            <p:ph type="sldNum" sz="quarter" idx="11"/>
          </p:nvPr>
        </p:nvSpPr>
        <p:spPr>
          <a:ln/>
        </p:spPr>
        <p:txBody>
          <a:bodyPr/>
          <a:lstStyle>
            <a:lvl1pPr>
              <a:defRPr/>
            </a:lvl1pPr>
          </a:lstStyle>
          <a:p>
            <a:fld id="{07F45CB5-344E-417D-9C0D-1B411E5FF9AA}" type="slidenum">
              <a:rPr lang="en-US" altLang="en-US"/>
              <a:pPr/>
              <a:t>‹#›</a:t>
            </a:fld>
            <a:endParaRPr lang="en-US" altLang="en-US"/>
          </a:p>
        </p:txBody>
      </p:sp>
    </p:spTree>
    <p:extLst>
      <p:ext uri="{BB962C8B-B14F-4D97-AF65-F5344CB8AC3E}">
        <p14:creationId xmlns:p14="http://schemas.microsoft.com/office/powerpoint/2010/main" val="3412911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0FB38FB9-7A6F-19B6-38E3-AB1F0C79854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1F40B87C-B69E-6F7E-12F4-27A012F9950D}"/>
              </a:ext>
            </a:extLst>
          </p:cNvPr>
          <p:cNvSpPr>
            <a:spLocks noGrp="1" noChangeArrowheads="1"/>
          </p:cNvSpPr>
          <p:nvPr>
            <p:ph type="sldNum" sz="quarter" idx="11"/>
          </p:nvPr>
        </p:nvSpPr>
        <p:spPr>
          <a:ln/>
        </p:spPr>
        <p:txBody>
          <a:bodyPr/>
          <a:lstStyle>
            <a:lvl1pPr>
              <a:defRPr/>
            </a:lvl1pPr>
          </a:lstStyle>
          <a:p>
            <a:fld id="{20CEF219-6748-471B-B500-068B0D0197D1}" type="slidenum">
              <a:rPr lang="en-US" altLang="en-US"/>
              <a:pPr/>
              <a:t>‹#›</a:t>
            </a:fld>
            <a:endParaRPr lang="en-US" altLang="en-US"/>
          </a:p>
        </p:txBody>
      </p:sp>
    </p:spTree>
    <p:extLst>
      <p:ext uri="{BB962C8B-B14F-4D97-AF65-F5344CB8AC3E}">
        <p14:creationId xmlns:p14="http://schemas.microsoft.com/office/powerpoint/2010/main" val="3930619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1590CBA0-4BAD-6D49-7635-F419ACBFA19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B51E73C0-DB3D-59F4-A986-054CDA631977}"/>
              </a:ext>
            </a:extLst>
          </p:cNvPr>
          <p:cNvSpPr>
            <a:spLocks noGrp="1" noChangeArrowheads="1"/>
          </p:cNvSpPr>
          <p:nvPr>
            <p:ph type="sldNum" sz="quarter" idx="11"/>
          </p:nvPr>
        </p:nvSpPr>
        <p:spPr>
          <a:ln/>
        </p:spPr>
        <p:txBody>
          <a:bodyPr/>
          <a:lstStyle>
            <a:lvl1pPr>
              <a:defRPr/>
            </a:lvl1pPr>
          </a:lstStyle>
          <a:p>
            <a:fld id="{11D8F2E3-AAAA-4AF6-AF46-239EFEE83B65}" type="slidenum">
              <a:rPr lang="en-US" altLang="en-US"/>
              <a:pPr/>
              <a:t>‹#›</a:t>
            </a:fld>
            <a:endParaRPr lang="en-US" altLang="en-US"/>
          </a:p>
        </p:txBody>
      </p:sp>
    </p:spTree>
    <p:extLst>
      <p:ext uri="{BB962C8B-B14F-4D97-AF65-F5344CB8AC3E}">
        <p14:creationId xmlns:p14="http://schemas.microsoft.com/office/powerpoint/2010/main" val="3578580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ED0A3B40-0896-613D-9982-A40DC91ECA8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6A1D8E64-68EE-3C22-1E16-D72FB24A4D04}"/>
              </a:ext>
            </a:extLst>
          </p:cNvPr>
          <p:cNvSpPr>
            <a:spLocks noGrp="1" noChangeArrowheads="1"/>
          </p:cNvSpPr>
          <p:nvPr>
            <p:ph type="sldNum" sz="quarter" idx="11"/>
          </p:nvPr>
        </p:nvSpPr>
        <p:spPr>
          <a:ln/>
        </p:spPr>
        <p:txBody>
          <a:bodyPr/>
          <a:lstStyle>
            <a:lvl1pPr>
              <a:defRPr/>
            </a:lvl1pPr>
          </a:lstStyle>
          <a:p>
            <a:fld id="{8A59A52D-B118-4C08-9DF6-26A4A0F5B1C4}" type="slidenum">
              <a:rPr lang="en-US" altLang="en-US"/>
              <a:pPr/>
              <a:t>‹#›</a:t>
            </a:fld>
            <a:endParaRPr lang="en-US" altLang="en-US"/>
          </a:p>
        </p:txBody>
      </p:sp>
    </p:spTree>
    <p:extLst>
      <p:ext uri="{BB962C8B-B14F-4D97-AF65-F5344CB8AC3E}">
        <p14:creationId xmlns:p14="http://schemas.microsoft.com/office/powerpoint/2010/main" val="3641717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430559D0-5AAD-2D57-4526-36EA560405D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3518DAB1-22DE-BCC4-54D2-D19C177B8E0E}"/>
              </a:ext>
            </a:extLst>
          </p:cNvPr>
          <p:cNvSpPr>
            <a:spLocks noGrp="1" noChangeArrowheads="1"/>
          </p:cNvSpPr>
          <p:nvPr>
            <p:ph type="sldNum" sz="quarter" idx="11"/>
          </p:nvPr>
        </p:nvSpPr>
        <p:spPr>
          <a:ln/>
        </p:spPr>
        <p:txBody>
          <a:bodyPr/>
          <a:lstStyle>
            <a:lvl1pPr>
              <a:defRPr/>
            </a:lvl1pPr>
          </a:lstStyle>
          <a:p>
            <a:fld id="{1725D9AC-DA5B-4866-A7B4-665B5ACF9138}" type="slidenum">
              <a:rPr lang="en-US" altLang="en-US"/>
              <a:pPr/>
              <a:t>‹#›</a:t>
            </a:fld>
            <a:endParaRPr lang="en-US" altLang="en-US"/>
          </a:p>
        </p:txBody>
      </p:sp>
    </p:spTree>
    <p:extLst>
      <p:ext uri="{BB962C8B-B14F-4D97-AF65-F5344CB8AC3E}">
        <p14:creationId xmlns:p14="http://schemas.microsoft.com/office/powerpoint/2010/main" val="2562171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32AE66DD-8344-8771-351B-19ADB01EB30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07B58C51-E6DD-B19C-B26F-4BD961778931}"/>
              </a:ext>
            </a:extLst>
          </p:cNvPr>
          <p:cNvSpPr>
            <a:spLocks noGrp="1" noChangeArrowheads="1"/>
          </p:cNvSpPr>
          <p:nvPr>
            <p:ph type="sldNum" sz="quarter" idx="11"/>
          </p:nvPr>
        </p:nvSpPr>
        <p:spPr>
          <a:ln/>
        </p:spPr>
        <p:txBody>
          <a:bodyPr/>
          <a:lstStyle>
            <a:lvl1pPr>
              <a:defRPr/>
            </a:lvl1pPr>
          </a:lstStyle>
          <a:p>
            <a:fld id="{818D8322-B157-466D-8B48-E7E9B9A270B9}" type="slidenum">
              <a:rPr lang="en-US" altLang="en-US"/>
              <a:pPr/>
              <a:t>‹#›</a:t>
            </a:fld>
            <a:endParaRPr lang="en-US" altLang="en-US"/>
          </a:p>
        </p:txBody>
      </p:sp>
    </p:spTree>
    <p:extLst>
      <p:ext uri="{BB962C8B-B14F-4D97-AF65-F5344CB8AC3E}">
        <p14:creationId xmlns:p14="http://schemas.microsoft.com/office/powerpoint/2010/main" val="4031698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8EC78F35-891F-045C-6E6E-F2C871F4B30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17E8AEEB-FA5B-6EB6-1BFE-76D164CA026F}"/>
              </a:ext>
            </a:extLst>
          </p:cNvPr>
          <p:cNvSpPr>
            <a:spLocks noGrp="1" noChangeArrowheads="1"/>
          </p:cNvSpPr>
          <p:nvPr>
            <p:ph type="sldNum" sz="quarter" idx="11"/>
          </p:nvPr>
        </p:nvSpPr>
        <p:spPr>
          <a:ln/>
        </p:spPr>
        <p:txBody>
          <a:bodyPr/>
          <a:lstStyle>
            <a:lvl1pPr>
              <a:defRPr/>
            </a:lvl1pPr>
          </a:lstStyle>
          <a:p>
            <a:fld id="{55E4A37C-3A71-4167-A375-ACA44424AAE7}" type="slidenum">
              <a:rPr lang="en-US" altLang="en-US"/>
              <a:pPr/>
              <a:t>‹#›</a:t>
            </a:fld>
            <a:endParaRPr lang="en-US" altLang="en-US"/>
          </a:p>
        </p:txBody>
      </p:sp>
    </p:spTree>
    <p:extLst>
      <p:ext uri="{BB962C8B-B14F-4D97-AF65-F5344CB8AC3E}">
        <p14:creationId xmlns:p14="http://schemas.microsoft.com/office/powerpoint/2010/main" val="4143910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601BE42-2509-D4E4-845D-E784CF18059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AF723A09-87D9-A797-535E-AF7DA375F2FB}"/>
              </a:ext>
            </a:extLst>
          </p:cNvPr>
          <p:cNvSpPr>
            <a:spLocks noGrp="1" noChangeArrowheads="1"/>
          </p:cNvSpPr>
          <p:nvPr>
            <p:ph type="sldNum" sz="quarter" idx="11"/>
          </p:nvPr>
        </p:nvSpPr>
        <p:spPr>
          <a:ln/>
        </p:spPr>
        <p:txBody>
          <a:bodyPr/>
          <a:lstStyle>
            <a:lvl1pPr>
              <a:defRPr/>
            </a:lvl1pPr>
          </a:lstStyle>
          <a:p>
            <a:fld id="{44DFF82E-00D3-436C-9F2F-AD3A79182BBE}" type="slidenum">
              <a:rPr lang="en-US" altLang="en-US"/>
              <a:pPr/>
              <a:t>‹#›</a:t>
            </a:fld>
            <a:endParaRPr lang="en-US" altLang="en-US"/>
          </a:p>
        </p:txBody>
      </p:sp>
    </p:spTree>
    <p:extLst>
      <p:ext uri="{BB962C8B-B14F-4D97-AF65-F5344CB8AC3E}">
        <p14:creationId xmlns:p14="http://schemas.microsoft.com/office/powerpoint/2010/main" val="1821594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6FDD952C-EA9E-0D59-E853-A932D3F07A8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EE24553-005F-8B15-9516-986419EE6B64}"/>
              </a:ext>
            </a:extLst>
          </p:cNvPr>
          <p:cNvSpPr>
            <a:spLocks noGrp="1" noChangeArrowheads="1"/>
          </p:cNvSpPr>
          <p:nvPr>
            <p:ph type="sldNum" sz="quarter" idx="11"/>
          </p:nvPr>
        </p:nvSpPr>
        <p:spPr>
          <a:ln/>
        </p:spPr>
        <p:txBody>
          <a:bodyPr/>
          <a:lstStyle>
            <a:lvl1pPr>
              <a:defRPr/>
            </a:lvl1pPr>
          </a:lstStyle>
          <a:p>
            <a:fld id="{9EACC02B-509A-44FE-80F2-BB0BC9A2134A}" type="slidenum">
              <a:rPr lang="en-US" altLang="en-US"/>
              <a:pPr/>
              <a:t>‹#›</a:t>
            </a:fld>
            <a:endParaRPr lang="en-US" altLang="en-US"/>
          </a:p>
        </p:txBody>
      </p:sp>
    </p:spTree>
    <p:extLst>
      <p:ext uri="{BB962C8B-B14F-4D97-AF65-F5344CB8AC3E}">
        <p14:creationId xmlns:p14="http://schemas.microsoft.com/office/powerpoint/2010/main" val="2798140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A76117F3-8580-AC6B-EB1A-706773DC2B3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25164D94-3FA3-B221-FB52-8993108F45EB}"/>
              </a:ext>
            </a:extLst>
          </p:cNvPr>
          <p:cNvSpPr>
            <a:spLocks noGrp="1" noChangeArrowheads="1"/>
          </p:cNvSpPr>
          <p:nvPr>
            <p:ph type="sldNum" sz="quarter" idx="11"/>
          </p:nvPr>
        </p:nvSpPr>
        <p:spPr>
          <a:ln/>
        </p:spPr>
        <p:txBody>
          <a:bodyPr/>
          <a:lstStyle>
            <a:lvl1pPr>
              <a:defRPr/>
            </a:lvl1pPr>
          </a:lstStyle>
          <a:p>
            <a:fld id="{2F043980-29F4-47F6-89D0-8E3EC205DF05}" type="slidenum">
              <a:rPr lang="en-US" altLang="en-US"/>
              <a:pPr/>
              <a:t>‹#›</a:t>
            </a:fld>
            <a:endParaRPr lang="en-US" altLang="en-US"/>
          </a:p>
        </p:txBody>
      </p:sp>
    </p:spTree>
    <p:extLst>
      <p:ext uri="{BB962C8B-B14F-4D97-AF65-F5344CB8AC3E}">
        <p14:creationId xmlns:p14="http://schemas.microsoft.com/office/powerpoint/2010/main" val="1740427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1BA8DE00-9F9F-A39D-E40E-2E38AAFC9D8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CBB014E-AE96-2316-D85B-06847F0D990F}"/>
              </a:ext>
            </a:extLst>
          </p:cNvPr>
          <p:cNvSpPr>
            <a:spLocks noGrp="1" noChangeArrowheads="1"/>
          </p:cNvSpPr>
          <p:nvPr>
            <p:ph type="sldNum" sz="quarter" idx="11"/>
          </p:nvPr>
        </p:nvSpPr>
        <p:spPr>
          <a:ln/>
        </p:spPr>
        <p:txBody>
          <a:bodyPr/>
          <a:lstStyle>
            <a:lvl1pPr>
              <a:defRPr/>
            </a:lvl1pPr>
          </a:lstStyle>
          <a:p>
            <a:fld id="{1261429B-07B3-4948-A812-7B0379A8BCFB}" type="slidenum">
              <a:rPr lang="en-US" altLang="en-US"/>
              <a:pPr/>
              <a:t>‹#›</a:t>
            </a:fld>
            <a:endParaRPr lang="en-US" altLang="en-US"/>
          </a:p>
        </p:txBody>
      </p:sp>
    </p:spTree>
    <p:extLst>
      <p:ext uri="{BB962C8B-B14F-4D97-AF65-F5344CB8AC3E}">
        <p14:creationId xmlns:p14="http://schemas.microsoft.com/office/powerpoint/2010/main" val="3203668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D97C0E88-BA37-2C6D-C801-8FC36C083669}"/>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2C20AE9D-1E49-4AAF-3831-E39228F2A8E1}"/>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F0006FAA-2830-A52F-7BF5-11A983E76FBC}"/>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80E32F3F-E1A0-B522-E9ED-A77DF97142E4}"/>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08C3FBE6-FFDF-38DA-03FE-691E179E7F83}"/>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28F7A61E-FF38-AA6B-46DB-1F1BE645BFAD}"/>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8DDE13CB-8642-B3F1-522C-A59834A73B3A}"/>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B612D67B-13AD-431C-2934-ECB8F6931F54}"/>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6B845B0C-F064-3E37-1A0E-60FBE42DE2B2}"/>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004836C2-A2CD-99BF-5D67-C96701DE7AF3}"/>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2DD1BAD9-B81F-C74B-7625-E01EED4AFB88}"/>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85DCEB54-54D3-F222-699C-B363EB378471}"/>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1CDBFDD8-617C-059A-012E-DAEF3FE7ACE3}"/>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A8FF6D0D-37C1-4671-C699-8BC6DD899C8C}"/>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18E1FE2D-4180-34C9-C7B8-4D8004F5DA02}"/>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146B7DAB-73F0-E1FD-82EE-E36309B64C34}"/>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19553494-2A70-D8FC-D824-2033E7E7BD4E}"/>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56CF6FA9-6587-DCBD-39BC-2B1D96805648}"/>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5F23EDAD-BAA7-A170-60E1-6EBEB3BEC447}"/>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8A3BED97-BE1C-08CE-0522-66862A9E28FE}"/>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D45DEA08-DCAB-A231-7D3A-1AA5CB3AB8B9}"/>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A09D5967-4D18-1AB4-21EA-50810E261002}"/>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AD662E3D-1154-BFAC-895B-F938B7D5E72F}"/>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C9CEE49E-05B7-02DE-699A-2A3D04D22340}"/>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43A33C56-706E-C6F7-73BC-A6F740CDFF0B}"/>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F10F75B2-6309-5624-D7B3-8DC5E3AF1335}"/>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9E8FE6BA-BF09-F2E1-58BA-12BCA13C1223}"/>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16B33883-C23E-6DA5-1AF3-E8CB49A8C876}"/>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F763BD66-46E9-2F09-B494-2EFE6D243516}"/>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D9023E68-5AC3-63F4-0BE4-2C1694BF5F15}"/>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A369D09E-66B3-A72A-6D89-8091F292602A}"/>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23514984-FA2A-F7D8-FAEF-41EA62A01BF1}"/>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0979F4BF-4C1B-46C8-8F23-262BFD43FFB6}" type="slidenum">
              <a:rPr lang="en-US" altLang="en-US"/>
              <a:pPr/>
              <a:t>‹#›</a:t>
            </a:fld>
            <a:endParaRPr lang="en-US" altLang="en-US"/>
          </a:p>
        </p:txBody>
      </p:sp>
      <p:sp>
        <p:nvSpPr>
          <p:cNvPr id="1031" name="Rectangle 35">
            <a:extLst>
              <a:ext uri="{FF2B5EF4-FFF2-40B4-BE49-F238E27FC236}">
                <a16:creationId xmlns:a16="http://schemas.microsoft.com/office/drawing/2014/main" id="{2259DA18-6331-89B4-D73D-660FD68A7946}"/>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a:latin typeface="Arial" pitchFamily="34" charset="0"/>
              </a:rPr>
              <a:t>Liang, Introduction to Java Programming, Tenth Edition, (c) 2015 Pearson Education, Inc. All rights reserved. </a:t>
            </a:r>
          </a:p>
        </p:txBody>
      </p:sp>
    </p:spTree>
  </p:cSld>
  <p:clrMap bg1="lt1" tx1="dk1" bg2="lt2" tx2="dk2" accent1="accent1" accent2="accent2" accent3="accent3" accent4="accent4" accent5="accent5" accent6="accent6" hlink="hlink" folHlink="folHlink"/>
  <p:sldLayoutIdLst>
    <p:sldLayoutId id="2147483829"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cs.armstrong.edu/liang/animation/ShortestPathAnimation.html"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cs.armstrong.edu/liang/animation/WeightedGraphLearningTool.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5.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hyperlink" Target="http://www.cs.armstrong.edu/liang/intro10e/html/WeightedEdge.html" TargetMode="External"/><Relationship Id="rId2" Type="http://schemas.openxmlformats.org/officeDocument/2006/relationships/hyperlink" Target="html/WeightedEdge.html"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www.cs.armstrong.edu/liang/intro10e/html/AbstractGraph.html" TargetMode="External"/><Relationship Id="rId3" Type="http://schemas.openxmlformats.org/officeDocument/2006/relationships/hyperlink" Target="html/TestWeightedGraph.bat" TargetMode="External"/><Relationship Id="rId7" Type="http://schemas.openxmlformats.org/officeDocument/2006/relationships/hyperlink" Target="http://www.cs.armstrong.edu/liang/intro10e/html/TestWeightedGraph.html" TargetMode="External"/><Relationship Id="rId2" Type="http://schemas.openxmlformats.org/officeDocument/2006/relationships/hyperlink" Target="html/Graph.html" TargetMode="External"/><Relationship Id="rId1" Type="http://schemas.openxmlformats.org/officeDocument/2006/relationships/slideLayout" Target="../slideLayouts/slideLayout2.xml"/><Relationship Id="rId6" Type="http://schemas.openxmlformats.org/officeDocument/2006/relationships/hyperlink" Target="html/TestWeightedGraph.html" TargetMode="External"/><Relationship Id="rId11" Type="http://schemas.openxmlformats.org/officeDocument/2006/relationships/image" Target="../media/image7.png"/><Relationship Id="rId5" Type="http://schemas.openxmlformats.org/officeDocument/2006/relationships/hyperlink" Target="html/WeightedGraph.html" TargetMode="External"/><Relationship Id="rId10" Type="http://schemas.openxmlformats.org/officeDocument/2006/relationships/hyperlink" Target="http://www.cs.armstrong.edu/liang/intro10e/html/Graph.html" TargetMode="External"/><Relationship Id="rId4" Type="http://schemas.openxmlformats.org/officeDocument/2006/relationships/hyperlink" Target="html/AbstractGraph.html" TargetMode="External"/><Relationship Id="rId9" Type="http://schemas.openxmlformats.org/officeDocument/2006/relationships/hyperlink" Target="http://www.cs.armstrong.edu/liang/intro10e/html/WeightedGraph.html" TargetMode="Externa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 Id="rId9" Type="http://schemas.openxmlformats.org/officeDocument/2006/relationships/image" Target="../media/image11.wmf"/></Relationships>
</file>

<file path=ppt/slides/_rels/slide1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ml/TestMinimumSpanningTree.html" TargetMode="External"/><Relationship Id="rId2" Type="http://schemas.openxmlformats.org/officeDocument/2006/relationships/hyperlink" Target="html/TestMinimumSpanningTree.bat" TargetMode="External"/><Relationship Id="rId1" Type="http://schemas.openxmlformats.org/officeDocument/2006/relationships/slideLayout" Target="../slideLayouts/slideLayout2.xml"/><Relationship Id="rId5" Type="http://schemas.openxmlformats.org/officeDocument/2006/relationships/hyperlink" Target="http://www.cs.armstrong.edu/liang/intro10e/html/TestMinimumSpanningTree.html" TargetMode="Externa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ml/TestShortestPath.html" TargetMode="External"/><Relationship Id="rId2" Type="http://schemas.openxmlformats.org/officeDocument/2006/relationships/hyperlink" Target="html/TestShortestPath.bat" TargetMode="Externa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www.cs.armstrong.edu/liang/intro10e/html/TestShortestPath.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cs.armstrong.edu/liang/animation/ShortestPathAnimation.html"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13.bin"/></Relationships>
</file>

<file path=ppt/slides/_rels/slide36.xml.rels><?xml version="1.0" encoding="UTF-8" standalone="yes"?>
<Relationships xmlns="http://schemas.openxmlformats.org/package/2006/relationships"><Relationship Id="rId3" Type="http://schemas.openxmlformats.org/officeDocument/2006/relationships/hyperlink" Target="html/WeightedNineTailModel.html" TargetMode="External"/><Relationship Id="rId7" Type="http://schemas.openxmlformats.org/officeDocument/2006/relationships/hyperlink" Target="html/NineTailModel.html" TargetMode="External"/><Relationship Id="rId2" Type="http://schemas.openxmlformats.org/officeDocument/2006/relationships/hyperlink" Target="html/WeightedNineTail.bat" TargetMode="Externa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hyperlink" Target="http://www.cs.armstrong.edu/liang/intro10e/html/NineTailModel.html" TargetMode="External"/><Relationship Id="rId4" Type="http://schemas.openxmlformats.org/officeDocument/2006/relationships/hyperlink" Target="http://www.cs.armstrong.edu/liang/intro10e/html/WeightedNineTailMode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a:extLst>
              <a:ext uri="{FF2B5EF4-FFF2-40B4-BE49-F238E27FC236}">
                <a16:creationId xmlns:a16="http://schemas.microsoft.com/office/drawing/2014/main" id="{199B0970-AE88-B825-5B4F-04BF34B901D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9302783-773B-4B0D-9608-FD3826CC14C5}" type="slidenum">
              <a:rPr lang="en-US" altLang="en-US" sz="1400"/>
              <a:pPr>
                <a:spcBef>
                  <a:spcPct val="0"/>
                </a:spcBef>
                <a:buClrTx/>
                <a:buSzTx/>
                <a:buFontTx/>
                <a:buNone/>
              </a:pPr>
              <a:t>1</a:t>
            </a:fld>
            <a:endParaRPr lang="en-US" altLang="en-US" sz="1400"/>
          </a:p>
        </p:txBody>
      </p:sp>
      <p:sp>
        <p:nvSpPr>
          <p:cNvPr id="3075" name="Rectangle 2">
            <a:extLst>
              <a:ext uri="{FF2B5EF4-FFF2-40B4-BE49-F238E27FC236}">
                <a16:creationId xmlns:a16="http://schemas.microsoft.com/office/drawing/2014/main" id="{A7B7B90D-5A16-B4E2-C0B0-871BAA317BC5}"/>
              </a:ext>
            </a:extLst>
          </p:cNvPr>
          <p:cNvSpPr>
            <a:spLocks noGrp="1" noChangeArrowheads="1"/>
          </p:cNvSpPr>
          <p:nvPr>
            <p:ph type="title"/>
          </p:nvPr>
        </p:nvSpPr>
        <p:spPr>
          <a:xfrm>
            <a:off x="304800" y="1676400"/>
            <a:ext cx="8534400" cy="1524000"/>
          </a:xfrm>
        </p:spPr>
        <p:txBody>
          <a:bodyPr/>
          <a:lstStyle/>
          <a:p>
            <a:r>
              <a:rPr lang="en-US" altLang="en-US" sz="4000"/>
              <a:t>Chapter 29 Weighted Graphs and Applications</a:t>
            </a:r>
          </a:p>
        </p:txBody>
      </p:sp>
      <p:sp>
        <p:nvSpPr>
          <p:cNvPr id="3076" name="Rectangle 7">
            <a:extLst>
              <a:ext uri="{FF2B5EF4-FFF2-40B4-BE49-F238E27FC236}">
                <a16:creationId xmlns:a16="http://schemas.microsoft.com/office/drawing/2014/main" id="{AA92307B-A64F-373F-5E44-275ABD178BC9}"/>
              </a:ext>
            </a:extLst>
          </p:cNvPr>
          <p:cNvSpPr>
            <a:spLocks noChangeArrowheads="1"/>
          </p:cNvSpPr>
          <p:nvPr/>
        </p:nvSpPr>
        <p:spPr bwMode="auto">
          <a:xfrm>
            <a:off x="2109788" y="2319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7" name="Rectangle 9">
            <a:extLst>
              <a:ext uri="{FF2B5EF4-FFF2-40B4-BE49-F238E27FC236}">
                <a16:creationId xmlns:a16="http://schemas.microsoft.com/office/drawing/2014/main" id="{91D44DE9-1E02-72C4-FE48-2856DC5DA866}"/>
              </a:ext>
            </a:extLst>
          </p:cNvPr>
          <p:cNvSpPr>
            <a:spLocks noChangeArrowheads="1"/>
          </p:cNvSpPr>
          <p:nvPr/>
        </p:nvSpPr>
        <p:spPr bwMode="auto">
          <a:xfrm>
            <a:off x="2109788" y="2319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3A0ABB6D-F74B-20E3-6B72-D679DC7AEA8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3C01AAE-8190-4D39-8298-3DFAB2A1647A}" type="slidenum">
              <a:rPr lang="en-US" altLang="en-US" sz="1400"/>
              <a:pPr>
                <a:spcBef>
                  <a:spcPct val="0"/>
                </a:spcBef>
                <a:buClrTx/>
                <a:buSzTx/>
                <a:buFontTx/>
                <a:buNone/>
              </a:pPr>
              <a:t>2</a:t>
            </a:fld>
            <a:endParaRPr lang="en-US" altLang="en-US" sz="1400"/>
          </a:p>
        </p:txBody>
      </p:sp>
      <p:sp>
        <p:nvSpPr>
          <p:cNvPr id="4099" name="Rectangle 2">
            <a:extLst>
              <a:ext uri="{FF2B5EF4-FFF2-40B4-BE49-F238E27FC236}">
                <a16:creationId xmlns:a16="http://schemas.microsoft.com/office/drawing/2014/main" id="{40FFED54-28F3-5BAC-1E50-489919E1D576}"/>
              </a:ext>
            </a:extLst>
          </p:cNvPr>
          <p:cNvSpPr>
            <a:spLocks noGrp="1" noChangeArrowheads="1"/>
          </p:cNvSpPr>
          <p:nvPr>
            <p:ph type="title"/>
          </p:nvPr>
        </p:nvSpPr>
        <p:spPr>
          <a:xfrm>
            <a:off x="685800" y="152400"/>
            <a:ext cx="7772400" cy="552450"/>
          </a:xfrm>
        </p:spPr>
        <p:txBody>
          <a:bodyPr/>
          <a:lstStyle/>
          <a:p>
            <a:r>
              <a:rPr lang="en-US" altLang="en-US"/>
              <a:t>Objectives</a:t>
            </a:r>
          </a:p>
        </p:txBody>
      </p:sp>
      <p:sp>
        <p:nvSpPr>
          <p:cNvPr id="4100" name="Rectangle 3">
            <a:extLst>
              <a:ext uri="{FF2B5EF4-FFF2-40B4-BE49-F238E27FC236}">
                <a16:creationId xmlns:a16="http://schemas.microsoft.com/office/drawing/2014/main" id="{BC8A74FE-0101-5B14-34CE-97CAC0F7CC47}"/>
              </a:ext>
            </a:extLst>
          </p:cNvPr>
          <p:cNvSpPr>
            <a:spLocks noGrp="1" noChangeArrowheads="1"/>
          </p:cNvSpPr>
          <p:nvPr>
            <p:ph type="body" idx="1"/>
          </p:nvPr>
        </p:nvSpPr>
        <p:spPr>
          <a:xfrm>
            <a:off x="0" y="914400"/>
            <a:ext cx="9144000" cy="5638800"/>
          </a:xfrm>
        </p:spPr>
        <p:txBody>
          <a:bodyPr/>
          <a:lstStyle/>
          <a:p>
            <a:pPr marL="628650" indent="-457200">
              <a:lnSpc>
                <a:spcPct val="80000"/>
              </a:lnSpc>
              <a:buFont typeface="Wingdings" panose="05000000000000000000" pitchFamily="2" charset="2"/>
              <a:buChar char="§"/>
            </a:pPr>
            <a:r>
              <a:rPr lang="en-US" altLang="en-US" sz="2800"/>
              <a:t>To represent weighted edges using adjacency matrices and adjacency lists (§29.2).</a:t>
            </a:r>
          </a:p>
          <a:p>
            <a:pPr marL="628650" indent="-457200">
              <a:lnSpc>
                <a:spcPct val="80000"/>
              </a:lnSpc>
              <a:buFont typeface="Wingdings" panose="05000000000000000000" pitchFamily="2" charset="2"/>
              <a:buChar char="§"/>
            </a:pPr>
            <a:r>
              <a:rPr lang="en-US" altLang="en-US" sz="2800"/>
              <a:t>To model weighted graphs using the WeightedGraph class that extends the AbstractGraph class (§29.3).</a:t>
            </a:r>
          </a:p>
          <a:p>
            <a:pPr marL="628650" indent="-457200">
              <a:lnSpc>
                <a:spcPct val="80000"/>
              </a:lnSpc>
              <a:buFont typeface="Wingdings" panose="05000000000000000000" pitchFamily="2" charset="2"/>
              <a:buChar char="§"/>
            </a:pPr>
            <a:r>
              <a:rPr lang="en-US" altLang="en-US" sz="2800"/>
              <a:t>To design and implement the algorithm for finding a minimum spanning tree (§29.4).</a:t>
            </a:r>
          </a:p>
          <a:p>
            <a:pPr marL="628650" indent="-457200">
              <a:lnSpc>
                <a:spcPct val="80000"/>
              </a:lnSpc>
              <a:buFont typeface="Wingdings" panose="05000000000000000000" pitchFamily="2" charset="2"/>
              <a:buChar char="§"/>
            </a:pPr>
            <a:r>
              <a:rPr lang="en-US" altLang="en-US" sz="2800"/>
              <a:t>To define the MST class that extends the Tree class (§29.4).</a:t>
            </a:r>
          </a:p>
          <a:p>
            <a:pPr marL="628650" indent="-457200">
              <a:lnSpc>
                <a:spcPct val="80000"/>
              </a:lnSpc>
              <a:buFont typeface="Wingdings" panose="05000000000000000000" pitchFamily="2" charset="2"/>
              <a:buChar char="§"/>
            </a:pPr>
            <a:r>
              <a:rPr lang="en-US" altLang="en-US" sz="2800"/>
              <a:t>To design and implement the algorithm for finding single-source shortest paths (§29.5).</a:t>
            </a:r>
          </a:p>
          <a:p>
            <a:pPr marL="628650" indent="-457200">
              <a:lnSpc>
                <a:spcPct val="80000"/>
              </a:lnSpc>
              <a:buFont typeface="Wingdings" panose="05000000000000000000" pitchFamily="2" charset="2"/>
              <a:buChar char="§"/>
            </a:pPr>
            <a:r>
              <a:rPr lang="en-US" altLang="en-US" sz="2800"/>
              <a:t>To define the ShortestPathTree class that extends the Tree class (§29.5).</a:t>
            </a:r>
          </a:p>
          <a:p>
            <a:pPr marL="628650" indent="-457200">
              <a:lnSpc>
                <a:spcPct val="80000"/>
              </a:lnSpc>
              <a:buFont typeface="Wingdings" panose="05000000000000000000" pitchFamily="2" charset="2"/>
              <a:buChar char="§"/>
            </a:pPr>
            <a:r>
              <a:rPr lang="en-US" altLang="en-US" sz="2800"/>
              <a:t>To solve the weighted nine tail problem using the shortest-path algorithm (§29.6).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369327C7-0440-BA64-9EDB-00659D90A35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AE3AE5E-36EC-4DDE-852F-97618D882700}" type="slidenum">
              <a:rPr lang="en-US" altLang="en-US" sz="1400"/>
              <a:pPr>
                <a:spcBef>
                  <a:spcPct val="0"/>
                </a:spcBef>
                <a:buClrTx/>
                <a:buSzTx/>
                <a:buFontTx/>
                <a:buNone/>
              </a:pPr>
              <a:t>3</a:t>
            </a:fld>
            <a:endParaRPr lang="en-US" altLang="en-US" sz="1400"/>
          </a:p>
        </p:txBody>
      </p:sp>
      <p:sp>
        <p:nvSpPr>
          <p:cNvPr id="5123" name="Rectangle 2">
            <a:extLst>
              <a:ext uri="{FF2B5EF4-FFF2-40B4-BE49-F238E27FC236}">
                <a16:creationId xmlns:a16="http://schemas.microsoft.com/office/drawing/2014/main" id="{A7F9B720-A94B-B341-3321-714FEABDB7D5}"/>
              </a:ext>
            </a:extLst>
          </p:cNvPr>
          <p:cNvSpPr>
            <a:spLocks noGrp="1" noChangeArrowheads="1"/>
          </p:cNvSpPr>
          <p:nvPr>
            <p:ph type="title"/>
          </p:nvPr>
        </p:nvSpPr>
        <p:spPr>
          <a:xfrm>
            <a:off x="179388" y="152400"/>
            <a:ext cx="8659812" cy="533400"/>
          </a:xfrm>
          <a:noFill/>
        </p:spPr>
        <p:txBody>
          <a:bodyPr/>
          <a:lstStyle/>
          <a:p>
            <a:r>
              <a:rPr lang="en-US" altLang="en-US" sz="3600"/>
              <a:t>Weighted Graph Animation</a:t>
            </a:r>
          </a:p>
        </p:txBody>
      </p:sp>
      <p:sp>
        <p:nvSpPr>
          <p:cNvPr id="5124" name="Rectangle 3">
            <a:extLst>
              <a:ext uri="{FF2B5EF4-FFF2-40B4-BE49-F238E27FC236}">
                <a16:creationId xmlns:a16="http://schemas.microsoft.com/office/drawing/2014/main" id="{677AE72B-BC76-A731-562D-A86E73DAA8A9}"/>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5" name="Rectangle 4">
            <a:extLst>
              <a:ext uri="{FF2B5EF4-FFF2-40B4-BE49-F238E27FC236}">
                <a16:creationId xmlns:a16="http://schemas.microsoft.com/office/drawing/2014/main" id="{3BF5F620-3142-2E88-3FEE-44F09CF55EED}"/>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6" name="Rectangle 5">
            <a:extLst>
              <a:ext uri="{FF2B5EF4-FFF2-40B4-BE49-F238E27FC236}">
                <a16:creationId xmlns:a16="http://schemas.microsoft.com/office/drawing/2014/main" id="{1771D5FF-24B9-9A32-8B49-A1EA2A53E8C7}"/>
              </a:ext>
            </a:extLst>
          </p:cNvPr>
          <p:cNvSpPr>
            <a:spLocks noChangeArrowheads="1"/>
          </p:cNvSpPr>
          <p:nvPr/>
        </p:nvSpPr>
        <p:spPr bwMode="auto">
          <a:xfrm>
            <a:off x="3462338" y="3095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7" name="Rectangle 6">
            <a:extLst>
              <a:ext uri="{FF2B5EF4-FFF2-40B4-BE49-F238E27FC236}">
                <a16:creationId xmlns:a16="http://schemas.microsoft.com/office/drawing/2014/main" id="{79E6EFC1-26D2-9CA7-29FE-C89ECBBC8AF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5128" name="Picture 8">
            <a:extLst>
              <a:ext uri="{FF2B5EF4-FFF2-40B4-BE49-F238E27FC236}">
                <a16:creationId xmlns:a16="http://schemas.microsoft.com/office/drawing/2014/main" id="{EBB9126A-8AA5-6242-CC6C-E9E6C64DB97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24000"/>
            <a:ext cx="5867400"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9" name="Rounded Rectangle 1">
            <a:hlinkClick r:id="rId3"/>
            <a:extLst>
              <a:ext uri="{FF2B5EF4-FFF2-40B4-BE49-F238E27FC236}">
                <a16:creationId xmlns:a16="http://schemas.microsoft.com/office/drawing/2014/main" id="{76C64E19-B02F-7C58-8A48-86E9C446A245}"/>
              </a:ext>
            </a:extLst>
          </p:cNvPr>
          <p:cNvSpPr>
            <a:spLocks noChangeArrowheads="1"/>
          </p:cNvSpPr>
          <p:nvPr/>
        </p:nvSpPr>
        <p:spPr bwMode="auto">
          <a:xfrm>
            <a:off x="179388" y="685800"/>
            <a:ext cx="8659812" cy="6096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 typeface="Monotype Sorts"/>
              <a:buNone/>
            </a:pPr>
            <a:r>
              <a:rPr lang="en-US" altLang="en-US" sz="2400" u="sng">
                <a:solidFill>
                  <a:srgbClr val="009C47"/>
                </a:solidFill>
              </a:rPr>
              <a:t>www.cs.armstrong.edu/liang/animation/ShortestPathAnimation.html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071775B0-1A67-0766-A158-C1DB68E2879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5F3121-0566-4E22-9A60-6DC81EBEFB57}" type="slidenum">
              <a:rPr lang="en-US" altLang="en-US" sz="1400"/>
              <a:pPr>
                <a:spcBef>
                  <a:spcPct val="0"/>
                </a:spcBef>
                <a:buClrTx/>
                <a:buSzTx/>
                <a:buFontTx/>
                <a:buNone/>
              </a:pPr>
              <a:t>4</a:t>
            </a:fld>
            <a:endParaRPr lang="en-US" altLang="en-US" sz="1400"/>
          </a:p>
        </p:txBody>
      </p:sp>
      <p:sp>
        <p:nvSpPr>
          <p:cNvPr id="6147" name="Rectangle 2">
            <a:extLst>
              <a:ext uri="{FF2B5EF4-FFF2-40B4-BE49-F238E27FC236}">
                <a16:creationId xmlns:a16="http://schemas.microsoft.com/office/drawing/2014/main" id="{45D06AD9-FBD2-4E32-91E7-9B215D086E58}"/>
              </a:ext>
            </a:extLst>
          </p:cNvPr>
          <p:cNvSpPr>
            <a:spLocks noGrp="1" noChangeArrowheads="1"/>
          </p:cNvSpPr>
          <p:nvPr>
            <p:ph type="title"/>
          </p:nvPr>
        </p:nvSpPr>
        <p:spPr>
          <a:xfrm>
            <a:off x="179388" y="152400"/>
            <a:ext cx="8659812" cy="533400"/>
          </a:xfrm>
          <a:noFill/>
        </p:spPr>
        <p:txBody>
          <a:bodyPr/>
          <a:lstStyle/>
          <a:p>
            <a:r>
              <a:rPr lang="en-US" altLang="en-US" sz="3600"/>
              <a:t>Weighted Graph Animation</a:t>
            </a:r>
          </a:p>
        </p:txBody>
      </p:sp>
      <p:sp>
        <p:nvSpPr>
          <p:cNvPr id="6148" name="Rectangle 3">
            <a:extLst>
              <a:ext uri="{FF2B5EF4-FFF2-40B4-BE49-F238E27FC236}">
                <a16:creationId xmlns:a16="http://schemas.microsoft.com/office/drawing/2014/main" id="{1C2D2EE8-6706-85B8-1A79-C010DEAC763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49" name="Rectangle 4">
            <a:extLst>
              <a:ext uri="{FF2B5EF4-FFF2-40B4-BE49-F238E27FC236}">
                <a16:creationId xmlns:a16="http://schemas.microsoft.com/office/drawing/2014/main" id="{65B2BACF-2B0D-6E1A-1727-15F08D1098C9}"/>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0" name="Rectangle 5">
            <a:extLst>
              <a:ext uri="{FF2B5EF4-FFF2-40B4-BE49-F238E27FC236}">
                <a16:creationId xmlns:a16="http://schemas.microsoft.com/office/drawing/2014/main" id="{F8BB6FC6-82CB-F622-2C1A-6A759BAF3A8D}"/>
              </a:ext>
            </a:extLst>
          </p:cNvPr>
          <p:cNvSpPr>
            <a:spLocks noChangeArrowheads="1"/>
          </p:cNvSpPr>
          <p:nvPr/>
        </p:nvSpPr>
        <p:spPr bwMode="auto">
          <a:xfrm>
            <a:off x="3462338" y="3095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1" name="Rectangle 6">
            <a:extLst>
              <a:ext uri="{FF2B5EF4-FFF2-40B4-BE49-F238E27FC236}">
                <a16:creationId xmlns:a16="http://schemas.microsoft.com/office/drawing/2014/main" id="{B038D986-EB9D-1144-AA79-BC124254CF08}"/>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6152" name="Picture 9">
            <a:extLst>
              <a:ext uri="{FF2B5EF4-FFF2-40B4-BE49-F238E27FC236}">
                <a16:creationId xmlns:a16="http://schemas.microsoft.com/office/drawing/2014/main" id="{ED35BFE6-6725-5C12-A5CD-07C0C140B282}"/>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47800"/>
            <a:ext cx="8763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 name="Rounded Rectangle 1">
            <a:hlinkClick r:id="rId3"/>
            <a:extLst>
              <a:ext uri="{FF2B5EF4-FFF2-40B4-BE49-F238E27FC236}">
                <a16:creationId xmlns:a16="http://schemas.microsoft.com/office/drawing/2014/main" id="{3A0451AE-75D4-BF5C-8D65-D7A556790DE4}"/>
              </a:ext>
            </a:extLst>
          </p:cNvPr>
          <p:cNvSpPr>
            <a:spLocks noChangeArrowheads="1"/>
          </p:cNvSpPr>
          <p:nvPr/>
        </p:nvSpPr>
        <p:spPr bwMode="auto">
          <a:xfrm>
            <a:off x="457200" y="762000"/>
            <a:ext cx="8229600" cy="5334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 typeface="Monotype Sorts"/>
              <a:buNone/>
            </a:pPr>
            <a:r>
              <a:rPr lang="en-US" altLang="en-US" sz="2000" u="sng">
                <a:solidFill>
                  <a:srgbClr val="009C47"/>
                </a:solidFill>
              </a:rPr>
              <a:t>www.cs.armstrong.edu/liang/animation/WeightedGraphLearningTool.html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F3A92AAC-6D69-BDFF-6F9A-4B6B686066D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51F2A72-0920-442F-B8EC-9639267CEEBE}" type="slidenum">
              <a:rPr lang="en-US" altLang="en-US" sz="1400"/>
              <a:pPr>
                <a:spcBef>
                  <a:spcPct val="0"/>
                </a:spcBef>
                <a:buClrTx/>
                <a:buSzTx/>
                <a:buFontTx/>
                <a:buNone/>
              </a:pPr>
              <a:t>5</a:t>
            </a:fld>
            <a:endParaRPr lang="en-US" altLang="en-US" sz="1400"/>
          </a:p>
        </p:txBody>
      </p:sp>
      <p:sp>
        <p:nvSpPr>
          <p:cNvPr id="7171" name="Rectangle 2">
            <a:extLst>
              <a:ext uri="{FF2B5EF4-FFF2-40B4-BE49-F238E27FC236}">
                <a16:creationId xmlns:a16="http://schemas.microsoft.com/office/drawing/2014/main" id="{C7DFEDCE-85CE-961F-2FE2-38595422E5F1}"/>
              </a:ext>
            </a:extLst>
          </p:cNvPr>
          <p:cNvSpPr>
            <a:spLocks noGrp="1" noChangeArrowheads="1"/>
          </p:cNvSpPr>
          <p:nvPr>
            <p:ph type="title"/>
          </p:nvPr>
        </p:nvSpPr>
        <p:spPr>
          <a:xfrm>
            <a:off x="685800" y="285750"/>
            <a:ext cx="7772400" cy="704850"/>
          </a:xfrm>
        </p:spPr>
        <p:txBody>
          <a:bodyPr/>
          <a:lstStyle/>
          <a:p>
            <a:r>
              <a:rPr lang="en-US" altLang="en-US"/>
              <a:t>Representing Weighted Graphs </a:t>
            </a:r>
          </a:p>
        </p:txBody>
      </p:sp>
      <p:sp>
        <p:nvSpPr>
          <p:cNvPr id="7172" name="Text Box 3">
            <a:extLst>
              <a:ext uri="{FF2B5EF4-FFF2-40B4-BE49-F238E27FC236}">
                <a16:creationId xmlns:a16="http://schemas.microsoft.com/office/drawing/2014/main" id="{35C030A2-01C8-14E7-890F-8E9AA635E4C9}"/>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7173" name="Text Box 4">
            <a:extLst>
              <a:ext uri="{FF2B5EF4-FFF2-40B4-BE49-F238E27FC236}">
                <a16:creationId xmlns:a16="http://schemas.microsoft.com/office/drawing/2014/main" id="{8E3F14E3-8A8B-0693-8506-1A0FEF8496F0}"/>
              </a:ext>
            </a:extLst>
          </p:cNvPr>
          <p:cNvSpPr txBox="1">
            <a:spLocks noChangeArrowheads="1"/>
          </p:cNvSpPr>
          <p:nvPr/>
        </p:nvSpPr>
        <p:spPr bwMode="auto">
          <a:xfrm>
            <a:off x="304800" y="1219200"/>
            <a:ext cx="8610600"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Representing Weighted Edges: Edge Array </a:t>
            </a:r>
          </a:p>
          <a:p>
            <a:pPr>
              <a:spcBef>
                <a:spcPct val="0"/>
              </a:spcBef>
              <a:spcAft>
                <a:spcPts val="1200"/>
              </a:spcAft>
              <a:buClrTx/>
              <a:buSzTx/>
              <a:buFontTx/>
              <a:buNone/>
            </a:pPr>
            <a:r>
              <a:rPr lang="en-US" altLang="en-US" sz="2400"/>
              <a:t>Weighted Adjacency Matrices </a:t>
            </a:r>
          </a:p>
          <a:p>
            <a:pPr>
              <a:spcBef>
                <a:spcPct val="0"/>
              </a:spcBef>
              <a:spcAft>
                <a:spcPts val="1200"/>
              </a:spcAft>
              <a:buClrTx/>
              <a:buSzTx/>
              <a:buFontTx/>
              <a:buNone/>
            </a:pPr>
            <a:r>
              <a:rPr lang="en-US" altLang="en-US" sz="2400"/>
              <a:t>Adjacency Lists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972D7224-5DF3-BDC4-8959-B00F1C57D64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EDB1E60-2543-41DF-B5C5-4CEF6DA51DA9}" type="slidenum">
              <a:rPr lang="en-US" altLang="en-US" sz="1400"/>
              <a:pPr>
                <a:spcBef>
                  <a:spcPct val="0"/>
                </a:spcBef>
                <a:buClrTx/>
                <a:buSzTx/>
                <a:buFontTx/>
                <a:buNone/>
              </a:pPr>
              <a:t>6</a:t>
            </a:fld>
            <a:endParaRPr lang="en-US" altLang="en-US" sz="1400"/>
          </a:p>
        </p:txBody>
      </p:sp>
      <p:sp>
        <p:nvSpPr>
          <p:cNvPr id="8195" name="Rectangle 2">
            <a:extLst>
              <a:ext uri="{FF2B5EF4-FFF2-40B4-BE49-F238E27FC236}">
                <a16:creationId xmlns:a16="http://schemas.microsoft.com/office/drawing/2014/main" id="{2C4B8461-E2DA-609C-BA94-C924BC0BD794}"/>
              </a:ext>
            </a:extLst>
          </p:cNvPr>
          <p:cNvSpPr>
            <a:spLocks noGrp="1" noChangeArrowheads="1"/>
          </p:cNvSpPr>
          <p:nvPr>
            <p:ph type="title"/>
          </p:nvPr>
        </p:nvSpPr>
        <p:spPr>
          <a:xfrm>
            <a:off x="228600" y="285750"/>
            <a:ext cx="8686800" cy="704850"/>
          </a:xfrm>
        </p:spPr>
        <p:txBody>
          <a:bodyPr/>
          <a:lstStyle/>
          <a:p>
            <a:r>
              <a:rPr lang="en-US" altLang="en-US" sz="3600"/>
              <a:t>Representing Weighted Edges: Edge Array</a:t>
            </a:r>
            <a:r>
              <a:rPr lang="en-US" altLang="en-US"/>
              <a:t> </a:t>
            </a:r>
          </a:p>
        </p:txBody>
      </p:sp>
      <p:sp>
        <p:nvSpPr>
          <p:cNvPr id="8196" name="Text Box 3">
            <a:extLst>
              <a:ext uri="{FF2B5EF4-FFF2-40B4-BE49-F238E27FC236}">
                <a16:creationId xmlns:a16="http://schemas.microsoft.com/office/drawing/2014/main" id="{FC2E3B13-7A80-4CFE-4F2B-D62B8EB200A5}"/>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8197" name="Rectangle 6">
            <a:extLst>
              <a:ext uri="{FF2B5EF4-FFF2-40B4-BE49-F238E27FC236}">
                <a16:creationId xmlns:a16="http://schemas.microsoft.com/office/drawing/2014/main" id="{AA550FE2-AB6B-70C9-2B01-1AC332F580C2}"/>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8" name="Rectangle 8">
            <a:extLst>
              <a:ext uri="{FF2B5EF4-FFF2-40B4-BE49-F238E27FC236}">
                <a16:creationId xmlns:a16="http://schemas.microsoft.com/office/drawing/2014/main" id="{B4098E3C-7E93-C6FF-3AEB-4CBD7DD95297}"/>
              </a:ext>
            </a:extLst>
          </p:cNvPr>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9" name="Text Box 9">
            <a:extLst>
              <a:ext uri="{FF2B5EF4-FFF2-40B4-BE49-F238E27FC236}">
                <a16:creationId xmlns:a16="http://schemas.microsoft.com/office/drawing/2014/main" id="{EA0F3D0D-9B05-02EA-C733-970264A8E393}"/>
              </a:ext>
            </a:extLst>
          </p:cNvPr>
          <p:cNvSpPr txBox="1">
            <a:spLocks noChangeArrowheads="1"/>
          </p:cNvSpPr>
          <p:nvPr/>
        </p:nvSpPr>
        <p:spPr bwMode="auto">
          <a:xfrm>
            <a:off x="533400" y="1371600"/>
            <a:ext cx="57150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a:t>int</a:t>
            </a:r>
            <a:r>
              <a:rPr lang="en-US" altLang="en-US" sz="2400"/>
              <a:t>[][] edges = {{0, 1, 2}, {0, 3, 8}, </a:t>
            </a:r>
          </a:p>
          <a:p>
            <a:pPr>
              <a:spcBef>
                <a:spcPct val="0"/>
              </a:spcBef>
              <a:buClrTx/>
              <a:buSzTx/>
              <a:buFontTx/>
              <a:buNone/>
            </a:pPr>
            <a:r>
              <a:rPr lang="en-US" altLang="en-US" sz="2400"/>
              <a:t>  {1, 0, 2}, {1, 2, 7}, {1, 3, 3},</a:t>
            </a:r>
          </a:p>
          <a:p>
            <a:pPr>
              <a:spcBef>
                <a:spcPct val="0"/>
              </a:spcBef>
              <a:buClrTx/>
              <a:buSzTx/>
              <a:buFontTx/>
              <a:buNone/>
            </a:pPr>
            <a:r>
              <a:rPr lang="en-US" altLang="en-US" sz="2400"/>
              <a:t>  {2, 1, 7}, {2, 3, 4}, {2, 4, 5},</a:t>
            </a:r>
          </a:p>
          <a:p>
            <a:pPr>
              <a:spcBef>
                <a:spcPct val="0"/>
              </a:spcBef>
              <a:buClrTx/>
              <a:buSzTx/>
              <a:buFontTx/>
              <a:buNone/>
            </a:pPr>
            <a:r>
              <a:rPr lang="en-US" altLang="en-US" sz="2400"/>
              <a:t>  {3, 0, 8}, {3, 1, 3}, {3, 2, 4}, {3, 4, 6},</a:t>
            </a:r>
          </a:p>
          <a:p>
            <a:pPr>
              <a:spcBef>
                <a:spcPct val="0"/>
              </a:spcBef>
              <a:buClrTx/>
              <a:buSzTx/>
              <a:buFontTx/>
              <a:buNone/>
            </a:pPr>
            <a:r>
              <a:rPr lang="en-US" altLang="en-US" sz="2400"/>
              <a:t>  {4, 2, 5}, {4, 3, 6}</a:t>
            </a:r>
          </a:p>
          <a:p>
            <a:pPr>
              <a:spcBef>
                <a:spcPct val="0"/>
              </a:spcBef>
              <a:buClrTx/>
              <a:buSzTx/>
              <a:buFontTx/>
              <a:buNone/>
            </a:pPr>
            <a:r>
              <a:rPr lang="en-US" altLang="en-US" sz="2400"/>
              <a:t>}; </a:t>
            </a:r>
          </a:p>
        </p:txBody>
      </p:sp>
      <p:sp>
        <p:nvSpPr>
          <p:cNvPr id="8200" name="Rectangle 11">
            <a:extLst>
              <a:ext uri="{FF2B5EF4-FFF2-40B4-BE49-F238E27FC236}">
                <a16:creationId xmlns:a16="http://schemas.microsoft.com/office/drawing/2014/main" id="{B3D4DBAD-1409-E754-1151-1C4F9EE0D274}"/>
              </a:ext>
            </a:extLst>
          </p:cNvPr>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8201" name="Picture 11">
            <a:extLst>
              <a:ext uri="{FF2B5EF4-FFF2-40B4-BE49-F238E27FC236}">
                <a16:creationId xmlns:a16="http://schemas.microsoft.com/office/drawing/2014/main" id="{E8924B2B-75D8-CA5F-C417-7865FF043049}"/>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200400"/>
            <a:ext cx="6600825"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F9CDBA94-7E2E-ABC5-DA2B-3C7421B4767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B63971E-99D1-4E5A-A877-BEF0F1BD9531}" type="slidenum">
              <a:rPr lang="en-US" altLang="en-US" sz="1400"/>
              <a:pPr>
                <a:spcBef>
                  <a:spcPct val="0"/>
                </a:spcBef>
                <a:buClrTx/>
                <a:buSzTx/>
                <a:buFontTx/>
                <a:buNone/>
              </a:pPr>
              <a:t>7</a:t>
            </a:fld>
            <a:endParaRPr lang="en-US" altLang="en-US" sz="1400"/>
          </a:p>
        </p:txBody>
      </p:sp>
      <p:sp>
        <p:nvSpPr>
          <p:cNvPr id="9219" name="Rectangle 2">
            <a:extLst>
              <a:ext uri="{FF2B5EF4-FFF2-40B4-BE49-F238E27FC236}">
                <a16:creationId xmlns:a16="http://schemas.microsoft.com/office/drawing/2014/main" id="{3AD297C5-8337-FCDE-49AC-9BF3D6331857}"/>
              </a:ext>
            </a:extLst>
          </p:cNvPr>
          <p:cNvSpPr>
            <a:spLocks noGrp="1" noChangeArrowheads="1"/>
          </p:cNvSpPr>
          <p:nvPr>
            <p:ph type="title"/>
          </p:nvPr>
        </p:nvSpPr>
        <p:spPr>
          <a:xfrm>
            <a:off x="381000" y="0"/>
            <a:ext cx="8458200" cy="838200"/>
          </a:xfrm>
        </p:spPr>
        <p:txBody>
          <a:bodyPr/>
          <a:lstStyle/>
          <a:p>
            <a:r>
              <a:rPr lang="en-US" altLang="en-US" sz="3600"/>
              <a:t>Representing Weighted Edges: Edge Array</a:t>
            </a:r>
            <a:r>
              <a:rPr lang="en-US" altLang="en-US"/>
              <a:t> </a:t>
            </a:r>
          </a:p>
        </p:txBody>
      </p:sp>
      <p:sp>
        <p:nvSpPr>
          <p:cNvPr id="9220" name="Text Box 3">
            <a:extLst>
              <a:ext uri="{FF2B5EF4-FFF2-40B4-BE49-F238E27FC236}">
                <a16:creationId xmlns:a16="http://schemas.microsoft.com/office/drawing/2014/main" id="{80A98530-76F9-4B2A-B865-A86EFD7DF5C1}"/>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9221" name="Rectangle 4">
            <a:extLst>
              <a:ext uri="{FF2B5EF4-FFF2-40B4-BE49-F238E27FC236}">
                <a16:creationId xmlns:a16="http://schemas.microsoft.com/office/drawing/2014/main" id="{F0F34A3B-B1F1-8EBE-4E5C-F40C4B915545}"/>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2" name="Rectangle 5">
            <a:extLst>
              <a:ext uri="{FF2B5EF4-FFF2-40B4-BE49-F238E27FC236}">
                <a16:creationId xmlns:a16="http://schemas.microsoft.com/office/drawing/2014/main" id="{1E52ADD1-67AF-A5D7-102D-36816ACB2CEE}"/>
              </a:ext>
            </a:extLst>
          </p:cNvPr>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9223" name="Object 10">
            <a:extLst>
              <a:ext uri="{FF2B5EF4-FFF2-40B4-BE49-F238E27FC236}">
                <a16:creationId xmlns:a16="http://schemas.microsoft.com/office/drawing/2014/main" id="{8084D84E-D15D-F835-48E8-770A825019FD}"/>
              </a:ext>
            </a:extLst>
          </p:cNvPr>
          <p:cNvGraphicFramePr>
            <a:graphicFrameLocks noChangeAspect="1"/>
          </p:cNvGraphicFramePr>
          <p:nvPr/>
        </p:nvGraphicFramePr>
        <p:xfrm>
          <a:off x="4648200" y="1143000"/>
          <a:ext cx="4267200" cy="2203450"/>
        </p:xfrm>
        <a:graphic>
          <a:graphicData uri="http://schemas.openxmlformats.org/presentationml/2006/ole">
            <mc:AlternateContent xmlns:mc="http://schemas.openxmlformats.org/markup-compatibility/2006">
              <mc:Choice xmlns:v="urn:schemas-microsoft-com:vml" Requires="v">
                <p:oleObj name="Picture" r:id="rId2" imgW="2209800" imgH="1144524" progId="Word.Picture.8">
                  <p:embed/>
                </p:oleObj>
              </mc:Choice>
              <mc:Fallback>
                <p:oleObj name="Picture" r:id="rId2" imgW="2209800" imgH="1144524" progId="Word.Picture.8">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143000"/>
                        <a:ext cx="4267200"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Rectangle 13">
            <a:extLst>
              <a:ext uri="{FF2B5EF4-FFF2-40B4-BE49-F238E27FC236}">
                <a16:creationId xmlns:a16="http://schemas.microsoft.com/office/drawing/2014/main" id="{E16CC89F-04B6-9E2F-D1D9-15648F8B1929}"/>
              </a:ext>
            </a:extLst>
          </p:cNvPr>
          <p:cNvSpPr>
            <a:spLocks noChangeArrowheads="1"/>
          </p:cNvSpPr>
          <p:nvPr/>
        </p:nvSpPr>
        <p:spPr bwMode="auto">
          <a:xfrm>
            <a:off x="320675" y="3321050"/>
            <a:ext cx="5461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800">
                <a:latin typeface="Courier New" panose="02070309020205020404" pitchFamily="49" charset="0"/>
                <a:ea typeface="Courier"/>
                <a:cs typeface="Courier New" panose="02070309020205020404" pitchFamily="49" charset="0"/>
              </a:rPr>
              <a:t>      </a:t>
            </a:r>
            <a:endParaRPr lang="en-US" altLang="en-US" sz="2400">
              <a:ea typeface="Courier"/>
              <a:cs typeface="Courier New" panose="02070309020205020404" pitchFamily="49" charset="0"/>
            </a:endParaRPr>
          </a:p>
        </p:txBody>
      </p:sp>
      <p:sp>
        <p:nvSpPr>
          <p:cNvPr id="9225" name="Rectangle 14">
            <a:extLst>
              <a:ext uri="{FF2B5EF4-FFF2-40B4-BE49-F238E27FC236}">
                <a16:creationId xmlns:a16="http://schemas.microsoft.com/office/drawing/2014/main" id="{71BC7779-CF03-4B9C-559C-3B6E0794D641}"/>
              </a:ext>
            </a:extLst>
          </p:cNvPr>
          <p:cNvSpPr>
            <a:spLocks noChangeArrowheads="1"/>
          </p:cNvSpPr>
          <p:nvPr/>
        </p:nvSpPr>
        <p:spPr bwMode="auto">
          <a:xfrm>
            <a:off x="320675" y="42592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tabLst>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6" name="Rectangle 16">
            <a:extLst>
              <a:ext uri="{FF2B5EF4-FFF2-40B4-BE49-F238E27FC236}">
                <a16:creationId xmlns:a16="http://schemas.microsoft.com/office/drawing/2014/main" id="{8B8205F1-A1A4-D5EB-767D-93F0C07FC72E}"/>
              </a:ext>
            </a:extLst>
          </p:cNvPr>
          <p:cNvSpPr>
            <a:spLocks noChangeArrowheads="1"/>
          </p:cNvSpPr>
          <p:nvPr/>
        </p:nvSpPr>
        <p:spPr bwMode="auto">
          <a:xfrm>
            <a:off x="0" y="2952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9227" name="Object 15">
            <a:extLst>
              <a:ext uri="{FF2B5EF4-FFF2-40B4-BE49-F238E27FC236}">
                <a16:creationId xmlns:a16="http://schemas.microsoft.com/office/drawing/2014/main" id="{09064B02-44E4-7C15-EA08-632F37743BFF}"/>
              </a:ext>
            </a:extLst>
          </p:cNvPr>
          <p:cNvGraphicFramePr>
            <a:graphicFrameLocks noChangeAspect="1"/>
          </p:cNvGraphicFramePr>
          <p:nvPr/>
        </p:nvGraphicFramePr>
        <p:xfrm>
          <a:off x="228600" y="1143000"/>
          <a:ext cx="4191000" cy="2163763"/>
        </p:xfrm>
        <a:graphic>
          <a:graphicData uri="http://schemas.openxmlformats.org/presentationml/2006/ole">
            <mc:AlternateContent xmlns:mc="http://schemas.openxmlformats.org/markup-compatibility/2006">
              <mc:Choice xmlns:v="urn:schemas-microsoft-com:vml" Requires="v">
                <p:oleObj name="Picture" r:id="rId4" imgW="2204915" imgH="1146616" progId="Word.Picture.8">
                  <p:embed/>
                </p:oleObj>
              </mc:Choice>
              <mc:Fallback>
                <p:oleObj name="Picture" r:id="rId4" imgW="2204915" imgH="1146616" progId="Word.Picture.8">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1143000"/>
                        <a:ext cx="4191000"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9228" name="Picture 16">
            <a:extLst>
              <a:ext uri="{FF2B5EF4-FFF2-40B4-BE49-F238E27FC236}">
                <a16:creationId xmlns:a16="http://schemas.microsoft.com/office/drawing/2014/main" id="{39BAEF08-30A9-F91F-3267-80C0D002D9B8}"/>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1888" y="3427413"/>
            <a:ext cx="6600825"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51697ACB-2111-5F5A-B4D6-78294E1A421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EB1AA02-25F6-4AEA-85E6-1364C75B7DC5}" type="slidenum">
              <a:rPr lang="en-US" altLang="en-US" sz="1400"/>
              <a:pPr>
                <a:spcBef>
                  <a:spcPct val="0"/>
                </a:spcBef>
                <a:buClrTx/>
                <a:buSzTx/>
                <a:buFontTx/>
                <a:buNone/>
              </a:pPr>
              <a:t>8</a:t>
            </a:fld>
            <a:endParaRPr lang="en-US" altLang="en-US" sz="1400"/>
          </a:p>
        </p:txBody>
      </p:sp>
      <p:sp>
        <p:nvSpPr>
          <p:cNvPr id="10243" name="Rectangle 2">
            <a:extLst>
              <a:ext uri="{FF2B5EF4-FFF2-40B4-BE49-F238E27FC236}">
                <a16:creationId xmlns:a16="http://schemas.microsoft.com/office/drawing/2014/main" id="{FA61CC27-23F0-EAA8-F107-883D52EFC85F}"/>
              </a:ext>
            </a:extLst>
          </p:cNvPr>
          <p:cNvSpPr>
            <a:spLocks noGrp="1" noChangeArrowheads="1"/>
          </p:cNvSpPr>
          <p:nvPr>
            <p:ph type="title"/>
          </p:nvPr>
        </p:nvSpPr>
        <p:spPr>
          <a:xfrm>
            <a:off x="685800" y="285750"/>
            <a:ext cx="7772400" cy="781050"/>
          </a:xfrm>
        </p:spPr>
        <p:txBody>
          <a:bodyPr/>
          <a:lstStyle/>
          <a:p>
            <a:r>
              <a:rPr lang="en-US" altLang="en-US">
                <a:solidFill>
                  <a:schemeClr val="tx1"/>
                </a:solidFill>
              </a:rPr>
              <a:t>Edge Adjacency Lists</a:t>
            </a:r>
          </a:p>
        </p:txBody>
      </p:sp>
      <p:sp>
        <p:nvSpPr>
          <p:cNvPr id="10244" name="Text Box 3">
            <a:extLst>
              <a:ext uri="{FF2B5EF4-FFF2-40B4-BE49-F238E27FC236}">
                <a16:creationId xmlns:a16="http://schemas.microsoft.com/office/drawing/2014/main" id="{A857FDAA-7E7D-8D88-300E-F94820268CB8}"/>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0245" name="Rectangle 4">
            <a:extLst>
              <a:ext uri="{FF2B5EF4-FFF2-40B4-BE49-F238E27FC236}">
                <a16:creationId xmlns:a16="http://schemas.microsoft.com/office/drawing/2014/main" id="{CBCC1FAD-3002-100F-999A-71F8D1969D18}"/>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6" name="Rectangle 11">
            <a:extLst>
              <a:ext uri="{FF2B5EF4-FFF2-40B4-BE49-F238E27FC236}">
                <a16:creationId xmlns:a16="http://schemas.microsoft.com/office/drawing/2014/main" id="{998F8B38-F5DA-41FA-A19C-EF824E955E02}"/>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8941" name="AutoShape 13">
            <a:hlinkClick r:id="" action="ppaction://noaction" highlightClick="1"/>
            <a:extLst>
              <a:ext uri="{FF2B5EF4-FFF2-40B4-BE49-F238E27FC236}">
                <a16:creationId xmlns:a16="http://schemas.microsoft.com/office/drawing/2014/main" id="{4D83D629-072A-32AC-A469-83C98DB732D3}"/>
              </a:ext>
            </a:extLst>
          </p:cNvPr>
          <p:cNvSpPr>
            <a:spLocks noChangeArrowheads="1"/>
          </p:cNvSpPr>
          <p:nvPr/>
        </p:nvSpPr>
        <p:spPr bwMode="auto">
          <a:xfrm>
            <a:off x="381000" y="5029200"/>
            <a:ext cx="2362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2" action="ppaction://program">
                  <a:extLst>
                    <a:ext uri="{A12FA001-AC4F-418D-AE19-62706E023703}">
                      <ahyp:hlinkClr xmlns:ahyp="http://schemas.microsoft.com/office/drawing/2018/hyperlinkcolor" val="tx"/>
                    </a:ext>
                  </a:extLst>
                </a:hlinkClick>
              </a:rPr>
              <a:t>WeightedEdge</a:t>
            </a:r>
            <a:endParaRPr lang="en-US" dirty="0">
              <a:solidFill>
                <a:srgbClr val="002060"/>
              </a:solidFill>
            </a:endParaRPr>
          </a:p>
        </p:txBody>
      </p:sp>
      <p:sp>
        <p:nvSpPr>
          <p:cNvPr id="10248" name="AutoShape 14">
            <a:hlinkClick r:id="rId3" highlightClick="1"/>
            <a:extLst>
              <a:ext uri="{FF2B5EF4-FFF2-40B4-BE49-F238E27FC236}">
                <a16:creationId xmlns:a16="http://schemas.microsoft.com/office/drawing/2014/main" id="{B14B838A-3588-B917-4998-7330F35FF19D}"/>
              </a:ext>
            </a:extLst>
          </p:cNvPr>
          <p:cNvSpPr>
            <a:spLocks noChangeArrowheads="1"/>
          </p:cNvSpPr>
          <p:nvPr/>
        </p:nvSpPr>
        <p:spPr bwMode="auto">
          <a:xfrm>
            <a:off x="76200" y="4572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12">
            <a:extLst>
              <a:ext uri="{FF2B5EF4-FFF2-40B4-BE49-F238E27FC236}">
                <a16:creationId xmlns:a16="http://schemas.microsoft.com/office/drawing/2014/main" id="{69CA0513-3303-2AA7-5DB0-C8E1C7A27FE7}"/>
              </a:ext>
            </a:extLst>
          </p:cNvPr>
          <p:cNvSpPr>
            <a:spLocks noChangeArrowheads="1"/>
          </p:cNvSpPr>
          <p:nvPr/>
        </p:nvSpPr>
        <p:spPr bwMode="auto">
          <a:xfrm>
            <a:off x="0" y="0"/>
            <a:ext cx="9144000" cy="4572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graphicFrame>
        <p:nvGraphicFramePr>
          <p:cNvPr id="10250" name="Object 2">
            <a:extLst>
              <a:ext uri="{FF2B5EF4-FFF2-40B4-BE49-F238E27FC236}">
                <a16:creationId xmlns:a16="http://schemas.microsoft.com/office/drawing/2014/main" id="{115BFE9C-BE85-C4A2-C396-F860C006C5D1}"/>
              </a:ext>
            </a:extLst>
          </p:cNvPr>
          <p:cNvGraphicFramePr>
            <a:graphicFrameLocks noChangeAspect="1"/>
          </p:cNvGraphicFramePr>
          <p:nvPr/>
        </p:nvGraphicFramePr>
        <p:xfrm>
          <a:off x="-22225" y="1916113"/>
          <a:ext cx="8848725" cy="2049462"/>
        </p:xfrm>
        <a:graphic>
          <a:graphicData uri="http://schemas.openxmlformats.org/presentationml/2006/ole">
            <mc:AlternateContent xmlns:mc="http://schemas.openxmlformats.org/markup-compatibility/2006">
              <mc:Choice xmlns:v="urn:schemas-microsoft-com:vml" Requires="v">
                <p:oleObj name="Picture" r:id="rId4" imgW="5993725" imgH="1382233" progId="Word.Picture.8">
                  <p:embed/>
                </p:oleObj>
              </mc:Choice>
              <mc:Fallback>
                <p:oleObj name="Picture" r:id="rId4" imgW="5993725" imgH="1382233" progId="Word.Pictur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5" y="1916113"/>
                        <a:ext cx="8848725"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13">
            <a:extLst>
              <a:ext uri="{FF2B5EF4-FFF2-40B4-BE49-F238E27FC236}">
                <a16:creationId xmlns:a16="http://schemas.microsoft.com/office/drawing/2014/main" id="{E5193B48-E8D3-E5C7-4430-66561CDD5144}"/>
              </a:ext>
            </a:extLst>
          </p:cNvPr>
          <p:cNvSpPr>
            <a:spLocks noChangeArrowheads="1"/>
          </p:cNvSpPr>
          <p:nvPr/>
        </p:nvSpPr>
        <p:spPr bwMode="auto">
          <a:xfrm>
            <a:off x="0" y="1608138"/>
            <a:ext cx="9144000" cy="4572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tabLst>
                <a:tab pos="5029200" algn="l"/>
              </a:tabLst>
              <a:defRPr/>
            </a:pPr>
            <a:endParaRPr lang="en-US"/>
          </a:p>
        </p:txBody>
      </p:sp>
      <p:sp>
        <p:nvSpPr>
          <p:cNvPr id="10252" name="Text Box 4">
            <a:extLst>
              <a:ext uri="{FF2B5EF4-FFF2-40B4-BE49-F238E27FC236}">
                <a16:creationId xmlns:a16="http://schemas.microsoft.com/office/drawing/2014/main" id="{BDB7C8EE-37C8-7B83-724B-638A15AD88C3}"/>
              </a:ext>
            </a:extLst>
          </p:cNvPr>
          <p:cNvSpPr txBox="1">
            <a:spLocks noChangeArrowheads="1"/>
          </p:cNvSpPr>
          <p:nvPr/>
        </p:nvSpPr>
        <p:spPr bwMode="auto">
          <a:xfrm>
            <a:off x="304800" y="1219200"/>
            <a:ext cx="861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AU" altLang="en-US" sz="2400"/>
              <a:t>java.util.List&lt;WeightedEdge&gt;[] list = </a:t>
            </a:r>
            <a:r>
              <a:rPr lang="en-AU" altLang="en-US" sz="2400" b="1"/>
              <a:t>new</a:t>
            </a:r>
            <a:r>
              <a:rPr lang="en-AU" altLang="en-US" sz="2400"/>
              <a:t> java.util.List[</a:t>
            </a:r>
            <a:r>
              <a:rPr lang="en-AU" altLang="en-US" sz="2400" b="1"/>
              <a:t>5</a:t>
            </a:r>
            <a:r>
              <a:rPr lang="en-AU" altLang="en-US" sz="2400"/>
              <a:t>];</a:t>
            </a:r>
            <a:endParaRPr lang="en-US" altLang="en-US" sz="2400"/>
          </a:p>
        </p:txBody>
      </p:sp>
      <p:sp>
        <p:nvSpPr>
          <p:cNvPr id="10253" name="Content Placeholder 2">
            <a:extLst>
              <a:ext uri="{FF2B5EF4-FFF2-40B4-BE49-F238E27FC236}">
                <a16:creationId xmlns:a16="http://schemas.microsoft.com/office/drawing/2014/main" id="{5F0E2C9E-CE31-48E4-8DF6-BBC0341CFA75}"/>
              </a:ext>
            </a:extLst>
          </p:cNvPr>
          <p:cNvSpPr>
            <a:spLocks noGrp="1"/>
          </p:cNvSpPr>
          <p:nvPr>
            <p:ph idx="1"/>
          </p:nvPr>
        </p:nvSpPr>
        <p:spPr/>
        <p:txBody>
          <a:bodyPr/>
          <a:lstStyle/>
          <a:p>
            <a:endParaRPr lang="en-US" altLang="en-US" dirty="0"/>
          </a:p>
        </p:txBody>
      </p:sp>
      <p:pic>
        <p:nvPicPr>
          <p:cNvPr id="10254" name="Picture 16">
            <a:extLst>
              <a:ext uri="{FF2B5EF4-FFF2-40B4-BE49-F238E27FC236}">
                <a16:creationId xmlns:a16="http://schemas.microsoft.com/office/drawing/2014/main" id="{34C6B6D9-08E9-D1A8-DD1A-EC24D02CAD7F}"/>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4094163"/>
            <a:ext cx="5095875" cy="2300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BE06B6D4-C1D0-2E8C-A18C-CE69C00F57C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A138B44-0F2F-48C9-9F81-BE8E8D987B9B}" type="slidenum">
              <a:rPr lang="en-US" altLang="en-US" sz="1400"/>
              <a:pPr>
                <a:spcBef>
                  <a:spcPct val="0"/>
                </a:spcBef>
                <a:buClrTx/>
                <a:buSzTx/>
                <a:buFontTx/>
                <a:buNone/>
              </a:pPr>
              <a:t>9</a:t>
            </a:fld>
            <a:endParaRPr lang="en-US" altLang="en-US" sz="1400"/>
          </a:p>
        </p:txBody>
      </p:sp>
      <p:sp>
        <p:nvSpPr>
          <p:cNvPr id="11267" name="Rectangle 2">
            <a:extLst>
              <a:ext uri="{FF2B5EF4-FFF2-40B4-BE49-F238E27FC236}">
                <a16:creationId xmlns:a16="http://schemas.microsoft.com/office/drawing/2014/main" id="{A6B472CE-79B7-756E-EEA4-009E99521F99}"/>
              </a:ext>
            </a:extLst>
          </p:cNvPr>
          <p:cNvSpPr>
            <a:spLocks noGrp="1" noChangeArrowheads="1"/>
          </p:cNvSpPr>
          <p:nvPr>
            <p:ph type="title"/>
          </p:nvPr>
        </p:nvSpPr>
        <p:spPr>
          <a:xfrm>
            <a:off x="685800" y="285750"/>
            <a:ext cx="7772400" cy="781050"/>
          </a:xfrm>
        </p:spPr>
        <p:txBody>
          <a:bodyPr/>
          <a:lstStyle/>
          <a:p>
            <a:r>
              <a:rPr lang="en-US" altLang="en-US" dirty="0">
                <a:solidFill>
                  <a:schemeClr val="tx1"/>
                </a:solidFill>
              </a:rPr>
              <a:t>Edge Adjacency Lists</a:t>
            </a:r>
          </a:p>
        </p:txBody>
      </p:sp>
      <p:sp>
        <p:nvSpPr>
          <p:cNvPr id="11268" name="Text Box 3">
            <a:extLst>
              <a:ext uri="{FF2B5EF4-FFF2-40B4-BE49-F238E27FC236}">
                <a16:creationId xmlns:a16="http://schemas.microsoft.com/office/drawing/2014/main" id="{0CA20C2F-8C9F-50F8-F46F-5604AD300C12}"/>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1269" name="Rectangle 4">
            <a:extLst>
              <a:ext uri="{FF2B5EF4-FFF2-40B4-BE49-F238E27FC236}">
                <a16:creationId xmlns:a16="http://schemas.microsoft.com/office/drawing/2014/main" id="{5DD3DA81-9E4C-D90D-DA11-51A611EC96FE}"/>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0" name="Rectangle 11">
            <a:extLst>
              <a:ext uri="{FF2B5EF4-FFF2-40B4-BE49-F238E27FC236}">
                <a16:creationId xmlns:a16="http://schemas.microsoft.com/office/drawing/2014/main" id="{58419D5F-33B7-ABDF-6B94-DD67AA0FF032}"/>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12">
            <a:extLst>
              <a:ext uri="{FF2B5EF4-FFF2-40B4-BE49-F238E27FC236}">
                <a16:creationId xmlns:a16="http://schemas.microsoft.com/office/drawing/2014/main" id="{2F4E1742-DC71-18BB-CC65-92F00F76AB28}"/>
              </a:ext>
            </a:extLst>
          </p:cNvPr>
          <p:cNvSpPr>
            <a:spLocks noChangeArrowheads="1"/>
          </p:cNvSpPr>
          <p:nvPr/>
        </p:nvSpPr>
        <p:spPr bwMode="auto">
          <a:xfrm>
            <a:off x="0" y="0"/>
            <a:ext cx="9144000" cy="4572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sp>
        <p:nvSpPr>
          <p:cNvPr id="4" name="Rectangle 13">
            <a:extLst>
              <a:ext uri="{FF2B5EF4-FFF2-40B4-BE49-F238E27FC236}">
                <a16:creationId xmlns:a16="http://schemas.microsoft.com/office/drawing/2014/main" id="{DD177D77-7530-5F3E-B86E-0BF164C3FBF3}"/>
              </a:ext>
            </a:extLst>
          </p:cNvPr>
          <p:cNvSpPr>
            <a:spLocks noChangeArrowheads="1"/>
          </p:cNvSpPr>
          <p:nvPr/>
        </p:nvSpPr>
        <p:spPr bwMode="auto">
          <a:xfrm>
            <a:off x="0" y="1608138"/>
            <a:ext cx="9144000" cy="4572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tabLst>
                <a:tab pos="5029200" algn="l"/>
              </a:tabLst>
              <a:defRPr/>
            </a:pPr>
            <a:endParaRPr lang="en-US"/>
          </a:p>
        </p:txBody>
      </p:sp>
      <p:sp>
        <p:nvSpPr>
          <p:cNvPr id="11273" name="Text Box 4">
            <a:extLst>
              <a:ext uri="{FF2B5EF4-FFF2-40B4-BE49-F238E27FC236}">
                <a16:creationId xmlns:a16="http://schemas.microsoft.com/office/drawing/2014/main" id="{60882452-9778-B964-8041-EE94D0DF40F6}"/>
              </a:ext>
            </a:extLst>
          </p:cNvPr>
          <p:cNvSpPr txBox="1">
            <a:spLocks noChangeArrowheads="1"/>
          </p:cNvSpPr>
          <p:nvPr/>
        </p:nvSpPr>
        <p:spPr bwMode="auto">
          <a:xfrm>
            <a:off x="304800" y="1219200"/>
            <a:ext cx="86106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AU" altLang="en-US" sz="2400"/>
              <a:t>For flexibility, we will use an array list rather than a fixed-sized array to represent </a:t>
            </a:r>
            <a:r>
              <a:rPr lang="en-AU" altLang="en-US" sz="2400" b="1"/>
              <a:t>list</a:t>
            </a:r>
            <a:r>
              <a:rPr lang="en-AU" altLang="en-US" sz="2400"/>
              <a:t> as follows:</a:t>
            </a:r>
          </a:p>
          <a:p>
            <a:pPr>
              <a:spcBef>
                <a:spcPct val="0"/>
              </a:spcBef>
              <a:buClrTx/>
              <a:buSzTx/>
              <a:buFontTx/>
              <a:buNone/>
            </a:pPr>
            <a:endParaRPr lang="en-US" altLang="en-US" sz="2400"/>
          </a:p>
          <a:p>
            <a:pPr>
              <a:spcBef>
                <a:spcPct val="0"/>
              </a:spcBef>
              <a:buClrTx/>
              <a:buSzTx/>
              <a:buFontTx/>
              <a:buNone/>
            </a:pPr>
            <a:r>
              <a:rPr lang="en-AU" altLang="en-US" sz="2400"/>
              <a:t>List&lt;List&lt;WeightedEdge&gt;&gt; list = </a:t>
            </a:r>
            <a:r>
              <a:rPr lang="en-AU" altLang="en-US" sz="2400" b="1"/>
              <a:t>new</a:t>
            </a:r>
            <a:r>
              <a:rPr lang="en-AU" altLang="en-US" sz="2400"/>
              <a:t> java.util.ArrayList&lt;&gt;();</a:t>
            </a: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BAC43E95-57E5-910A-A461-DED4A2531F9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27845F1-DEFD-4FD6-8A3B-2AE2968F1127}" type="slidenum">
              <a:rPr lang="en-US" altLang="en-US" sz="1400"/>
              <a:pPr>
                <a:spcBef>
                  <a:spcPct val="0"/>
                </a:spcBef>
                <a:buClrTx/>
                <a:buSzTx/>
                <a:buFontTx/>
                <a:buNone/>
              </a:pPr>
              <a:t>10</a:t>
            </a:fld>
            <a:endParaRPr lang="en-US" altLang="en-US" sz="1400"/>
          </a:p>
        </p:txBody>
      </p:sp>
      <p:sp>
        <p:nvSpPr>
          <p:cNvPr id="12291" name="Rectangle 3">
            <a:extLst>
              <a:ext uri="{FF2B5EF4-FFF2-40B4-BE49-F238E27FC236}">
                <a16:creationId xmlns:a16="http://schemas.microsoft.com/office/drawing/2014/main" id="{6362AEFC-B599-33A0-79AA-EB1D0FF28146}"/>
              </a:ext>
            </a:extLst>
          </p:cNvPr>
          <p:cNvSpPr>
            <a:spLocks noChangeArrowheads="1"/>
          </p:cNvSpPr>
          <p:nvPr/>
        </p:nvSpPr>
        <p:spPr bwMode="auto">
          <a:xfrm>
            <a:off x="0" y="2862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2" name="Rectangle 6">
            <a:extLst>
              <a:ext uri="{FF2B5EF4-FFF2-40B4-BE49-F238E27FC236}">
                <a16:creationId xmlns:a16="http://schemas.microsoft.com/office/drawing/2014/main" id="{3C105A91-324E-9797-9758-9F47AECE4341}"/>
              </a:ext>
            </a:extLst>
          </p:cNvPr>
          <p:cNvSpPr>
            <a:spLocks noChangeArrowheads="1"/>
          </p:cNvSpPr>
          <p:nvPr/>
        </p:nvSpPr>
        <p:spPr bwMode="auto">
          <a:xfrm>
            <a:off x="0" y="342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8696" name="AutoShape 8">
            <a:hlinkClick r:id="" action="ppaction://noaction" highlightClick="1"/>
            <a:extLst>
              <a:ext uri="{FF2B5EF4-FFF2-40B4-BE49-F238E27FC236}">
                <a16:creationId xmlns:a16="http://schemas.microsoft.com/office/drawing/2014/main" id="{6EEDA3AC-14EE-213A-58F7-69CA07AD88DE}"/>
              </a:ext>
            </a:extLst>
          </p:cNvPr>
          <p:cNvSpPr>
            <a:spLocks noChangeArrowheads="1"/>
          </p:cNvSpPr>
          <p:nvPr/>
        </p:nvSpPr>
        <p:spPr bwMode="auto">
          <a:xfrm>
            <a:off x="533400" y="5943600"/>
            <a:ext cx="1295400" cy="3810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a:solidFill>
                  <a:srgbClr val="002060"/>
                </a:solidFill>
                <a:latin typeface="Book Antiqua" pitchFamily="18" charset="0"/>
                <a:hlinkClick r:id="rId2" action="ppaction://program">
                  <a:extLst>
                    <a:ext uri="{A12FA001-AC4F-418D-AE19-62706E023703}">
                      <ahyp:hlinkClr xmlns:ahyp="http://schemas.microsoft.com/office/drawing/2018/hyperlinkcolor" val="tx"/>
                    </a:ext>
                  </a:extLst>
                </a:hlinkClick>
              </a:rPr>
              <a:t>Graph</a:t>
            </a:r>
            <a:endParaRPr lang="en-US" dirty="0">
              <a:solidFill>
                <a:srgbClr val="002060"/>
              </a:solidFill>
            </a:endParaRPr>
          </a:p>
        </p:txBody>
      </p:sp>
      <p:sp>
        <p:nvSpPr>
          <p:cNvPr id="12294" name="AutoShape 9">
            <a:hlinkClick r:id="rId3" action="ppaction://program" highlightClick="1"/>
            <a:extLst>
              <a:ext uri="{FF2B5EF4-FFF2-40B4-BE49-F238E27FC236}">
                <a16:creationId xmlns:a16="http://schemas.microsoft.com/office/drawing/2014/main" id="{29360CAA-4BBD-790C-1682-CD6636E05F2B}"/>
              </a:ext>
            </a:extLst>
          </p:cNvPr>
          <p:cNvSpPr>
            <a:spLocks noChangeArrowheads="1"/>
          </p:cNvSpPr>
          <p:nvPr/>
        </p:nvSpPr>
        <p:spPr bwMode="auto">
          <a:xfrm>
            <a:off x="4038600" y="5334000"/>
            <a:ext cx="2971800" cy="4572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TestWeightedGraph</a:t>
            </a:r>
          </a:p>
        </p:txBody>
      </p:sp>
      <p:sp>
        <p:nvSpPr>
          <p:cNvPr id="498698" name="AutoShape 10">
            <a:hlinkClick r:id="" action="ppaction://noaction" highlightClick="1"/>
            <a:extLst>
              <a:ext uri="{FF2B5EF4-FFF2-40B4-BE49-F238E27FC236}">
                <a16:creationId xmlns:a16="http://schemas.microsoft.com/office/drawing/2014/main" id="{30EABD65-94D0-F27E-7E37-960327691618}"/>
              </a:ext>
            </a:extLst>
          </p:cNvPr>
          <p:cNvSpPr>
            <a:spLocks noChangeArrowheads="1"/>
          </p:cNvSpPr>
          <p:nvPr/>
        </p:nvSpPr>
        <p:spPr bwMode="auto">
          <a:xfrm>
            <a:off x="2819400" y="5943600"/>
            <a:ext cx="2286000" cy="3810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4" action="ppaction://program">
                  <a:extLst>
                    <a:ext uri="{A12FA001-AC4F-418D-AE19-62706E023703}">
                      <ahyp:hlinkClr xmlns:ahyp="http://schemas.microsoft.com/office/drawing/2018/hyperlinkcolor" val="tx"/>
                    </a:ext>
                  </a:extLst>
                </a:hlinkClick>
              </a:rPr>
              <a:t>AbstractGraph</a:t>
            </a:r>
            <a:endParaRPr lang="en-US" dirty="0">
              <a:solidFill>
                <a:srgbClr val="002060"/>
              </a:solidFill>
            </a:endParaRPr>
          </a:p>
        </p:txBody>
      </p:sp>
      <p:sp>
        <p:nvSpPr>
          <p:cNvPr id="498699" name="AutoShape 11">
            <a:hlinkClick r:id="" action="ppaction://noaction" highlightClick="1"/>
            <a:extLst>
              <a:ext uri="{FF2B5EF4-FFF2-40B4-BE49-F238E27FC236}">
                <a16:creationId xmlns:a16="http://schemas.microsoft.com/office/drawing/2014/main" id="{4E036095-DD33-ECD5-07A3-D475AEE04A70}"/>
              </a:ext>
            </a:extLst>
          </p:cNvPr>
          <p:cNvSpPr>
            <a:spLocks noChangeArrowheads="1"/>
          </p:cNvSpPr>
          <p:nvPr/>
        </p:nvSpPr>
        <p:spPr bwMode="auto">
          <a:xfrm>
            <a:off x="6172200" y="5943600"/>
            <a:ext cx="2514600" cy="3810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5" action="ppaction://program">
                  <a:extLst>
                    <a:ext uri="{A12FA001-AC4F-418D-AE19-62706E023703}">
                      <ahyp:hlinkClr xmlns:ahyp="http://schemas.microsoft.com/office/drawing/2018/hyperlinkcolor" val="tx"/>
                    </a:ext>
                  </a:extLst>
                </a:hlinkClick>
              </a:rPr>
              <a:t>WeightedGraph</a:t>
            </a:r>
            <a:endParaRPr lang="en-US" dirty="0">
              <a:solidFill>
                <a:srgbClr val="002060"/>
              </a:solidFill>
            </a:endParaRPr>
          </a:p>
        </p:txBody>
      </p:sp>
      <p:sp>
        <p:nvSpPr>
          <p:cNvPr id="12297" name="Rectangle 13">
            <a:extLst>
              <a:ext uri="{FF2B5EF4-FFF2-40B4-BE49-F238E27FC236}">
                <a16:creationId xmlns:a16="http://schemas.microsoft.com/office/drawing/2014/main" id="{F58E1D04-D255-290D-88FC-4DA4C34EA083}"/>
              </a:ext>
            </a:extLst>
          </p:cNvPr>
          <p:cNvSpPr>
            <a:spLocks noChangeArrowheads="1"/>
          </p:cNvSpPr>
          <p:nvPr/>
        </p:nvSpPr>
        <p:spPr bwMode="auto">
          <a:xfrm>
            <a:off x="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8702" name="AutoShape 14">
            <a:hlinkClick r:id="" action="ppaction://noaction" highlightClick="1"/>
            <a:extLst>
              <a:ext uri="{FF2B5EF4-FFF2-40B4-BE49-F238E27FC236}">
                <a16:creationId xmlns:a16="http://schemas.microsoft.com/office/drawing/2014/main" id="{A73A2B33-EE9B-CD0D-9D2A-0766DC03F787}"/>
              </a:ext>
            </a:extLst>
          </p:cNvPr>
          <p:cNvSpPr>
            <a:spLocks noChangeArrowheads="1"/>
          </p:cNvSpPr>
          <p:nvPr/>
        </p:nvSpPr>
        <p:spPr bwMode="auto">
          <a:xfrm>
            <a:off x="533400" y="5334000"/>
            <a:ext cx="3048000" cy="4572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6" action="ppaction://program">
                  <a:extLst>
                    <a:ext uri="{A12FA001-AC4F-418D-AE19-62706E023703}">
                      <ahyp:hlinkClr xmlns:ahyp="http://schemas.microsoft.com/office/drawing/2018/hyperlinkcolor" val="tx"/>
                    </a:ext>
                  </a:extLst>
                </a:hlinkClick>
              </a:rPr>
              <a:t>TestWeightedGraph</a:t>
            </a:r>
            <a:endParaRPr lang="en-US" dirty="0">
              <a:solidFill>
                <a:srgbClr val="002060"/>
              </a:solidFill>
            </a:endParaRPr>
          </a:p>
        </p:txBody>
      </p:sp>
      <p:sp>
        <p:nvSpPr>
          <p:cNvPr id="12299" name="Rectangle 16">
            <a:extLst>
              <a:ext uri="{FF2B5EF4-FFF2-40B4-BE49-F238E27FC236}">
                <a16:creationId xmlns:a16="http://schemas.microsoft.com/office/drawing/2014/main" id="{301BFB79-B2E4-933E-8C7A-C82F13B1F8C7}"/>
              </a:ext>
            </a:extLst>
          </p:cNvPr>
          <p:cNvSpPr>
            <a:spLocks noChangeArrowheads="1"/>
          </p:cNvSpPr>
          <p:nvPr/>
        </p:nvSpPr>
        <p:spPr bwMode="auto">
          <a:xfrm>
            <a:off x="0"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0" name="Rectangle 18">
            <a:extLst>
              <a:ext uri="{FF2B5EF4-FFF2-40B4-BE49-F238E27FC236}">
                <a16:creationId xmlns:a16="http://schemas.microsoft.com/office/drawing/2014/main" id="{76133108-026B-52AE-7877-727C64005AA0}"/>
              </a:ext>
            </a:extLst>
          </p:cNvPr>
          <p:cNvSpPr>
            <a:spLocks noChangeArrowheads="1"/>
          </p:cNvSpPr>
          <p:nvPr/>
        </p:nvSpPr>
        <p:spPr bwMode="auto">
          <a:xfrm>
            <a:off x="0" y="1371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1" name="AutoShape 19">
            <a:hlinkClick r:id="rId7" highlightClick="1"/>
            <a:extLst>
              <a:ext uri="{FF2B5EF4-FFF2-40B4-BE49-F238E27FC236}">
                <a16:creationId xmlns:a16="http://schemas.microsoft.com/office/drawing/2014/main" id="{6EDA3EC4-ED09-60A6-0D36-E2852E04F0D7}"/>
              </a:ext>
            </a:extLst>
          </p:cNvPr>
          <p:cNvSpPr>
            <a:spLocks noChangeArrowheads="1"/>
          </p:cNvSpPr>
          <p:nvPr/>
        </p:nvSpPr>
        <p:spPr bwMode="auto">
          <a:xfrm>
            <a:off x="0" y="5257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2" name="AutoShape 20">
            <a:hlinkClick r:id="rId8" highlightClick="1"/>
            <a:extLst>
              <a:ext uri="{FF2B5EF4-FFF2-40B4-BE49-F238E27FC236}">
                <a16:creationId xmlns:a16="http://schemas.microsoft.com/office/drawing/2014/main" id="{B0B7BF67-8D67-BE9C-77F8-519019657DD6}"/>
              </a:ext>
            </a:extLst>
          </p:cNvPr>
          <p:cNvSpPr>
            <a:spLocks noChangeArrowheads="1"/>
          </p:cNvSpPr>
          <p:nvPr/>
        </p:nvSpPr>
        <p:spPr bwMode="auto">
          <a:xfrm>
            <a:off x="2286000" y="5867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3" name="AutoShape 21">
            <a:hlinkClick r:id="rId9" highlightClick="1"/>
            <a:extLst>
              <a:ext uri="{FF2B5EF4-FFF2-40B4-BE49-F238E27FC236}">
                <a16:creationId xmlns:a16="http://schemas.microsoft.com/office/drawing/2014/main" id="{21CC328E-3FB2-A0D3-BCA9-8BE184DC7B73}"/>
              </a:ext>
            </a:extLst>
          </p:cNvPr>
          <p:cNvSpPr>
            <a:spLocks noChangeArrowheads="1"/>
          </p:cNvSpPr>
          <p:nvPr/>
        </p:nvSpPr>
        <p:spPr bwMode="auto">
          <a:xfrm>
            <a:off x="5638800" y="5867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4" name="AutoShape 22">
            <a:hlinkClick r:id="rId10" highlightClick="1"/>
            <a:extLst>
              <a:ext uri="{FF2B5EF4-FFF2-40B4-BE49-F238E27FC236}">
                <a16:creationId xmlns:a16="http://schemas.microsoft.com/office/drawing/2014/main" id="{B7217C2E-121E-E9F9-8B66-CA02B1F786DE}"/>
              </a:ext>
            </a:extLst>
          </p:cNvPr>
          <p:cNvSpPr>
            <a:spLocks noChangeArrowheads="1"/>
          </p:cNvSpPr>
          <p:nvPr/>
        </p:nvSpPr>
        <p:spPr bwMode="auto">
          <a:xfrm>
            <a:off x="0" y="5867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2305" name="Picture 19">
            <a:extLst>
              <a:ext uri="{FF2B5EF4-FFF2-40B4-BE49-F238E27FC236}">
                <a16:creationId xmlns:a16="http://schemas.microsoft.com/office/drawing/2014/main" id="{5CBAA6A4-A67B-A9B5-3474-013734C87D34}"/>
              </a:ext>
              <a:ext uri="{C183D7F6-B498-43B3-948B-1728B52AA6E4}">
                <adec:decorative xmlns:adec="http://schemas.microsoft.com/office/drawing/2017/decorative" val="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7225" y="152400"/>
            <a:ext cx="7829550" cy="4991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 name="Rectangle 2">
            <a:extLst>
              <a:ext uri="{FF2B5EF4-FFF2-40B4-BE49-F238E27FC236}">
                <a16:creationId xmlns:a16="http://schemas.microsoft.com/office/drawing/2014/main" id="{6C3E1EC6-5DA8-77F0-ABA8-1F5A4CF00680}"/>
              </a:ext>
            </a:extLst>
          </p:cNvPr>
          <p:cNvSpPr>
            <a:spLocks noGrp="1" noChangeArrowheads="1"/>
          </p:cNvSpPr>
          <p:nvPr>
            <p:ph type="title"/>
          </p:nvPr>
        </p:nvSpPr>
        <p:spPr>
          <a:xfrm>
            <a:off x="4572000" y="152400"/>
            <a:ext cx="4419600" cy="1238250"/>
          </a:xfrm>
        </p:spPr>
        <p:txBody>
          <a:bodyPr/>
          <a:lstStyle/>
          <a:p>
            <a:r>
              <a:rPr lang="en-US" altLang="en-US" dirty="0">
                <a:solidFill>
                  <a:schemeClr val="tx1"/>
                </a:solidFill>
              </a:rPr>
              <a:t>Edge Adjacency Lists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845AAC4D-3714-D3A8-EBCF-5A4E1486EA3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8C9139C-009E-4E24-8AB0-5D033B9EFA93}" type="slidenum">
              <a:rPr lang="en-US" altLang="en-US" sz="1400"/>
              <a:pPr>
                <a:spcBef>
                  <a:spcPct val="0"/>
                </a:spcBef>
                <a:buClrTx/>
                <a:buSzTx/>
                <a:buFontTx/>
                <a:buNone/>
              </a:pPr>
              <a:t>11</a:t>
            </a:fld>
            <a:endParaRPr lang="en-US" altLang="en-US" sz="1400"/>
          </a:p>
        </p:txBody>
      </p:sp>
      <p:sp>
        <p:nvSpPr>
          <p:cNvPr id="13315" name="Rectangle 2">
            <a:extLst>
              <a:ext uri="{FF2B5EF4-FFF2-40B4-BE49-F238E27FC236}">
                <a16:creationId xmlns:a16="http://schemas.microsoft.com/office/drawing/2014/main" id="{C964A707-540C-8658-BDA2-CB69C47831EE}"/>
              </a:ext>
            </a:extLst>
          </p:cNvPr>
          <p:cNvSpPr>
            <a:spLocks noGrp="1" noChangeArrowheads="1"/>
          </p:cNvSpPr>
          <p:nvPr>
            <p:ph type="title"/>
          </p:nvPr>
        </p:nvSpPr>
        <p:spPr>
          <a:xfrm>
            <a:off x="685800" y="304800"/>
            <a:ext cx="7772400" cy="685800"/>
          </a:xfrm>
        </p:spPr>
        <p:txBody>
          <a:bodyPr/>
          <a:lstStyle/>
          <a:p>
            <a:r>
              <a:rPr lang="en-US" altLang="en-US"/>
              <a:t>Minimum Spanning Trees </a:t>
            </a:r>
          </a:p>
        </p:txBody>
      </p:sp>
      <p:sp>
        <p:nvSpPr>
          <p:cNvPr id="13316" name="Rectangle 3">
            <a:extLst>
              <a:ext uri="{FF2B5EF4-FFF2-40B4-BE49-F238E27FC236}">
                <a16:creationId xmlns:a16="http://schemas.microsoft.com/office/drawing/2014/main" id="{5F7D9C3E-B8C7-F53C-30F8-703985A3BE0C}"/>
              </a:ext>
            </a:extLst>
          </p:cNvPr>
          <p:cNvSpPr>
            <a:spLocks noGrp="1" noChangeArrowheads="1"/>
          </p:cNvSpPr>
          <p:nvPr>
            <p:ph type="body" idx="1"/>
          </p:nvPr>
        </p:nvSpPr>
        <p:spPr>
          <a:xfrm>
            <a:off x="304800" y="1066800"/>
            <a:ext cx="8610600" cy="1447800"/>
          </a:xfrm>
        </p:spPr>
        <p:txBody>
          <a:bodyPr/>
          <a:lstStyle/>
          <a:p>
            <a:pPr marL="0" indent="0">
              <a:lnSpc>
                <a:spcPct val="80000"/>
              </a:lnSpc>
              <a:spcBef>
                <a:spcPct val="0"/>
              </a:spcBef>
              <a:buFont typeface="Monotype Sorts"/>
              <a:buNone/>
            </a:pPr>
            <a:r>
              <a:rPr lang="en-US" altLang="en-US" sz="2000"/>
              <a:t>A graph may have many spanning trees. Suppose that the edges are weighted. A minimum spanning tree is a spanning tree with the minimum total weights. For example, the trees in Figures (b), (c), (d) are spanning trees for the graph in Figure (a). The trees in Figures (c) and (d) are minimum spanning trees.</a:t>
            </a:r>
          </a:p>
        </p:txBody>
      </p:sp>
      <p:sp>
        <p:nvSpPr>
          <p:cNvPr id="13317" name="Rectangle 5">
            <a:extLst>
              <a:ext uri="{FF2B5EF4-FFF2-40B4-BE49-F238E27FC236}">
                <a16:creationId xmlns:a16="http://schemas.microsoft.com/office/drawing/2014/main" id="{B5076B54-2473-4F21-0078-0948155A1E88}"/>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8" name="Rectangle 7">
            <a:extLst>
              <a:ext uri="{FF2B5EF4-FFF2-40B4-BE49-F238E27FC236}">
                <a16:creationId xmlns:a16="http://schemas.microsoft.com/office/drawing/2014/main" id="{C4776344-5355-3C2B-7805-7E9A55D1248D}"/>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19" name="Object 6">
            <a:extLst>
              <a:ext uri="{FF2B5EF4-FFF2-40B4-BE49-F238E27FC236}">
                <a16:creationId xmlns:a16="http://schemas.microsoft.com/office/drawing/2014/main" id="{98BF81D3-16CB-0328-13EB-0D7D6BD69A91}"/>
              </a:ext>
            </a:extLst>
          </p:cNvPr>
          <p:cNvGraphicFramePr>
            <a:graphicFrameLocks noChangeAspect="1"/>
          </p:cNvGraphicFramePr>
          <p:nvPr/>
        </p:nvGraphicFramePr>
        <p:xfrm>
          <a:off x="152400" y="2590800"/>
          <a:ext cx="2255838" cy="1684338"/>
        </p:xfrm>
        <a:graphic>
          <a:graphicData uri="http://schemas.openxmlformats.org/presentationml/2006/ole">
            <mc:AlternateContent xmlns:mc="http://schemas.openxmlformats.org/markup-compatibility/2006">
              <mc:Choice xmlns:v="urn:schemas-microsoft-com:vml" Requires="v">
                <p:oleObj name="Picture" r:id="rId2" imgW="2720340" imgH="2029968" progId="Word.Picture.8">
                  <p:embed/>
                </p:oleObj>
              </mc:Choice>
              <mc:Fallback>
                <p:oleObj name="Picture" r:id="rId2" imgW="2720340" imgH="2029968" progId="Word.Picture.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590800"/>
                        <a:ext cx="2255838"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0" name="Rectangle 9">
            <a:extLst>
              <a:ext uri="{FF2B5EF4-FFF2-40B4-BE49-F238E27FC236}">
                <a16:creationId xmlns:a16="http://schemas.microsoft.com/office/drawing/2014/main" id="{ADB5A197-5187-EA32-4546-35C169079517}"/>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21" name="Object 8">
            <a:extLst>
              <a:ext uri="{FF2B5EF4-FFF2-40B4-BE49-F238E27FC236}">
                <a16:creationId xmlns:a16="http://schemas.microsoft.com/office/drawing/2014/main" id="{1FA2DB48-7B73-EB73-5A62-903B2AEA5FC9}"/>
              </a:ext>
            </a:extLst>
          </p:cNvPr>
          <p:cNvGraphicFramePr>
            <a:graphicFrameLocks noChangeAspect="1"/>
          </p:cNvGraphicFramePr>
          <p:nvPr/>
        </p:nvGraphicFramePr>
        <p:xfrm>
          <a:off x="2667000" y="2590800"/>
          <a:ext cx="2255838" cy="1684338"/>
        </p:xfrm>
        <a:graphic>
          <a:graphicData uri="http://schemas.openxmlformats.org/presentationml/2006/ole">
            <mc:AlternateContent xmlns:mc="http://schemas.openxmlformats.org/markup-compatibility/2006">
              <mc:Choice xmlns:v="urn:schemas-microsoft-com:vml" Requires="v">
                <p:oleObj name="Picture" r:id="rId4" imgW="2720340" imgH="2029968" progId="Word.Picture.8">
                  <p:embed/>
                </p:oleObj>
              </mc:Choice>
              <mc:Fallback>
                <p:oleObj name="Picture" r:id="rId4" imgW="2720340" imgH="2029968" progId="Word.Picture.8">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590800"/>
                        <a:ext cx="2255838"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2" name="Rectangle 11">
            <a:extLst>
              <a:ext uri="{FF2B5EF4-FFF2-40B4-BE49-F238E27FC236}">
                <a16:creationId xmlns:a16="http://schemas.microsoft.com/office/drawing/2014/main" id="{C7E6A1E6-DC18-1719-D3BB-0C7DEF950205}"/>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23" name="Object 10">
            <a:extLst>
              <a:ext uri="{FF2B5EF4-FFF2-40B4-BE49-F238E27FC236}">
                <a16:creationId xmlns:a16="http://schemas.microsoft.com/office/drawing/2014/main" id="{F0AFE9FB-23BD-95DE-82BA-A16421F8B3E8}"/>
              </a:ext>
            </a:extLst>
          </p:cNvPr>
          <p:cNvGraphicFramePr>
            <a:graphicFrameLocks noChangeAspect="1"/>
          </p:cNvGraphicFramePr>
          <p:nvPr/>
        </p:nvGraphicFramePr>
        <p:xfrm>
          <a:off x="3429000" y="4572000"/>
          <a:ext cx="2255838" cy="1684338"/>
        </p:xfrm>
        <a:graphic>
          <a:graphicData uri="http://schemas.openxmlformats.org/presentationml/2006/ole">
            <mc:AlternateContent xmlns:mc="http://schemas.openxmlformats.org/markup-compatibility/2006">
              <mc:Choice xmlns:v="urn:schemas-microsoft-com:vml" Requires="v">
                <p:oleObj name="Picture" r:id="rId6" imgW="2720340" imgH="2029968" progId="Word.Picture.8">
                  <p:embed/>
                </p:oleObj>
              </mc:Choice>
              <mc:Fallback>
                <p:oleObj name="Picture" r:id="rId6" imgW="2720340" imgH="2029968" progId="Word.Picture.8">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4572000"/>
                        <a:ext cx="2255838"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4" name="Rectangle 13">
            <a:extLst>
              <a:ext uri="{FF2B5EF4-FFF2-40B4-BE49-F238E27FC236}">
                <a16:creationId xmlns:a16="http://schemas.microsoft.com/office/drawing/2014/main" id="{EB066FC4-DF90-3C65-5BBF-1FC8A48DD298}"/>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25" name="Object 12">
            <a:extLst>
              <a:ext uri="{FF2B5EF4-FFF2-40B4-BE49-F238E27FC236}">
                <a16:creationId xmlns:a16="http://schemas.microsoft.com/office/drawing/2014/main" id="{DE9574FD-9B96-C3C2-4576-565DC995B08C}"/>
              </a:ext>
            </a:extLst>
          </p:cNvPr>
          <p:cNvGraphicFramePr>
            <a:graphicFrameLocks noChangeAspect="1"/>
          </p:cNvGraphicFramePr>
          <p:nvPr/>
        </p:nvGraphicFramePr>
        <p:xfrm>
          <a:off x="6096000" y="4648200"/>
          <a:ext cx="2255838" cy="1684338"/>
        </p:xfrm>
        <a:graphic>
          <a:graphicData uri="http://schemas.openxmlformats.org/presentationml/2006/ole">
            <mc:AlternateContent xmlns:mc="http://schemas.openxmlformats.org/markup-compatibility/2006">
              <mc:Choice xmlns:v="urn:schemas-microsoft-com:vml" Requires="v">
                <p:oleObj name="Picture" r:id="rId8" imgW="2720340" imgH="2029968" progId="Word.Picture.8">
                  <p:embed/>
                </p:oleObj>
              </mc:Choice>
              <mc:Fallback>
                <p:oleObj name="Picture" r:id="rId8" imgW="2720340" imgH="2029968" progId="Word.Picture.8">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0" y="4648200"/>
                        <a:ext cx="2255838"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6" name="Rectangle 14">
            <a:extLst>
              <a:ext uri="{FF2B5EF4-FFF2-40B4-BE49-F238E27FC236}">
                <a16:creationId xmlns:a16="http://schemas.microsoft.com/office/drawing/2014/main" id="{41BFE41F-E2AE-EA00-4FFF-D22A216E4634}"/>
              </a:ext>
            </a:extLst>
          </p:cNvPr>
          <p:cNvSpPr>
            <a:spLocks noChangeArrowheads="1"/>
          </p:cNvSpPr>
          <p:nvPr/>
        </p:nvSpPr>
        <p:spPr bwMode="auto">
          <a:xfrm>
            <a:off x="6248400" y="41148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a:buNone/>
            </a:pPr>
            <a:r>
              <a:rPr lang="en-US" altLang="en-US" sz="2000"/>
              <a:t>Total w: 38</a:t>
            </a:r>
          </a:p>
        </p:txBody>
      </p:sp>
      <p:sp>
        <p:nvSpPr>
          <p:cNvPr id="13327" name="Rectangle 15">
            <a:extLst>
              <a:ext uri="{FF2B5EF4-FFF2-40B4-BE49-F238E27FC236}">
                <a16:creationId xmlns:a16="http://schemas.microsoft.com/office/drawing/2014/main" id="{AC0F7EE7-4093-E6D1-1707-AFEA2D90FE66}"/>
              </a:ext>
            </a:extLst>
          </p:cNvPr>
          <p:cNvSpPr>
            <a:spLocks noChangeArrowheads="1"/>
          </p:cNvSpPr>
          <p:nvPr/>
        </p:nvSpPr>
        <p:spPr bwMode="auto">
          <a:xfrm>
            <a:off x="4953000" y="24384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a:buNone/>
            </a:pPr>
            <a:r>
              <a:rPr lang="en-US" altLang="en-US" sz="2000"/>
              <a:t>Total w: 42</a:t>
            </a:r>
          </a:p>
        </p:txBody>
      </p:sp>
      <p:sp>
        <p:nvSpPr>
          <p:cNvPr id="13328" name="Rectangle 16">
            <a:extLst>
              <a:ext uri="{FF2B5EF4-FFF2-40B4-BE49-F238E27FC236}">
                <a16:creationId xmlns:a16="http://schemas.microsoft.com/office/drawing/2014/main" id="{ACC10E15-7E03-923D-0B5C-B583E14625E7}"/>
              </a:ext>
            </a:extLst>
          </p:cNvPr>
          <p:cNvSpPr>
            <a:spLocks noChangeArrowheads="1"/>
          </p:cNvSpPr>
          <p:nvPr/>
        </p:nvSpPr>
        <p:spPr bwMode="auto">
          <a:xfrm>
            <a:off x="2057400" y="4648200"/>
            <a:ext cx="1371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a:buNone/>
            </a:pPr>
            <a:r>
              <a:rPr lang="en-US" altLang="en-US" sz="2000"/>
              <a:t>Total w: 38</a:t>
            </a:r>
          </a:p>
        </p:txBody>
      </p:sp>
      <p:sp>
        <p:nvSpPr>
          <p:cNvPr id="13329" name="Rectangle 18">
            <a:extLst>
              <a:ext uri="{FF2B5EF4-FFF2-40B4-BE49-F238E27FC236}">
                <a16:creationId xmlns:a16="http://schemas.microsoft.com/office/drawing/2014/main" id="{874859B1-0BFB-5203-833E-35D860C0047F}"/>
              </a:ext>
            </a:extLst>
          </p:cNvPr>
          <p:cNvSpPr>
            <a:spLocks noChangeArrowheads="1"/>
          </p:cNvSpPr>
          <p:nvPr/>
        </p:nvSpPr>
        <p:spPr bwMode="auto">
          <a:xfrm>
            <a:off x="4953000" y="29718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a:buNone/>
            </a:pPr>
            <a:r>
              <a:rPr lang="en-US" altLang="en-US" sz="2000"/>
              <a:t>(b)</a:t>
            </a:r>
          </a:p>
        </p:txBody>
      </p:sp>
      <p:sp>
        <p:nvSpPr>
          <p:cNvPr id="13330" name="Rectangle 19">
            <a:extLst>
              <a:ext uri="{FF2B5EF4-FFF2-40B4-BE49-F238E27FC236}">
                <a16:creationId xmlns:a16="http://schemas.microsoft.com/office/drawing/2014/main" id="{73EA114B-5867-4C52-FCC2-BA829EB04501}"/>
              </a:ext>
            </a:extLst>
          </p:cNvPr>
          <p:cNvSpPr>
            <a:spLocks noChangeArrowheads="1"/>
          </p:cNvSpPr>
          <p:nvPr/>
        </p:nvSpPr>
        <p:spPr bwMode="auto">
          <a:xfrm>
            <a:off x="152400" y="43434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a:buNone/>
            </a:pPr>
            <a:r>
              <a:rPr lang="en-US" altLang="en-US" sz="2000"/>
              <a:t>(a)</a:t>
            </a:r>
          </a:p>
        </p:txBody>
      </p:sp>
      <p:sp>
        <p:nvSpPr>
          <p:cNvPr id="13331" name="Rectangle 20">
            <a:extLst>
              <a:ext uri="{FF2B5EF4-FFF2-40B4-BE49-F238E27FC236}">
                <a16:creationId xmlns:a16="http://schemas.microsoft.com/office/drawing/2014/main" id="{0CDEE8D7-ADB0-909C-2654-2074F5998447}"/>
              </a:ext>
            </a:extLst>
          </p:cNvPr>
          <p:cNvSpPr>
            <a:spLocks noChangeArrowheads="1"/>
          </p:cNvSpPr>
          <p:nvPr/>
        </p:nvSpPr>
        <p:spPr bwMode="auto">
          <a:xfrm>
            <a:off x="2819400" y="51816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a:buNone/>
            </a:pPr>
            <a:r>
              <a:rPr lang="en-US" altLang="en-US" sz="2000"/>
              <a:t>(c)</a:t>
            </a:r>
          </a:p>
        </p:txBody>
      </p:sp>
      <p:sp>
        <p:nvSpPr>
          <p:cNvPr id="13332" name="Rectangle 21">
            <a:extLst>
              <a:ext uri="{FF2B5EF4-FFF2-40B4-BE49-F238E27FC236}">
                <a16:creationId xmlns:a16="http://schemas.microsoft.com/office/drawing/2014/main" id="{CD5DFE38-8266-5343-6223-BA0399CA522F}"/>
              </a:ext>
            </a:extLst>
          </p:cNvPr>
          <p:cNvSpPr>
            <a:spLocks noChangeArrowheads="1"/>
          </p:cNvSpPr>
          <p:nvPr/>
        </p:nvSpPr>
        <p:spPr bwMode="auto">
          <a:xfrm>
            <a:off x="8382000" y="48006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a:buNone/>
            </a:pPr>
            <a:r>
              <a:rPr lang="en-US" altLang="en-US" sz="2000"/>
              <a:t>(d)</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CCA21E95-27FB-7558-7D74-941AC01CA0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5C8CAF2-EC0D-48E9-BEDD-8CF24F20126C}" type="slidenum">
              <a:rPr lang="en-US" altLang="en-US" sz="1400"/>
              <a:pPr>
                <a:spcBef>
                  <a:spcPct val="0"/>
                </a:spcBef>
                <a:buClrTx/>
                <a:buSzTx/>
                <a:buFontTx/>
                <a:buNone/>
              </a:pPr>
              <a:t>12</a:t>
            </a:fld>
            <a:endParaRPr lang="en-US" altLang="en-US" sz="1400"/>
          </a:p>
        </p:txBody>
      </p:sp>
      <p:sp>
        <p:nvSpPr>
          <p:cNvPr id="14339" name="Rectangle 2">
            <a:extLst>
              <a:ext uri="{FF2B5EF4-FFF2-40B4-BE49-F238E27FC236}">
                <a16:creationId xmlns:a16="http://schemas.microsoft.com/office/drawing/2014/main" id="{7188EB30-7AE6-8A84-B03F-77B3DC4D579F}"/>
              </a:ext>
            </a:extLst>
          </p:cNvPr>
          <p:cNvSpPr>
            <a:spLocks noGrp="1" noChangeArrowheads="1"/>
          </p:cNvSpPr>
          <p:nvPr>
            <p:ph type="title"/>
          </p:nvPr>
        </p:nvSpPr>
        <p:spPr/>
        <p:txBody>
          <a:bodyPr/>
          <a:lstStyle/>
          <a:p>
            <a:r>
              <a:rPr lang="en-US" altLang="en-US"/>
              <a:t>Prim’s Minimum Spanning Tree Algorithm </a:t>
            </a:r>
          </a:p>
        </p:txBody>
      </p:sp>
      <p:sp>
        <p:nvSpPr>
          <p:cNvPr id="14340" name="Rectangle 3">
            <a:extLst>
              <a:ext uri="{FF2B5EF4-FFF2-40B4-BE49-F238E27FC236}">
                <a16:creationId xmlns:a16="http://schemas.microsoft.com/office/drawing/2014/main" id="{48B3A1C9-41A5-FDEA-AD33-B4421C568173}"/>
              </a:ext>
            </a:extLst>
          </p:cNvPr>
          <p:cNvSpPr>
            <a:spLocks noGrp="1" noChangeArrowheads="1"/>
          </p:cNvSpPr>
          <p:nvPr>
            <p:ph type="body" sz="half" idx="1"/>
          </p:nvPr>
        </p:nvSpPr>
        <p:spPr>
          <a:xfrm>
            <a:off x="228600" y="1524000"/>
            <a:ext cx="5715000" cy="4248150"/>
          </a:xfrm>
        </p:spPr>
        <p:txBody>
          <a:bodyPr/>
          <a:lstStyle/>
          <a:p>
            <a:pPr marL="0" indent="0">
              <a:lnSpc>
                <a:spcPct val="90000"/>
              </a:lnSpc>
              <a:buFont typeface="Monotype Sorts"/>
              <a:buNone/>
            </a:pPr>
            <a:r>
              <a:rPr lang="en-US" altLang="en-US" sz="2000"/>
              <a:t>Input: G = (V, E, W). Output: a MST</a:t>
            </a:r>
          </a:p>
          <a:p>
            <a:pPr marL="0" indent="0">
              <a:lnSpc>
                <a:spcPct val="90000"/>
              </a:lnSpc>
              <a:buFont typeface="Monotype Sorts"/>
              <a:buNone/>
            </a:pPr>
            <a:r>
              <a:rPr lang="en-US" altLang="en-US" sz="2000"/>
              <a:t>Tree minimumSpanningTree() {</a:t>
            </a:r>
          </a:p>
          <a:p>
            <a:pPr marL="0" indent="0">
              <a:lnSpc>
                <a:spcPct val="90000"/>
              </a:lnSpc>
              <a:buFont typeface="Monotype Sorts"/>
              <a:buNone/>
            </a:pPr>
            <a:r>
              <a:rPr lang="en-US" altLang="en-US" sz="2000"/>
              <a:t>  Let V denote the set of vertices in the graph;</a:t>
            </a:r>
          </a:p>
          <a:p>
            <a:pPr marL="0" indent="0">
              <a:lnSpc>
                <a:spcPct val="90000"/>
              </a:lnSpc>
              <a:buFont typeface="Monotype Sorts"/>
              <a:buNone/>
            </a:pPr>
            <a:r>
              <a:rPr lang="en-US" altLang="en-US" sz="2000"/>
              <a:t>  Let T be a set for the vertices in the spanning tree;</a:t>
            </a:r>
          </a:p>
          <a:p>
            <a:pPr marL="0" indent="0">
              <a:lnSpc>
                <a:spcPct val="90000"/>
              </a:lnSpc>
              <a:buFont typeface="Monotype Sorts"/>
              <a:buNone/>
            </a:pPr>
            <a:r>
              <a:rPr lang="en-US" altLang="en-US" sz="2000"/>
              <a:t>  Initially, add the starting vertex to T;</a:t>
            </a:r>
          </a:p>
          <a:p>
            <a:pPr marL="0" indent="0">
              <a:lnSpc>
                <a:spcPct val="90000"/>
              </a:lnSpc>
              <a:buFont typeface="Monotype Sorts"/>
              <a:buNone/>
            </a:pPr>
            <a:r>
              <a:rPr lang="en-US" altLang="en-US" sz="2000"/>
              <a:t>  while (size of T &lt; n) {</a:t>
            </a:r>
          </a:p>
          <a:p>
            <a:pPr marL="0" indent="0">
              <a:lnSpc>
                <a:spcPct val="90000"/>
              </a:lnSpc>
              <a:buFont typeface="Monotype Sorts"/>
              <a:buNone/>
            </a:pPr>
            <a:r>
              <a:rPr lang="en-US" altLang="en-US" sz="2000"/>
              <a:t>    find u in T and v in V – T with the smallest weight </a:t>
            </a:r>
          </a:p>
          <a:p>
            <a:pPr marL="0" indent="0">
              <a:lnSpc>
                <a:spcPct val="90000"/>
              </a:lnSpc>
              <a:buFont typeface="Monotype Sorts"/>
              <a:buNone/>
            </a:pPr>
            <a:r>
              <a:rPr lang="en-US" altLang="en-US" sz="2000"/>
              <a:t>      on the edge (u, v), as shown in the figure;</a:t>
            </a:r>
          </a:p>
          <a:p>
            <a:pPr marL="0" indent="0">
              <a:lnSpc>
                <a:spcPct val="90000"/>
              </a:lnSpc>
              <a:buFont typeface="Monotype Sorts"/>
              <a:buNone/>
            </a:pPr>
            <a:r>
              <a:rPr lang="en-US" altLang="en-US" sz="2000"/>
              <a:t>    add v to T;</a:t>
            </a:r>
          </a:p>
          <a:p>
            <a:pPr marL="0" indent="0">
              <a:lnSpc>
                <a:spcPct val="90000"/>
              </a:lnSpc>
              <a:buFont typeface="Monotype Sorts"/>
              <a:buNone/>
            </a:pPr>
            <a:r>
              <a:rPr lang="en-US" altLang="en-US" sz="2000"/>
              <a:t>  }</a:t>
            </a:r>
          </a:p>
          <a:p>
            <a:pPr marL="0" indent="0">
              <a:lnSpc>
                <a:spcPct val="90000"/>
              </a:lnSpc>
              <a:buFont typeface="Monotype Sorts"/>
              <a:buNone/>
            </a:pPr>
            <a:r>
              <a:rPr lang="en-US" altLang="en-US" sz="2000"/>
              <a:t>}</a:t>
            </a:r>
          </a:p>
        </p:txBody>
      </p:sp>
      <p:sp>
        <p:nvSpPr>
          <p:cNvPr id="14341" name="Rectangle 5">
            <a:extLst>
              <a:ext uri="{FF2B5EF4-FFF2-40B4-BE49-F238E27FC236}">
                <a16:creationId xmlns:a16="http://schemas.microsoft.com/office/drawing/2014/main" id="{B3F072D1-55C1-F8C7-EC70-7A6C5040C1F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2" name="Rectangle 7">
            <a:extLst>
              <a:ext uri="{FF2B5EF4-FFF2-40B4-BE49-F238E27FC236}">
                <a16:creationId xmlns:a16="http://schemas.microsoft.com/office/drawing/2014/main" id="{7185E94D-1083-5A23-F1C5-7D53D7A33BD4}"/>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3" name="Rectangle 9">
            <a:extLst>
              <a:ext uri="{FF2B5EF4-FFF2-40B4-BE49-F238E27FC236}">
                <a16:creationId xmlns:a16="http://schemas.microsoft.com/office/drawing/2014/main" id="{FEA944E8-617C-E696-DF13-F581F8607973}"/>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4" name="Rectangle 11">
            <a:extLst>
              <a:ext uri="{FF2B5EF4-FFF2-40B4-BE49-F238E27FC236}">
                <a16:creationId xmlns:a16="http://schemas.microsoft.com/office/drawing/2014/main" id="{E63D59D1-060B-9F5F-F03D-0598112D1893}"/>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4345" name="Object 13">
            <a:extLst>
              <a:ext uri="{FF2B5EF4-FFF2-40B4-BE49-F238E27FC236}">
                <a16:creationId xmlns:a16="http://schemas.microsoft.com/office/drawing/2014/main" id="{11AD2A60-F3FB-9CC2-074A-111B3279ED10}"/>
              </a:ext>
            </a:extLst>
          </p:cNvPr>
          <p:cNvGraphicFramePr>
            <a:graphicFrameLocks noGrp="1" noChangeAspect="1"/>
          </p:cNvGraphicFramePr>
          <p:nvPr>
            <p:ph sz="half" idx="2"/>
          </p:nvPr>
        </p:nvGraphicFramePr>
        <p:xfrm>
          <a:off x="4419600" y="4343400"/>
          <a:ext cx="4724400" cy="2165350"/>
        </p:xfrm>
        <a:graphic>
          <a:graphicData uri="http://schemas.openxmlformats.org/presentationml/2006/ole">
            <mc:AlternateContent xmlns:mc="http://schemas.openxmlformats.org/markup-compatibility/2006">
              <mc:Choice xmlns:v="urn:schemas-microsoft-com:vml" Requires="v">
                <p:oleObj name="Picture" r:id="rId2" imgW="4437888" imgH="2033016" progId="Word.Picture.8">
                  <p:embed/>
                </p:oleObj>
              </mc:Choice>
              <mc:Fallback>
                <p:oleObj name="Picture" r:id="rId2" imgW="4437888" imgH="2033016"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4343400"/>
                        <a:ext cx="4724400" cy="216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1BAE5DFF-84A2-79E2-AB0E-6BC9066FB13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5C8E864-7518-463F-B915-947C3E4872A8}" type="slidenum">
              <a:rPr lang="en-US" altLang="en-US" sz="1400"/>
              <a:pPr>
                <a:spcBef>
                  <a:spcPct val="0"/>
                </a:spcBef>
                <a:buClrTx/>
                <a:buSzTx/>
                <a:buFontTx/>
                <a:buNone/>
              </a:pPr>
              <a:t>13</a:t>
            </a:fld>
            <a:endParaRPr lang="en-US" altLang="en-US" sz="1400"/>
          </a:p>
        </p:txBody>
      </p:sp>
      <p:sp>
        <p:nvSpPr>
          <p:cNvPr id="15363" name="Rectangle 2">
            <a:extLst>
              <a:ext uri="{FF2B5EF4-FFF2-40B4-BE49-F238E27FC236}">
                <a16:creationId xmlns:a16="http://schemas.microsoft.com/office/drawing/2014/main" id="{B95E53B2-5DF5-EBC7-DD70-7781472CEAD9}"/>
              </a:ext>
            </a:extLst>
          </p:cNvPr>
          <p:cNvSpPr>
            <a:spLocks noGrp="1" noChangeArrowheads="1"/>
          </p:cNvSpPr>
          <p:nvPr>
            <p:ph type="title"/>
          </p:nvPr>
        </p:nvSpPr>
        <p:spPr>
          <a:xfrm>
            <a:off x="228600" y="152400"/>
            <a:ext cx="8686800" cy="685800"/>
          </a:xfrm>
        </p:spPr>
        <p:txBody>
          <a:bodyPr/>
          <a:lstStyle/>
          <a:p>
            <a:r>
              <a:rPr lang="en-US" altLang="en-US"/>
              <a:t>Minimum Spanning Tree Algorithm </a:t>
            </a:r>
          </a:p>
        </p:txBody>
      </p:sp>
      <p:sp>
        <p:nvSpPr>
          <p:cNvPr id="15364" name="Rectangle 4">
            <a:extLst>
              <a:ext uri="{FF2B5EF4-FFF2-40B4-BE49-F238E27FC236}">
                <a16:creationId xmlns:a16="http://schemas.microsoft.com/office/drawing/2014/main" id="{D497F22A-7785-8106-06A4-29631EB0DF2C}"/>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5" name="Rectangle 5">
            <a:extLst>
              <a:ext uri="{FF2B5EF4-FFF2-40B4-BE49-F238E27FC236}">
                <a16:creationId xmlns:a16="http://schemas.microsoft.com/office/drawing/2014/main" id="{B5A1C44A-C3F7-9776-DA08-FD98583959B1}"/>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6" name="Rectangle 6">
            <a:extLst>
              <a:ext uri="{FF2B5EF4-FFF2-40B4-BE49-F238E27FC236}">
                <a16:creationId xmlns:a16="http://schemas.microsoft.com/office/drawing/2014/main" id="{D046806A-915A-0CB5-EA60-FF40F153FCA3}"/>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7" name="Rectangle 7">
            <a:extLst>
              <a:ext uri="{FF2B5EF4-FFF2-40B4-BE49-F238E27FC236}">
                <a16:creationId xmlns:a16="http://schemas.microsoft.com/office/drawing/2014/main" id="{FACDDD8D-44FC-9689-4147-3E5AD3501E93}"/>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8" name="Rectangle 10">
            <a:extLst>
              <a:ext uri="{FF2B5EF4-FFF2-40B4-BE49-F238E27FC236}">
                <a16:creationId xmlns:a16="http://schemas.microsoft.com/office/drawing/2014/main" id="{3FD8EF3C-1664-1E1B-A369-8138A6818C6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5369" name="Object 9">
            <a:extLst>
              <a:ext uri="{FF2B5EF4-FFF2-40B4-BE49-F238E27FC236}">
                <a16:creationId xmlns:a16="http://schemas.microsoft.com/office/drawing/2014/main" id="{071A5474-FEAD-49E5-7D97-0C20DFEA1A02}"/>
              </a:ext>
            </a:extLst>
          </p:cNvPr>
          <p:cNvGraphicFramePr>
            <a:graphicFrameLocks noChangeAspect="1"/>
          </p:cNvGraphicFramePr>
          <p:nvPr/>
        </p:nvGraphicFramePr>
        <p:xfrm>
          <a:off x="1066800" y="2286000"/>
          <a:ext cx="7010400" cy="3214688"/>
        </p:xfrm>
        <a:graphic>
          <a:graphicData uri="http://schemas.openxmlformats.org/presentationml/2006/ole">
            <mc:AlternateContent xmlns:mc="http://schemas.openxmlformats.org/markup-compatibility/2006">
              <mc:Choice xmlns:v="urn:schemas-microsoft-com:vml" Requires="v">
                <p:oleObj name="Picture" r:id="rId2" imgW="4437888" imgH="2033016" progId="Word.Picture.8">
                  <p:embed/>
                </p:oleObj>
              </mc:Choice>
              <mc:Fallback>
                <p:oleObj name="Picture" r:id="rId2" imgW="4437888" imgH="2033016" progId="Word.Picture.8">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286000"/>
                        <a:ext cx="701040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58AC8486-0A03-7D80-DC06-9994FD142BA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6A36D7E-FCD5-4FF2-95A6-D5AD354BAF55}" type="slidenum">
              <a:rPr lang="en-US" altLang="en-US" sz="1400"/>
              <a:pPr>
                <a:spcBef>
                  <a:spcPct val="0"/>
                </a:spcBef>
                <a:buClrTx/>
                <a:buSzTx/>
                <a:buFontTx/>
                <a:buNone/>
              </a:pPr>
              <a:t>14</a:t>
            </a:fld>
            <a:endParaRPr lang="en-US" altLang="en-US" sz="1400"/>
          </a:p>
        </p:txBody>
      </p:sp>
      <p:sp>
        <p:nvSpPr>
          <p:cNvPr id="16387" name="Rectangle 2">
            <a:extLst>
              <a:ext uri="{FF2B5EF4-FFF2-40B4-BE49-F238E27FC236}">
                <a16:creationId xmlns:a16="http://schemas.microsoft.com/office/drawing/2014/main" id="{7741E8B1-9059-06FB-E9C4-D94281A86823}"/>
              </a:ext>
            </a:extLst>
          </p:cNvPr>
          <p:cNvSpPr>
            <a:spLocks noGrp="1" noChangeArrowheads="1"/>
          </p:cNvSpPr>
          <p:nvPr>
            <p:ph type="title"/>
          </p:nvPr>
        </p:nvSpPr>
        <p:spPr>
          <a:xfrm>
            <a:off x="228600" y="152400"/>
            <a:ext cx="2819400" cy="3505200"/>
          </a:xfrm>
        </p:spPr>
        <p:txBody>
          <a:bodyPr/>
          <a:lstStyle/>
          <a:p>
            <a:r>
              <a:rPr lang="en-US" altLang="en-US"/>
              <a:t>Minimum Spanning Tree Algorithm Example </a:t>
            </a:r>
          </a:p>
        </p:txBody>
      </p:sp>
      <p:sp>
        <p:nvSpPr>
          <p:cNvPr id="16388" name="Rectangle 3">
            <a:extLst>
              <a:ext uri="{FF2B5EF4-FFF2-40B4-BE49-F238E27FC236}">
                <a16:creationId xmlns:a16="http://schemas.microsoft.com/office/drawing/2014/main" id="{3435FBB0-A6F0-498B-9BED-E42F1493205D}"/>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89" name="Rectangle 4">
            <a:extLst>
              <a:ext uri="{FF2B5EF4-FFF2-40B4-BE49-F238E27FC236}">
                <a16:creationId xmlns:a16="http://schemas.microsoft.com/office/drawing/2014/main" id="{FDED13D1-24E2-5F52-A7B4-19B57AB49BB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0" name="Rectangle 5">
            <a:extLst>
              <a:ext uri="{FF2B5EF4-FFF2-40B4-BE49-F238E27FC236}">
                <a16:creationId xmlns:a16="http://schemas.microsoft.com/office/drawing/2014/main" id="{25C2DB57-44EF-D81A-5AF3-2CE90E045A66}"/>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1" name="Rectangle 6">
            <a:extLst>
              <a:ext uri="{FF2B5EF4-FFF2-40B4-BE49-F238E27FC236}">
                <a16:creationId xmlns:a16="http://schemas.microsoft.com/office/drawing/2014/main" id="{F060A5D6-0543-262B-7826-EBF6AB716557}"/>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2" name="Rectangle 7">
            <a:extLst>
              <a:ext uri="{FF2B5EF4-FFF2-40B4-BE49-F238E27FC236}">
                <a16:creationId xmlns:a16="http://schemas.microsoft.com/office/drawing/2014/main" id="{23AA8E5A-9467-F72E-871A-B195A09B6CA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3" name="Rectangle 10">
            <a:extLst>
              <a:ext uri="{FF2B5EF4-FFF2-40B4-BE49-F238E27FC236}">
                <a16:creationId xmlns:a16="http://schemas.microsoft.com/office/drawing/2014/main" id="{A1729EA6-203F-2949-0FCB-6146E13B629D}"/>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4" name="Rectangle 12">
            <a:extLst>
              <a:ext uri="{FF2B5EF4-FFF2-40B4-BE49-F238E27FC236}">
                <a16:creationId xmlns:a16="http://schemas.microsoft.com/office/drawing/2014/main" id="{1BD37B10-1649-B518-E590-666793D86B0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5" name="Rectangle 14">
            <a:extLst>
              <a:ext uri="{FF2B5EF4-FFF2-40B4-BE49-F238E27FC236}">
                <a16:creationId xmlns:a16="http://schemas.microsoft.com/office/drawing/2014/main" id="{A689EF95-47AF-5801-0787-459B4C6148F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6" name="Rectangle 16">
            <a:extLst>
              <a:ext uri="{FF2B5EF4-FFF2-40B4-BE49-F238E27FC236}">
                <a16:creationId xmlns:a16="http://schemas.microsoft.com/office/drawing/2014/main" id="{3E7C68B3-B8DC-167A-285A-CF99CD766F27}"/>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7" name="Rectangle 18">
            <a:extLst>
              <a:ext uri="{FF2B5EF4-FFF2-40B4-BE49-F238E27FC236}">
                <a16:creationId xmlns:a16="http://schemas.microsoft.com/office/drawing/2014/main" id="{2FCA345F-B657-5150-8658-FA05F428D110}"/>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8" name="Rectangle 20">
            <a:extLst>
              <a:ext uri="{FF2B5EF4-FFF2-40B4-BE49-F238E27FC236}">
                <a16:creationId xmlns:a16="http://schemas.microsoft.com/office/drawing/2014/main" id="{F8A88C0C-3E50-ED5D-9102-0051EAADA5C6}"/>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6399" name="Picture 16">
            <a:extLst>
              <a:ext uri="{FF2B5EF4-FFF2-40B4-BE49-F238E27FC236}">
                <a16:creationId xmlns:a16="http://schemas.microsoft.com/office/drawing/2014/main" id="{D6B57CAE-1D81-05BE-550E-B0816A750D7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28600"/>
            <a:ext cx="5822950" cy="619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CC043067-5B99-F0B3-9C04-B78C6B68E3B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743D241-3D48-4AC9-B5CF-1868A50D7FE1}" type="slidenum">
              <a:rPr lang="en-US" altLang="en-US" sz="1400"/>
              <a:pPr>
                <a:spcBef>
                  <a:spcPct val="0"/>
                </a:spcBef>
                <a:buClrTx/>
                <a:buSzTx/>
                <a:buFontTx/>
                <a:buNone/>
              </a:pPr>
              <a:t>15</a:t>
            </a:fld>
            <a:endParaRPr lang="en-US" altLang="en-US" sz="1400"/>
          </a:p>
        </p:txBody>
      </p:sp>
      <p:sp>
        <p:nvSpPr>
          <p:cNvPr id="17411" name="Rectangle 2">
            <a:extLst>
              <a:ext uri="{FF2B5EF4-FFF2-40B4-BE49-F238E27FC236}">
                <a16:creationId xmlns:a16="http://schemas.microsoft.com/office/drawing/2014/main" id="{29005D78-1730-3911-7C94-2EFAA64D0BE8}"/>
              </a:ext>
            </a:extLst>
          </p:cNvPr>
          <p:cNvSpPr>
            <a:spLocks noGrp="1" noChangeArrowheads="1"/>
          </p:cNvSpPr>
          <p:nvPr>
            <p:ph type="title"/>
          </p:nvPr>
        </p:nvSpPr>
        <p:spPr>
          <a:xfrm>
            <a:off x="228600" y="76200"/>
            <a:ext cx="8763000" cy="1143000"/>
          </a:xfrm>
        </p:spPr>
        <p:txBody>
          <a:bodyPr/>
          <a:lstStyle/>
          <a:p>
            <a:r>
              <a:rPr lang="en-US" altLang="en-US" sz="3600" dirty="0"/>
              <a:t>Refined Version of Prim’s Minimum Spanning Tree Algorithm</a:t>
            </a:r>
            <a:r>
              <a:rPr lang="en-US" altLang="en-US" dirty="0"/>
              <a:t> </a:t>
            </a:r>
          </a:p>
        </p:txBody>
      </p:sp>
      <p:sp>
        <p:nvSpPr>
          <p:cNvPr id="17412" name="Rectangle 3">
            <a:extLst>
              <a:ext uri="{FF2B5EF4-FFF2-40B4-BE49-F238E27FC236}">
                <a16:creationId xmlns:a16="http://schemas.microsoft.com/office/drawing/2014/main" id="{ECAD9BF9-D948-1C24-A10D-0AC15A61DC05}"/>
              </a:ext>
            </a:extLst>
          </p:cNvPr>
          <p:cNvSpPr>
            <a:spLocks noGrp="1" noChangeArrowheads="1"/>
          </p:cNvSpPr>
          <p:nvPr>
            <p:ph type="body" sz="half" idx="1"/>
          </p:nvPr>
        </p:nvSpPr>
        <p:spPr>
          <a:xfrm>
            <a:off x="228600" y="1371600"/>
            <a:ext cx="7924800" cy="4876800"/>
          </a:xfrm>
        </p:spPr>
        <p:txBody>
          <a:bodyPr/>
          <a:lstStyle/>
          <a:p>
            <a:pPr marL="0" indent="0">
              <a:lnSpc>
                <a:spcPct val="80000"/>
              </a:lnSpc>
              <a:buFont typeface="Monotype Sorts"/>
              <a:buNone/>
            </a:pPr>
            <a:r>
              <a:rPr lang="en-US" altLang="en-US" sz="2000"/>
              <a:t>Input: a graph G = (V, E) with non-negative weights</a:t>
            </a:r>
            <a:endParaRPr lang="en-AU" altLang="en-US" sz="2000"/>
          </a:p>
          <a:p>
            <a:pPr marL="0" indent="0">
              <a:lnSpc>
                <a:spcPct val="80000"/>
              </a:lnSpc>
              <a:buFont typeface="Monotype Sorts"/>
              <a:buNone/>
            </a:pPr>
            <a:r>
              <a:rPr lang="en-AU" altLang="en-US" sz="2000"/>
              <a:t>Output: a minimum spanning tree with the starting vertex s as the root</a:t>
            </a:r>
          </a:p>
          <a:p>
            <a:pPr marL="0" indent="0">
              <a:lnSpc>
                <a:spcPct val="80000"/>
              </a:lnSpc>
              <a:buFont typeface="Monotype Sorts"/>
              <a:buNone/>
            </a:pPr>
            <a:r>
              <a:rPr lang="en-AU" altLang="en-US" sz="2000"/>
              <a:t> 1  MST getMinimumSpanngingTree(s) {</a:t>
            </a:r>
          </a:p>
          <a:p>
            <a:pPr marL="0" indent="0">
              <a:lnSpc>
                <a:spcPct val="80000"/>
              </a:lnSpc>
              <a:buFont typeface="Monotype Sorts"/>
              <a:buNone/>
            </a:pPr>
            <a:r>
              <a:rPr lang="en-AU" altLang="en-US" sz="2000"/>
              <a:t> 2    Let T be a set that contains the vertices in the spanning tree; </a:t>
            </a:r>
          </a:p>
          <a:p>
            <a:pPr marL="0" indent="0">
              <a:lnSpc>
                <a:spcPct val="80000"/>
              </a:lnSpc>
              <a:buFont typeface="Monotype Sorts"/>
              <a:buNone/>
            </a:pPr>
            <a:r>
              <a:rPr lang="en-AU" altLang="en-US" sz="2000"/>
              <a:t> 3    Initially T is empty;</a:t>
            </a:r>
            <a:endParaRPr lang="en-US" altLang="en-US" sz="2000"/>
          </a:p>
          <a:p>
            <a:pPr marL="0" indent="0">
              <a:lnSpc>
                <a:spcPct val="80000"/>
              </a:lnSpc>
              <a:buFont typeface="Monotype Sorts"/>
              <a:buNone/>
            </a:pPr>
            <a:r>
              <a:rPr lang="en-US" altLang="en-US" sz="2000"/>
              <a:t> 4    Set </a:t>
            </a:r>
            <a:r>
              <a:rPr lang="en-AU" altLang="en-US" sz="2000"/>
              <a:t>cost[s] = </a:t>
            </a:r>
            <a:r>
              <a:rPr lang="en-US" altLang="en-US" sz="2000" b="1"/>
              <a:t>0</a:t>
            </a:r>
            <a:r>
              <a:rPr lang="en-AU" altLang="en-US" sz="2000"/>
              <a:t>; and cost</a:t>
            </a:r>
            <a:r>
              <a:rPr lang="en-US" altLang="en-US" sz="2000"/>
              <a:t>[v] = infinity for all other vertices in V;</a:t>
            </a:r>
            <a:endParaRPr lang="en-AU" altLang="en-US" sz="2000"/>
          </a:p>
          <a:p>
            <a:pPr marL="0" indent="0">
              <a:lnSpc>
                <a:spcPct val="80000"/>
              </a:lnSpc>
              <a:buFont typeface="Monotype Sorts"/>
              <a:buNone/>
            </a:pPr>
            <a:r>
              <a:rPr lang="en-AU" altLang="en-US" sz="2000"/>
              <a:t> 5      </a:t>
            </a:r>
          </a:p>
          <a:p>
            <a:pPr marL="0" indent="0">
              <a:lnSpc>
                <a:spcPct val="80000"/>
              </a:lnSpc>
              <a:buFont typeface="Monotype Sorts"/>
              <a:buNone/>
            </a:pPr>
            <a:r>
              <a:rPr lang="en-AU" altLang="en-US" sz="2000"/>
              <a:t> 6    </a:t>
            </a:r>
            <a:r>
              <a:rPr lang="en-AU" altLang="en-US" sz="2000" b="1"/>
              <a:t>while</a:t>
            </a:r>
            <a:r>
              <a:rPr lang="en-AU" altLang="en-US" sz="2000"/>
              <a:t> (size of T &lt; n) {</a:t>
            </a:r>
          </a:p>
          <a:p>
            <a:pPr marL="0" indent="0">
              <a:lnSpc>
                <a:spcPct val="80000"/>
              </a:lnSpc>
              <a:buFont typeface="Monotype Sorts"/>
              <a:buNone/>
            </a:pPr>
            <a:r>
              <a:rPr lang="en-AU" altLang="en-US" sz="2000"/>
              <a:t> 7      Find u not in T with the smallest cost[u];</a:t>
            </a:r>
          </a:p>
          <a:p>
            <a:pPr marL="0" indent="0">
              <a:lnSpc>
                <a:spcPct val="80000"/>
              </a:lnSpc>
              <a:buFont typeface="Monotype Sorts"/>
              <a:buNone/>
            </a:pPr>
            <a:r>
              <a:rPr lang="en-AU" altLang="en-US" sz="2000"/>
              <a:t> 8      Add u to T;</a:t>
            </a:r>
          </a:p>
          <a:p>
            <a:pPr marL="0" indent="0">
              <a:lnSpc>
                <a:spcPct val="80000"/>
              </a:lnSpc>
              <a:buFont typeface="Monotype Sorts"/>
              <a:buNone/>
            </a:pPr>
            <a:r>
              <a:rPr lang="en-AU" altLang="en-US" sz="2000"/>
              <a:t> 9      for (each v not in T and (u, v) in E) </a:t>
            </a:r>
          </a:p>
          <a:p>
            <a:pPr marL="0" indent="0">
              <a:lnSpc>
                <a:spcPct val="80000"/>
              </a:lnSpc>
              <a:buFont typeface="Monotype Sorts"/>
              <a:buNone/>
            </a:pPr>
            <a:r>
              <a:rPr lang="en-AU" altLang="en-US" sz="2000"/>
              <a:t>10        if (cost[v] &gt; w(u, v)) {</a:t>
            </a:r>
          </a:p>
          <a:p>
            <a:pPr marL="0" indent="0">
              <a:lnSpc>
                <a:spcPct val="80000"/>
              </a:lnSpc>
              <a:buFont typeface="Monotype Sorts"/>
              <a:buNone/>
            </a:pPr>
            <a:r>
              <a:rPr lang="en-AU" altLang="en-US" sz="2000"/>
              <a:t>11          cost[v] = w(u, v); parent[v] = u;</a:t>
            </a:r>
          </a:p>
          <a:p>
            <a:pPr marL="0" indent="0">
              <a:lnSpc>
                <a:spcPct val="80000"/>
              </a:lnSpc>
              <a:buFont typeface="Monotype Sorts"/>
              <a:buNone/>
            </a:pPr>
            <a:r>
              <a:rPr lang="en-AU" altLang="en-US" sz="2000"/>
              <a:t>12       }</a:t>
            </a:r>
          </a:p>
          <a:p>
            <a:pPr marL="0" indent="0">
              <a:lnSpc>
                <a:spcPct val="80000"/>
              </a:lnSpc>
              <a:buFont typeface="Monotype Sorts"/>
              <a:buNone/>
            </a:pPr>
            <a:r>
              <a:rPr lang="en-AU" altLang="en-US" sz="2000"/>
              <a:t>13    }</a:t>
            </a:r>
            <a:endParaRPr lang="en-US" altLang="en-US" sz="2000"/>
          </a:p>
        </p:txBody>
      </p:sp>
      <p:sp>
        <p:nvSpPr>
          <p:cNvPr id="17413" name="Rectangle 4">
            <a:extLst>
              <a:ext uri="{FF2B5EF4-FFF2-40B4-BE49-F238E27FC236}">
                <a16:creationId xmlns:a16="http://schemas.microsoft.com/office/drawing/2014/main" id="{AF8C9769-BD8B-A28F-60B1-E54ECEBE1E05}"/>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4" name="Rectangle 5">
            <a:extLst>
              <a:ext uri="{FF2B5EF4-FFF2-40B4-BE49-F238E27FC236}">
                <a16:creationId xmlns:a16="http://schemas.microsoft.com/office/drawing/2014/main" id="{999CA381-6485-C083-C597-0CD9C3076C0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5" name="Rectangle 6">
            <a:extLst>
              <a:ext uri="{FF2B5EF4-FFF2-40B4-BE49-F238E27FC236}">
                <a16:creationId xmlns:a16="http://schemas.microsoft.com/office/drawing/2014/main" id="{ED1C7217-4FF6-B8A8-CA51-7F8E7EE4E54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6" name="Rectangle 7">
            <a:extLst>
              <a:ext uri="{FF2B5EF4-FFF2-40B4-BE49-F238E27FC236}">
                <a16:creationId xmlns:a16="http://schemas.microsoft.com/office/drawing/2014/main" id="{2F224E69-19D3-3F55-1C26-7B5203D434EC}"/>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2B535496-3066-7089-EF6A-6EC47975CD4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9588D4C-7146-4A9D-BD43-B4FEE59E6604}" type="slidenum">
              <a:rPr lang="en-US" altLang="en-US" sz="1400"/>
              <a:pPr>
                <a:spcBef>
                  <a:spcPct val="0"/>
                </a:spcBef>
                <a:buClrTx/>
                <a:buSzTx/>
                <a:buFontTx/>
                <a:buNone/>
              </a:pPr>
              <a:t>16</a:t>
            </a:fld>
            <a:endParaRPr lang="en-US" altLang="en-US" sz="1400"/>
          </a:p>
        </p:txBody>
      </p:sp>
      <p:sp>
        <p:nvSpPr>
          <p:cNvPr id="18435" name="Rectangle 2">
            <a:extLst>
              <a:ext uri="{FF2B5EF4-FFF2-40B4-BE49-F238E27FC236}">
                <a16:creationId xmlns:a16="http://schemas.microsoft.com/office/drawing/2014/main" id="{EF7E65EB-13E9-F144-0A79-45AEEFA88D7B}"/>
              </a:ext>
            </a:extLst>
          </p:cNvPr>
          <p:cNvSpPr>
            <a:spLocks noGrp="1" noChangeArrowheads="1"/>
          </p:cNvSpPr>
          <p:nvPr>
            <p:ph type="title"/>
          </p:nvPr>
        </p:nvSpPr>
        <p:spPr>
          <a:xfrm>
            <a:off x="228600" y="152400"/>
            <a:ext cx="8686800" cy="1295400"/>
          </a:xfrm>
        </p:spPr>
        <p:txBody>
          <a:bodyPr/>
          <a:lstStyle/>
          <a:p>
            <a:r>
              <a:rPr lang="en-US" altLang="en-US"/>
              <a:t>Implementing MST Algorithm</a:t>
            </a:r>
          </a:p>
        </p:txBody>
      </p:sp>
      <p:sp>
        <p:nvSpPr>
          <p:cNvPr id="18436" name="Rectangle 3">
            <a:extLst>
              <a:ext uri="{FF2B5EF4-FFF2-40B4-BE49-F238E27FC236}">
                <a16:creationId xmlns:a16="http://schemas.microsoft.com/office/drawing/2014/main" id="{2B097EBD-33AC-00F2-6DC8-1E1B3A43EB3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7" name="Rectangle 4">
            <a:extLst>
              <a:ext uri="{FF2B5EF4-FFF2-40B4-BE49-F238E27FC236}">
                <a16:creationId xmlns:a16="http://schemas.microsoft.com/office/drawing/2014/main" id="{617AA2EE-F1DD-03DF-9419-ACF607C06AD8}"/>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8" name="Rectangle 5">
            <a:extLst>
              <a:ext uri="{FF2B5EF4-FFF2-40B4-BE49-F238E27FC236}">
                <a16:creationId xmlns:a16="http://schemas.microsoft.com/office/drawing/2014/main" id="{8329213E-6A8D-FD2C-F0FC-8696876F28EE}"/>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9" name="Rectangle 6">
            <a:extLst>
              <a:ext uri="{FF2B5EF4-FFF2-40B4-BE49-F238E27FC236}">
                <a16:creationId xmlns:a16="http://schemas.microsoft.com/office/drawing/2014/main" id="{CF6E6E3E-916E-EA8D-E71D-B73CE2016720}"/>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0" name="Rectangle 7">
            <a:extLst>
              <a:ext uri="{FF2B5EF4-FFF2-40B4-BE49-F238E27FC236}">
                <a16:creationId xmlns:a16="http://schemas.microsoft.com/office/drawing/2014/main" id="{8D3BD870-7764-ED85-F1CD-A5ABBCA31594}"/>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1" name="Rectangle 8">
            <a:extLst>
              <a:ext uri="{FF2B5EF4-FFF2-40B4-BE49-F238E27FC236}">
                <a16:creationId xmlns:a16="http://schemas.microsoft.com/office/drawing/2014/main" id="{D8CB13FF-FF71-CB75-894E-7DEB7F436B9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2" name="Rectangle 10">
            <a:extLst>
              <a:ext uri="{FF2B5EF4-FFF2-40B4-BE49-F238E27FC236}">
                <a16:creationId xmlns:a16="http://schemas.microsoft.com/office/drawing/2014/main" id="{947FCC52-ABDE-42CB-1003-932E93A61EB8}"/>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3" name="Rectangle 12">
            <a:extLst>
              <a:ext uri="{FF2B5EF4-FFF2-40B4-BE49-F238E27FC236}">
                <a16:creationId xmlns:a16="http://schemas.microsoft.com/office/drawing/2014/main" id="{D49D260C-8A59-CB45-AD1B-B8C22313672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4" name="Rectangle 14">
            <a:extLst>
              <a:ext uri="{FF2B5EF4-FFF2-40B4-BE49-F238E27FC236}">
                <a16:creationId xmlns:a16="http://schemas.microsoft.com/office/drawing/2014/main" id="{C554780E-F2B9-E3AA-42EE-84570FA0F756}"/>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5" name="Rectangle 16">
            <a:extLst>
              <a:ext uri="{FF2B5EF4-FFF2-40B4-BE49-F238E27FC236}">
                <a16:creationId xmlns:a16="http://schemas.microsoft.com/office/drawing/2014/main" id="{FFD65420-8269-4820-846B-8155D0CE208D}"/>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6" name="Rectangle 18">
            <a:extLst>
              <a:ext uri="{FF2B5EF4-FFF2-40B4-BE49-F238E27FC236}">
                <a16:creationId xmlns:a16="http://schemas.microsoft.com/office/drawing/2014/main" id="{56F8104A-EB3F-E6BD-E309-CDF4B4550F0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7" name="Rectangle 23">
            <a:extLst>
              <a:ext uri="{FF2B5EF4-FFF2-40B4-BE49-F238E27FC236}">
                <a16:creationId xmlns:a16="http://schemas.microsoft.com/office/drawing/2014/main" id="{AFC588E0-C14F-B285-5340-CF0B97B0A9F6}"/>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8448" name="Picture 18">
            <a:extLst>
              <a:ext uri="{FF2B5EF4-FFF2-40B4-BE49-F238E27FC236}">
                <a16:creationId xmlns:a16="http://schemas.microsoft.com/office/drawing/2014/main" id="{547BB1D3-C55A-07B5-50D2-333327BB8962}"/>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502650" cy="232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07266146-50C5-E89C-9E44-A07A46CF2AB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39BBDDD-9B10-412D-B224-534023240B45}" type="slidenum">
              <a:rPr lang="en-US" altLang="en-US" sz="1400"/>
              <a:pPr>
                <a:spcBef>
                  <a:spcPct val="0"/>
                </a:spcBef>
                <a:buClrTx/>
                <a:buSzTx/>
                <a:buFontTx/>
                <a:buNone/>
              </a:pPr>
              <a:t>17</a:t>
            </a:fld>
            <a:endParaRPr lang="en-US" altLang="en-US" sz="1400"/>
          </a:p>
        </p:txBody>
      </p:sp>
      <p:sp>
        <p:nvSpPr>
          <p:cNvPr id="19459" name="Rectangle 2">
            <a:extLst>
              <a:ext uri="{FF2B5EF4-FFF2-40B4-BE49-F238E27FC236}">
                <a16:creationId xmlns:a16="http://schemas.microsoft.com/office/drawing/2014/main" id="{B26FA940-BBF8-2D27-F5A9-C331EB8C2B16}"/>
              </a:ext>
            </a:extLst>
          </p:cNvPr>
          <p:cNvSpPr>
            <a:spLocks noGrp="1" noChangeArrowheads="1"/>
          </p:cNvSpPr>
          <p:nvPr>
            <p:ph type="title"/>
          </p:nvPr>
        </p:nvSpPr>
        <p:spPr>
          <a:xfrm>
            <a:off x="228600" y="152400"/>
            <a:ext cx="8686800" cy="1295400"/>
          </a:xfrm>
        </p:spPr>
        <p:txBody>
          <a:bodyPr/>
          <a:lstStyle/>
          <a:p>
            <a:r>
              <a:rPr lang="en-US" altLang="en-US"/>
              <a:t>Time Complexity</a:t>
            </a:r>
          </a:p>
        </p:txBody>
      </p:sp>
      <p:sp>
        <p:nvSpPr>
          <p:cNvPr id="19460" name="Rectangle 3">
            <a:extLst>
              <a:ext uri="{FF2B5EF4-FFF2-40B4-BE49-F238E27FC236}">
                <a16:creationId xmlns:a16="http://schemas.microsoft.com/office/drawing/2014/main" id="{238F34AA-7BAB-4922-2EBB-A6DF34153A9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1" name="Rectangle 4">
            <a:extLst>
              <a:ext uri="{FF2B5EF4-FFF2-40B4-BE49-F238E27FC236}">
                <a16:creationId xmlns:a16="http://schemas.microsoft.com/office/drawing/2014/main" id="{2671E154-0D2D-95B0-3F7B-9B462D7152D0}"/>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2" name="Rectangle 5">
            <a:extLst>
              <a:ext uri="{FF2B5EF4-FFF2-40B4-BE49-F238E27FC236}">
                <a16:creationId xmlns:a16="http://schemas.microsoft.com/office/drawing/2014/main" id="{9B36EFC0-0DAC-FBB7-36DF-290FD63B4A4F}"/>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3" name="Rectangle 6">
            <a:extLst>
              <a:ext uri="{FF2B5EF4-FFF2-40B4-BE49-F238E27FC236}">
                <a16:creationId xmlns:a16="http://schemas.microsoft.com/office/drawing/2014/main" id="{993AF0EC-3DFD-EEFC-C79D-C871B44072C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4" name="Rectangle 7">
            <a:extLst>
              <a:ext uri="{FF2B5EF4-FFF2-40B4-BE49-F238E27FC236}">
                <a16:creationId xmlns:a16="http://schemas.microsoft.com/office/drawing/2014/main" id="{18763F9B-A396-6558-C904-A38DBA45FC57}"/>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5" name="Rectangle 8">
            <a:extLst>
              <a:ext uri="{FF2B5EF4-FFF2-40B4-BE49-F238E27FC236}">
                <a16:creationId xmlns:a16="http://schemas.microsoft.com/office/drawing/2014/main" id="{A9F0399C-18CE-A132-794A-73AACA20750C}"/>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6" name="Rectangle 9">
            <a:extLst>
              <a:ext uri="{FF2B5EF4-FFF2-40B4-BE49-F238E27FC236}">
                <a16:creationId xmlns:a16="http://schemas.microsoft.com/office/drawing/2014/main" id="{D9286F4A-7A11-891A-AD47-32FEF36C92B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7" name="Rectangle 10">
            <a:extLst>
              <a:ext uri="{FF2B5EF4-FFF2-40B4-BE49-F238E27FC236}">
                <a16:creationId xmlns:a16="http://schemas.microsoft.com/office/drawing/2014/main" id="{5B6FE7CC-4D50-C6E6-2FE1-959C15BFAD5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8" name="Rectangle 11">
            <a:extLst>
              <a:ext uri="{FF2B5EF4-FFF2-40B4-BE49-F238E27FC236}">
                <a16:creationId xmlns:a16="http://schemas.microsoft.com/office/drawing/2014/main" id="{40A81F38-8E29-C87C-4008-940C6CE27E0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9" name="Rectangle 12">
            <a:extLst>
              <a:ext uri="{FF2B5EF4-FFF2-40B4-BE49-F238E27FC236}">
                <a16:creationId xmlns:a16="http://schemas.microsoft.com/office/drawing/2014/main" id="{B329CFEA-2303-E8F3-4B44-E221504D5DCB}"/>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0" name="Rectangle 13">
            <a:extLst>
              <a:ext uri="{FF2B5EF4-FFF2-40B4-BE49-F238E27FC236}">
                <a16:creationId xmlns:a16="http://schemas.microsoft.com/office/drawing/2014/main" id="{96B0F35C-DF02-6E4F-69C5-924D57C6A52F}"/>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1" name="Rectangle 14">
            <a:extLst>
              <a:ext uri="{FF2B5EF4-FFF2-40B4-BE49-F238E27FC236}">
                <a16:creationId xmlns:a16="http://schemas.microsoft.com/office/drawing/2014/main" id="{4E152D78-86E5-BCA1-F4EA-129356511140}"/>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2" name="Rectangle 16">
            <a:extLst>
              <a:ext uri="{FF2B5EF4-FFF2-40B4-BE49-F238E27FC236}">
                <a16:creationId xmlns:a16="http://schemas.microsoft.com/office/drawing/2014/main" id="{A8CEA3C7-CCC6-A621-A57D-E508E5E58470}"/>
              </a:ext>
            </a:extLst>
          </p:cNvPr>
          <p:cNvSpPr>
            <a:spLocks noChangeArrowheads="1"/>
          </p:cNvSpPr>
          <p:nvPr/>
        </p:nvSpPr>
        <p:spPr bwMode="auto">
          <a:xfrm>
            <a:off x="228600" y="1447800"/>
            <a:ext cx="86106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AU" altLang="en-US"/>
              <a:t>Note that testing whether a vertex </a:t>
            </a:r>
            <a:r>
              <a:rPr lang="en-AU" altLang="en-US" b="1"/>
              <a:t>i</a:t>
            </a:r>
            <a:r>
              <a:rPr lang="en-AU" altLang="en-US"/>
              <a:t> is in </a:t>
            </a:r>
            <a:r>
              <a:rPr lang="en-AU" altLang="en-US" b="1"/>
              <a:t>T</a:t>
            </a:r>
            <a:r>
              <a:rPr lang="en-AU" altLang="en-US"/>
              <a:t> by invoking </a:t>
            </a:r>
            <a:r>
              <a:rPr lang="en-AU" altLang="en-US" b="1"/>
              <a:t>T.conatins(i)</a:t>
            </a:r>
            <a:r>
              <a:rPr lang="en-AU" altLang="en-US"/>
              <a:t> takes </a:t>
            </a:r>
            <a:r>
              <a:rPr lang="en-AU" altLang="en-US" b="1"/>
              <a:t>O(n)</a:t>
            </a:r>
            <a:r>
              <a:rPr lang="en-AU" altLang="en-US"/>
              <a:t> time, since </a:t>
            </a:r>
            <a:r>
              <a:rPr lang="en-AU" altLang="en-US" b="1"/>
              <a:t>T</a:t>
            </a:r>
            <a:r>
              <a:rPr lang="en-AU" altLang="en-US"/>
              <a:t> is a list. Therefore, the overall time complexity for this implemention is O(n</a:t>
            </a:r>
            <a:r>
              <a:rPr lang="en-AU" altLang="en-US" baseline="30000"/>
              <a:t>3</a:t>
            </a:r>
            <a:r>
              <a:rPr lang="en-AU" altLang="en-US"/>
              <a:t>). Interested readers may see Programming Exercise 29.20 for improving the implementation and reduce the complexity to O(n</a:t>
            </a:r>
            <a:r>
              <a:rPr lang="en-AU" altLang="en-US" baseline="30000"/>
              <a:t>2</a:t>
            </a:r>
            <a:r>
              <a:rPr lang="en-AU" altLang="en-US"/>
              <a:t>).</a:t>
            </a:r>
            <a:endParaRPr lang="en-US"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CD9D87E2-465D-C2B4-FE7D-4F4FBBA6304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6E56361-39BF-4E1A-B40B-5F41999C19DE}" type="slidenum">
              <a:rPr lang="en-US" altLang="en-US" sz="1400"/>
              <a:pPr>
                <a:spcBef>
                  <a:spcPct val="0"/>
                </a:spcBef>
                <a:buClrTx/>
                <a:buSzTx/>
                <a:buFontTx/>
                <a:buNone/>
              </a:pPr>
              <a:t>18</a:t>
            </a:fld>
            <a:endParaRPr lang="en-US" altLang="en-US" sz="1400"/>
          </a:p>
        </p:txBody>
      </p:sp>
      <p:sp>
        <p:nvSpPr>
          <p:cNvPr id="20483" name="Rectangle 3">
            <a:extLst>
              <a:ext uri="{FF2B5EF4-FFF2-40B4-BE49-F238E27FC236}">
                <a16:creationId xmlns:a16="http://schemas.microsoft.com/office/drawing/2014/main" id="{88F5CD3B-E7D5-948F-3195-8E83FCC96FE3}"/>
              </a:ext>
            </a:extLst>
          </p:cNvPr>
          <p:cNvSpPr>
            <a:spLocks noChangeArrowheads="1"/>
          </p:cNvSpPr>
          <p:nvPr/>
        </p:nvSpPr>
        <p:spPr bwMode="auto">
          <a:xfrm>
            <a:off x="0" y="2640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4" name="Rectangle 5">
            <a:extLst>
              <a:ext uri="{FF2B5EF4-FFF2-40B4-BE49-F238E27FC236}">
                <a16:creationId xmlns:a16="http://schemas.microsoft.com/office/drawing/2014/main" id="{E313BFB2-602C-0246-1C1E-E39AD6EC71B6}"/>
              </a:ext>
            </a:extLst>
          </p:cNvPr>
          <p:cNvSpPr>
            <a:spLocks noChangeArrowheads="1"/>
          </p:cNvSpPr>
          <p:nvPr/>
        </p:nvSpPr>
        <p:spPr bwMode="auto">
          <a:xfrm>
            <a:off x="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5" name="Rectangle 7">
            <a:extLst>
              <a:ext uri="{FF2B5EF4-FFF2-40B4-BE49-F238E27FC236}">
                <a16:creationId xmlns:a16="http://schemas.microsoft.com/office/drawing/2014/main" id="{C6943BA0-3C82-DCF9-F5DF-9187235A6BAD}"/>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6" name="Rectangle 9">
            <a:extLst>
              <a:ext uri="{FF2B5EF4-FFF2-40B4-BE49-F238E27FC236}">
                <a16:creationId xmlns:a16="http://schemas.microsoft.com/office/drawing/2014/main" id="{D7737FFD-CF55-B19E-A406-71B7EE898476}"/>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7" name="Rectangle 11">
            <a:extLst>
              <a:ext uri="{FF2B5EF4-FFF2-40B4-BE49-F238E27FC236}">
                <a16:creationId xmlns:a16="http://schemas.microsoft.com/office/drawing/2014/main" id="{33627ACC-660A-EB47-FA62-93C6B8ED0CFC}"/>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8" name="Rectangle 14">
            <a:extLst>
              <a:ext uri="{FF2B5EF4-FFF2-40B4-BE49-F238E27FC236}">
                <a16:creationId xmlns:a16="http://schemas.microsoft.com/office/drawing/2014/main" id="{64E34B84-84A4-B238-3C2F-21228EB04742}"/>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9" name="AutoShape 15">
            <a:hlinkClick r:id="rId2" action="ppaction://program" highlightClick="1"/>
            <a:extLst>
              <a:ext uri="{FF2B5EF4-FFF2-40B4-BE49-F238E27FC236}">
                <a16:creationId xmlns:a16="http://schemas.microsoft.com/office/drawing/2014/main" id="{2F2AE15A-E3FB-0148-B8CF-D1E08C63F65A}"/>
              </a:ext>
            </a:extLst>
          </p:cNvPr>
          <p:cNvSpPr>
            <a:spLocks noChangeArrowheads="1"/>
          </p:cNvSpPr>
          <p:nvPr/>
        </p:nvSpPr>
        <p:spPr bwMode="auto">
          <a:xfrm>
            <a:off x="4724400" y="5791200"/>
            <a:ext cx="41910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TestMinimumSpanningTree</a:t>
            </a:r>
          </a:p>
        </p:txBody>
      </p:sp>
      <p:sp>
        <p:nvSpPr>
          <p:cNvPr id="500752" name="AutoShape 16">
            <a:hlinkClick r:id="" action="ppaction://noaction" highlightClick="1"/>
            <a:extLst>
              <a:ext uri="{FF2B5EF4-FFF2-40B4-BE49-F238E27FC236}">
                <a16:creationId xmlns:a16="http://schemas.microsoft.com/office/drawing/2014/main" id="{FF54FC30-8A4A-344C-9C0F-4B067DE60786}"/>
              </a:ext>
            </a:extLst>
          </p:cNvPr>
          <p:cNvSpPr>
            <a:spLocks noChangeArrowheads="1"/>
          </p:cNvSpPr>
          <p:nvPr/>
        </p:nvSpPr>
        <p:spPr bwMode="auto">
          <a:xfrm>
            <a:off x="152400" y="5791200"/>
            <a:ext cx="4267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3" action="ppaction://program">
                  <a:extLst>
                    <a:ext uri="{A12FA001-AC4F-418D-AE19-62706E023703}">
                      <ahyp:hlinkClr xmlns:ahyp="http://schemas.microsoft.com/office/drawing/2018/hyperlinkcolor" val="tx"/>
                    </a:ext>
                  </a:extLst>
                </a:hlinkClick>
              </a:rPr>
              <a:t>TestMinimumSpanningTree</a:t>
            </a:r>
            <a:endParaRPr lang="en-US" dirty="0">
              <a:solidFill>
                <a:srgbClr val="002060"/>
              </a:solidFill>
            </a:endParaRPr>
          </a:p>
        </p:txBody>
      </p:sp>
      <p:sp>
        <p:nvSpPr>
          <p:cNvPr id="20491" name="Rectangle 18">
            <a:extLst>
              <a:ext uri="{FF2B5EF4-FFF2-40B4-BE49-F238E27FC236}">
                <a16:creationId xmlns:a16="http://schemas.microsoft.com/office/drawing/2014/main" id="{48197F07-0D54-0CBD-D427-F5C925D5BDA3}"/>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0492" name="Picture 16">
            <a:extLst>
              <a:ext uri="{FF2B5EF4-FFF2-40B4-BE49-F238E27FC236}">
                <a16:creationId xmlns:a16="http://schemas.microsoft.com/office/drawing/2014/main" id="{AB379F54-EF44-E252-2C4B-D0E2107A4EB0}"/>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641350"/>
            <a:ext cx="8394700" cy="4979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0493" name="AutoShape 19">
            <a:hlinkClick r:id="rId5" highlightClick="1"/>
            <a:extLst>
              <a:ext uri="{FF2B5EF4-FFF2-40B4-BE49-F238E27FC236}">
                <a16:creationId xmlns:a16="http://schemas.microsoft.com/office/drawing/2014/main" id="{4933E9F6-8115-3B31-591E-3E70EDBACDFF}"/>
              </a:ext>
            </a:extLst>
          </p:cNvPr>
          <p:cNvSpPr>
            <a:spLocks noChangeArrowheads="1"/>
          </p:cNvSpPr>
          <p:nvPr/>
        </p:nvSpPr>
        <p:spPr bwMode="auto">
          <a:xfrm>
            <a:off x="76200" y="5334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4" name="Rectangle 2">
            <a:extLst>
              <a:ext uri="{FF2B5EF4-FFF2-40B4-BE49-F238E27FC236}">
                <a16:creationId xmlns:a16="http://schemas.microsoft.com/office/drawing/2014/main" id="{951D2DD0-40C6-B55A-A055-B9FFB54ADE1C}"/>
              </a:ext>
            </a:extLst>
          </p:cNvPr>
          <p:cNvSpPr>
            <a:spLocks noGrp="1" noChangeArrowheads="1"/>
          </p:cNvSpPr>
          <p:nvPr>
            <p:ph type="title"/>
          </p:nvPr>
        </p:nvSpPr>
        <p:spPr>
          <a:xfrm>
            <a:off x="685800" y="285750"/>
            <a:ext cx="7772400" cy="628650"/>
          </a:xfrm>
        </p:spPr>
        <p:txBody>
          <a:bodyPr/>
          <a:lstStyle/>
          <a:p>
            <a:r>
              <a:rPr lang="en-US" altLang="en-US" sz="4000"/>
              <a:t>Test MST</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7E660A9E-5B8F-1B4D-8354-BE2F04AF221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95712CD-9DB4-4DCB-9A72-2CC5F994DAD3}" type="slidenum">
              <a:rPr lang="en-US" altLang="en-US" sz="1400"/>
              <a:pPr>
                <a:spcBef>
                  <a:spcPct val="0"/>
                </a:spcBef>
                <a:buClrTx/>
                <a:buSzTx/>
                <a:buFontTx/>
                <a:buNone/>
              </a:pPr>
              <a:t>19</a:t>
            </a:fld>
            <a:endParaRPr lang="en-US" altLang="en-US" sz="1400"/>
          </a:p>
        </p:txBody>
      </p:sp>
      <p:sp>
        <p:nvSpPr>
          <p:cNvPr id="21507" name="Rectangle 2">
            <a:extLst>
              <a:ext uri="{FF2B5EF4-FFF2-40B4-BE49-F238E27FC236}">
                <a16:creationId xmlns:a16="http://schemas.microsoft.com/office/drawing/2014/main" id="{2FF28F78-1ADF-CBEB-F263-0FC866F131C3}"/>
              </a:ext>
            </a:extLst>
          </p:cNvPr>
          <p:cNvSpPr>
            <a:spLocks noGrp="1" noChangeArrowheads="1"/>
          </p:cNvSpPr>
          <p:nvPr>
            <p:ph type="title"/>
          </p:nvPr>
        </p:nvSpPr>
        <p:spPr>
          <a:xfrm>
            <a:off x="685800" y="228600"/>
            <a:ext cx="7772400" cy="609600"/>
          </a:xfrm>
        </p:spPr>
        <p:txBody>
          <a:bodyPr/>
          <a:lstStyle/>
          <a:p>
            <a:r>
              <a:rPr lang="en-US" altLang="en-US"/>
              <a:t>Shortest Path </a:t>
            </a:r>
          </a:p>
        </p:txBody>
      </p:sp>
      <p:sp>
        <p:nvSpPr>
          <p:cNvPr id="21508" name="Rectangle 3">
            <a:extLst>
              <a:ext uri="{FF2B5EF4-FFF2-40B4-BE49-F238E27FC236}">
                <a16:creationId xmlns:a16="http://schemas.microsoft.com/office/drawing/2014/main" id="{91F95855-8872-B3FB-CE82-14EA381F858C}"/>
              </a:ext>
            </a:extLst>
          </p:cNvPr>
          <p:cNvSpPr>
            <a:spLocks noGrp="1" noChangeArrowheads="1"/>
          </p:cNvSpPr>
          <p:nvPr>
            <p:ph type="body" idx="1"/>
          </p:nvPr>
        </p:nvSpPr>
        <p:spPr>
          <a:xfrm>
            <a:off x="304800" y="1066800"/>
            <a:ext cx="8458200" cy="5029200"/>
          </a:xfrm>
        </p:spPr>
        <p:txBody>
          <a:bodyPr/>
          <a:lstStyle/>
          <a:p>
            <a:pPr marL="0" indent="0">
              <a:spcBef>
                <a:spcPct val="0"/>
              </a:spcBef>
              <a:buFont typeface="Monotype Sorts"/>
              <a:buNone/>
            </a:pPr>
            <a:r>
              <a:rPr lang="en-US" altLang="en-US"/>
              <a:t>§29.1 introduced the problem of finding the shortest distance between two cities for the graph in Figure 29.1. The answer to this problem is to find a shortest path between two vertices in the graph. </a:t>
            </a:r>
          </a:p>
        </p:txBody>
      </p:sp>
      <p:sp>
        <p:nvSpPr>
          <p:cNvPr id="21509" name="Rectangle 4">
            <a:extLst>
              <a:ext uri="{FF2B5EF4-FFF2-40B4-BE49-F238E27FC236}">
                <a16:creationId xmlns:a16="http://schemas.microsoft.com/office/drawing/2014/main" id="{52BB378E-C993-8FC7-2151-70F1FD49BAA1}"/>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1BA4EF9A-2A0D-E1F3-D46A-E5B63D71467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35AE2E6-EA35-42DF-BC64-88D207FA30EB}" type="slidenum">
              <a:rPr lang="en-US" altLang="en-US" sz="1400"/>
              <a:pPr>
                <a:spcBef>
                  <a:spcPct val="0"/>
                </a:spcBef>
                <a:buClrTx/>
                <a:buSzTx/>
                <a:buFontTx/>
                <a:buNone/>
              </a:pPr>
              <a:t>20</a:t>
            </a:fld>
            <a:endParaRPr lang="en-US" altLang="en-US" sz="1400"/>
          </a:p>
        </p:txBody>
      </p:sp>
      <p:sp>
        <p:nvSpPr>
          <p:cNvPr id="22531" name="Rectangle 2">
            <a:extLst>
              <a:ext uri="{FF2B5EF4-FFF2-40B4-BE49-F238E27FC236}">
                <a16:creationId xmlns:a16="http://schemas.microsoft.com/office/drawing/2014/main" id="{D0CA6239-B7D4-F109-5C19-86087CE60438}"/>
              </a:ext>
            </a:extLst>
          </p:cNvPr>
          <p:cNvSpPr>
            <a:spLocks noGrp="1" noChangeArrowheads="1"/>
          </p:cNvSpPr>
          <p:nvPr>
            <p:ph type="title"/>
          </p:nvPr>
        </p:nvSpPr>
        <p:spPr>
          <a:xfrm>
            <a:off x="152400" y="228600"/>
            <a:ext cx="8991600" cy="609600"/>
          </a:xfrm>
        </p:spPr>
        <p:txBody>
          <a:bodyPr/>
          <a:lstStyle/>
          <a:p>
            <a:r>
              <a:rPr lang="en-US" altLang="en-US"/>
              <a:t>Single Source Shortest Path Algorithm </a:t>
            </a:r>
          </a:p>
        </p:txBody>
      </p:sp>
      <p:sp>
        <p:nvSpPr>
          <p:cNvPr id="22532" name="Rectangle 3">
            <a:extLst>
              <a:ext uri="{FF2B5EF4-FFF2-40B4-BE49-F238E27FC236}">
                <a16:creationId xmlns:a16="http://schemas.microsoft.com/office/drawing/2014/main" id="{65CF6393-6774-C74A-DB62-A05C5F63A2D5}"/>
              </a:ext>
            </a:extLst>
          </p:cNvPr>
          <p:cNvSpPr>
            <a:spLocks noGrp="1" noChangeArrowheads="1"/>
          </p:cNvSpPr>
          <p:nvPr>
            <p:ph type="body" idx="1"/>
          </p:nvPr>
        </p:nvSpPr>
        <p:spPr>
          <a:xfrm>
            <a:off x="228600" y="914400"/>
            <a:ext cx="8534400" cy="5562600"/>
          </a:xfrm>
        </p:spPr>
        <p:txBody>
          <a:bodyPr/>
          <a:lstStyle/>
          <a:p>
            <a:pPr marL="0" indent="0" hangingPunct="1">
              <a:buFont typeface="Monotype Sorts"/>
              <a:buNone/>
            </a:pPr>
            <a:r>
              <a:rPr lang="en-US" altLang="en-US" sz="1800"/>
              <a:t>Input: a graph G = (V, E) with non-negative weights</a:t>
            </a:r>
          </a:p>
          <a:p>
            <a:pPr marL="0" indent="0">
              <a:buFont typeface="Monotype Sorts"/>
              <a:buNone/>
            </a:pPr>
            <a:r>
              <a:rPr lang="en-AU" altLang="en-US" sz="1800"/>
              <a:t>Output: a shortest path tree with the source vertex s as the root</a:t>
            </a:r>
            <a:endParaRPr lang="en-US" altLang="en-US" sz="1800"/>
          </a:p>
          <a:p>
            <a:pPr marL="0" indent="0">
              <a:buFont typeface="Monotype Sorts"/>
              <a:buNone/>
            </a:pPr>
            <a:r>
              <a:rPr lang="en-AU" altLang="en-US" sz="1800"/>
              <a:t> 1  ShortestPathTree getShortestPath(s) {</a:t>
            </a:r>
            <a:endParaRPr lang="en-US" altLang="en-US" sz="1800"/>
          </a:p>
          <a:p>
            <a:pPr marL="0" indent="0">
              <a:buFont typeface="Monotype Sorts"/>
              <a:buNone/>
            </a:pPr>
            <a:r>
              <a:rPr lang="en-AU" altLang="en-US" sz="1800"/>
              <a:t> 2    Let T be a set that contains the vertices whose </a:t>
            </a:r>
            <a:endParaRPr lang="en-US" altLang="en-US" sz="1800"/>
          </a:p>
          <a:p>
            <a:pPr marL="0" indent="0">
              <a:buFont typeface="Monotype Sorts"/>
              <a:buNone/>
            </a:pPr>
            <a:r>
              <a:rPr lang="en-AU" altLang="en-US" sz="1800"/>
              <a:t> 3      paths to s are known; Initially T is empty;</a:t>
            </a:r>
            <a:endParaRPr lang="en-US" altLang="en-US" sz="1800"/>
          </a:p>
          <a:p>
            <a:pPr marL="0" indent="0" hangingPunct="1">
              <a:buFont typeface="Monotype Sorts"/>
              <a:buNone/>
            </a:pPr>
            <a:r>
              <a:rPr lang="en-AU" altLang="en-US" sz="1800"/>
              <a:t> </a:t>
            </a:r>
            <a:r>
              <a:rPr lang="en-US" altLang="en-US" sz="1800"/>
              <a:t>4    Set </a:t>
            </a:r>
            <a:r>
              <a:rPr lang="en-AU" altLang="en-US" sz="1800"/>
              <a:t>cost[s] = </a:t>
            </a:r>
            <a:r>
              <a:rPr lang="en-US" altLang="en-US" sz="1800" b="1"/>
              <a:t>0</a:t>
            </a:r>
            <a:r>
              <a:rPr lang="en-AU" altLang="en-US" sz="1800"/>
              <a:t>; and cost</a:t>
            </a:r>
            <a:r>
              <a:rPr lang="en-US" altLang="en-US" sz="1800"/>
              <a:t>[v] = infinity for all other vertices in V;</a:t>
            </a:r>
          </a:p>
          <a:p>
            <a:pPr marL="0" indent="0">
              <a:buFont typeface="Monotype Sorts"/>
              <a:buNone/>
            </a:pPr>
            <a:r>
              <a:rPr lang="en-US" altLang="en-US" sz="1800"/>
              <a:t> </a:t>
            </a:r>
            <a:r>
              <a:rPr lang="en-AU" altLang="en-US" sz="1800"/>
              <a:t>5      </a:t>
            </a:r>
            <a:endParaRPr lang="en-US" altLang="en-US" sz="1800"/>
          </a:p>
          <a:p>
            <a:pPr marL="0" indent="0">
              <a:buFont typeface="Monotype Sorts"/>
              <a:buNone/>
            </a:pPr>
            <a:r>
              <a:rPr lang="en-AU" altLang="en-US" sz="1800"/>
              <a:t> 6    </a:t>
            </a:r>
            <a:r>
              <a:rPr lang="en-AU" altLang="en-US" sz="1800" b="1"/>
              <a:t>while</a:t>
            </a:r>
            <a:r>
              <a:rPr lang="en-AU" altLang="en-US" sz="1800"/>
              <a:t> (size of T &lt; n) {</a:t>
            </a:r>
            <a:endParaRPr lang="en-US" altLang="en-US" sz="1800"/>
          </a:p>
          <a:p>
            <a:pPr marL="0" indent="0">
              <a:buFont typeface="Monotype Sorts"/>
              <a:buNone/>
            </a:pPr>
            <a:r>
              <a:rPr lang="en-AU" altLang="en-US" sz="1800"/>
              <a:t> 7      Find u not in T with the smallest cost[u];</a:t>
            </a:r>
            <a:endParaRPr lang="en-US" altLang="en-US" sz="1800"/>
          </a:p>
          <a:p>
            <a:pPr marL="0" indent="0">
              <a:buFont typeface="Monotype Sorts"/>
              <a:buNone/>
            </a:pPr>
            <a:r>
              <a:rPr lang="en-AU" altLang="en-US" sz="1800"/>
              <a:t> 8      Add u to T;</a:t>
            </a:r>
            <a:endParaRPr lang="en-US" altLang="en-US" sz="1800"/>
          </a:p>
          <a:p>
            <a:pPr marL="0" indent="0">
              <a:buFont typeface="Monotype Sorts"/>
              <a:buNone/>
            </a:pPr>
            <a:r>
              <a:rPr lang="en-AU" altLang="en-US" sz="1800"/>
              <a:t> 9      for (each v not in T and (u, v) in E) </a:t>
            </a:r>
            <a:endParaRPr lang="en-US" altLang="en-US" sz="1800"/>
          </a:p>
          <a:p>
            <a:pPr marL="0" indent="0">
              <a:buFont typeface="Monotype Sorts"/>
              <a:buNone/>
            </a:pPr>
            <a:r>
              <a:rPr lang="en-AU" altLang="en-US" sz="1800"/>
              <a:t>10        if (cost[v] &gt; cost[u] + w(u, v)) {</a:t>
            </a:r>
            <a:endParaRPr lang="en-US" altLang="en-US" sz="1800"/>
          </a:p>
          <a:p>
            <a:pPr marL="0" indent="0">
              <a:buFont typeface="Monotype Sorts"/>
              <a:buNone/>
            </a:pPr>
            <a:r>
              <a:rPr lang="en-AU" altLang="en-US" sz="1800"/>
              <a:t>11          cost[v] = cost[u] + w(u, v); parent[v] = u;</a:t>
            </a:r>
            <a:endParaRPr lang="en-US" altLang="en-US" sz="1800"/>
          </a:p>
          <a:p>
            <a:pPr marL="0" indent="0">
              <a:buFont typeface="Monotype Sorts"/>
              <a:buNone/>
            </a:pPr>
            <a:r>
              <a:rPr lang="en-AU" altLang="en-US" sz="1800"/>
              <a:t>12        }</a:t>
            </a:r>
            <a:endParaRPr lang="en-US" altLang="en-US" sz="1800"/>
          </a:p>
          <a:p>
            <a:pPr marL="0" indent="0">
              <a:buFont typeface="Monotype Sorts"/>
              <a:buNone/>
            </a:pPr>
            <a:r>
              <a:rPr lang="en-AU" altLang="en-US" sz="1800"/>
              <a:t>13    }</a:t>
            </a:r>
            <a:endParaRPr lang="en-US" altLang="en-US" sz="1800"/>
          </a:p>
          <a:p>
            <a:pPr marL="0" indent="0">
              <a:buFont typeface="Monotype Sorts"/>
              <a:buNone/>
            </a:pPr>
            <a:r>
              <a:rPr lang="en-AU" altLang="en-US" sz="1800"/>
              <a:t>14  }</a:t>
            </a:r>
            <a:endParaRPr lang="en-US" altLang="en-US" sz="1800"/>
          </a:p>
        </p:txBody>
      </p:sp>
      <p:sp>
        <p:nvSpPr>
          <p:cNvPr id="22533" name="Rectangle 4">
            <a:extLst>
              <a:ext uri="{FF2B5EF4-FFF2-40B4-BE49-F238E27FC236}">
                <a16:creationId xmlns:a16="http://schemas.microsoft.com/office/drawing/2014/main" id="{D6F8667E-520C-3518-43B1-360155155714}"/>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8EADC356-C943-1E8E-D19B-0B46CFBDB94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7872E1D-3808-43F2-8B86-E3596BB828EA}" type="slidenum">
              <a:rPr lang="en-US" altLang="en-US" sz="1400"/>
              <a:pPr>
                <a:spcBef>
                  <a:spcPct val="0"/>
                </a:spcBef>
                <a:buClrTx/>
                <a:buSzTx/>
                <a:buFontTx/>
                <a:buNone/>
              </a:pPr>
              <a:t>21</a:t>
            </a:fld>
            <a:endParaRPr lang="en-US" altLang="en-US" sz="1400"/>
          </a:p>
        </p:txBody>
      </p:sp>
      <p:sp>
        <p:nvSpPr>
          <p:cNvPr id="23555" name="Rectangle 2">
            <a:extLst>
              <a:ext uri="{FF2B5EF4-FFF2-40B4-BE49-F238E27FC236}">
                <a16:creationId xmlns:a16="http://schemas.microsoft.com/office/drawing/2014/main" id="{D044A797-F3FA-B73F-A2D0-FD068CA0EFDF}"/>
              </a:ext>
            </a:extLst>
          </p:cNvPr>
          <p:cNvSpPr>
            <a:spLocks noGrp="1" noChangeArrowheads="1"/>
          </p:cNvSpPr>
          <p:nvPr>
            <p:ph type="title"/>
          </p:nvPr>
        </p:nvSpPr>
        <p:spPr>
          <a:xfrm>
            <a:off x="152400" y="228600"/>
            <a:ext cx="8991600" cy="609600"/>
          </a:xfrm>
        </p:spPr>
        <p:txBody>
          <a:bodyPr/>
          <a:lstStyle/>
          <a:p>
            <a:r>
              <a:rPr lang="en-US" altLang="en-US"/>
              <a:t>Single Source Shortest Path Algorithm </a:t>
            </a:r>
          </a:p>
        </p:txBody>
      </p:sp>
      <p:sp>
        <p:nvSpPr>
          <p:cNvPr id="23556" name="Rectangle 4">
            <a:extLst>
              <a:ext uri="{FF2B5EF4-FFF2-40B4-BE49-F238E27FC236}">
                <a16:creationId xmlns:a16="http://schemas.microsoft.com/office/drawing/2014/main" id="{5B98014F-F4BF-13BC-AC2B-CA494D6DDBD4}"/>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7" name="Rectangle 7">
            <a:extLst>
              <a:ext uri="{FF2B5EF4-FFF2-40B4-BE49-F238E27FC236}">
                <a16:creationId xmlns:a16="http://schemas.microsoft.com/office/drawing/2014/main" id="{C0B53B43-2271-CFBF-1CD5-62178AA2AB8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3558" name="Object 6">
            <a:extLst>
              <a:ext uri="{FF2B5EF4-FFF2-40B4-BE49-F238E27FC236}">
                <a16:creationId xmlns:a16="http://schemas.microsoft.com/office/drawing/2014/main" id="{113C3AF5-589C-1718-4105-B7A1F04B7EFC}"/>
              </a:ext>
            </a:extLst>
          </p:cNvPr>
          <p:cNvGraphicFramePr>
            <a:graphicFrameLocks noChangeAspect="1"/>
          </p:cNvGraphicFramePr>
          <p:nvPr/>
        </p:nvGraphicFramePr>
        <p:xfrm>
          <a:off x="381000" y="1447800"/>
          <a:ext cx="8153400" cy="3173413"/>
        </p:xfrm>
        <a:graphic>
          <a:graphicData uri="http://schemas.openxmlformats.org/presentationml/2006/ole">
            <mc:AlternateContent xmlns:mc="http://schemas.openxmlformats.org/markup-compatibility/2006">
              <mc:Choice xmlns:v="urn:schemas-microsoft-com:vml" Requires="v">
                <p:oleObj name="Picture" r:id="rId2" imgW="5222748" imgH="2029968" progId="Word.Picture.8">
                  <p:embed/>
                </p:oleObj>
              </mc:Choice>
              <mc:Fallback>
                <p:oleObj name="Picture" r:id="rId2" imgW="5222748" imgH="2029968" progId="Word.Picture.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447800"/>
                        <a:ext cx="8153400" cy="317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AAB5A835-F7A4-2E8E-4495-C76D4B3EB29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9DB5563-BFD2-4EE4-9DEA-196455B7E223}" type="slidenum">
              <a:rPr lang="en-US" altLang="en-US" sz="1400"/>
              <a:pPr>
                <a:spcBef>
                  <a:spcPct val="0"/>
                </a:spcBef>
                <a:buClrTx/>
                <a:buSzTx/>
                <a:buFontTx/>
                <a:buNone/>
              </a:pPr>
              <a:t>22</a:t>
            </a:fld>
            <a:endParaRPr lang="en-US" altLang="en-US" sz="1400"/>
          </a:p>
        </p:txBody>
      </p:sp>
      <p:sp>
        <p:nvSpPr>
          <p:cNvPr id="24579" name="Rectangle 2">
            <a:extLst>
              <a:ext uri="{FF2B5EF4-FFF2-40B4-BE49-F238E27FC236}">
                <a16:creationId xmlns:a16="http://schemas.microsoft.com/office/drawing/2014/main" id="{9154583E-2B3A-9D61-1DB2-8AD7F7191CBE}"/>
              </a:ext>
            </a:extLst>
          </p:cNvPr>
          <p:cNvSpPr>
            <a:spLocks noGrp="1" noChangeArrowheads="1"/>
          </p:cNvSpPr>
          <p:nvPr>
            <p:ph type="title"/>
          </p:nvPr>
        </p:nvSpPr>
        <p:spPr>
          <a:xfrm>
            <a:off x="152400" y="228600"/>
            <a:ext cx="8991600" cy="609600"/>
          </a:xfrm>
        </p:spPr>
        <p:txBody>
          <a:bodyPr/>
          <a:lstStyle/>
          <a:p>
            <a:r>
              <a:rPr lang="en-US" altLang="en-US"/>
              <a:t>Single Source Shortest Path Algorithm </a:t>
            </a:r>
          </a:p>
        </p:txBody>
      </p:sp>
      <p:sp>
        <p:nvSpPr>
          <p:cNvPr id="24580" name="Rectangle 3">
            <a:extLst>
              <a:ext uri="{FF2B5EF4-FFF2-40B4-BE49-F238E27FC236}">
                <a16:creationId xmlns:a16="http://schemas.microsoft.com/office/drawing/2014/main" id="{1F788E32-8CB2-5BEA-272A-76349DAF313E}"/>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1" name="Rectangle 4">
            <a:extLst>
              <a:ext uri="{FF2B5EF4-FFF2-40B4-BE49-F238E27FC236}">
                <a16:creationId xmlns:a16="http://schemas.microsoft.com/office/drawing/2014/main" id="{9BEBB359-C12B-E6B5-D236-D7F203600C7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4582" name="Object 5">
            <a:extLst>
              <a:ext uri="{FF2B5EF4-FFF2-40B4-BE49-F238E27FC236}">
                <a16:creationId xmlns:a16="http://schemas.microsoft.com/office/drawing/2014/main" id="{243CC340-EA1F-5B5B-1550-277195966BA9}"/>
              </a:ext>
            </a:extLst>
          </p:cNvPr>
          <p:cNvGraphicFramePr>
            <a:graphicFrameLocks noChangeAspect="1"/>
          </p:cNvGraphicFramePr>
          <p:nvPr/>
        </p:nvGraphicFramePr>
        <p:xfrm>
          <a:off x="382588" y="1347788"/>
          <a:ext cx="8148637" cy="3373437"/>
        </p:xfrm>
        <a:graphic>
          <a:graphicData uri="http://schemas.openxmlformats.org/presentationml/2006/ole">
            <mc:AlternateContent xmlns:mc="http://schemas.openxmlformats.org/markup-compatibility/2006">
              <mc:Choice xmlns:v="urn:schemas-microsoft-com:vml" Requires="v">
                <p:oleObj name="Picture" r:id="rId2" imgW="5219700" imgH="2159000" progId="Word.Picture.8">
                  <p:embed/>
                </p:oleObj>
              </mc:Choice>
              <mc:Fallback>
                <p:oleObj name="Picture" r:id="rId2" imgW="5219700" imgH="2159000"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588" y="1347788"/>
                        <a:ext cx="8148637"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4A1F4051-2064-65B6-5F53-6345B3BAAF1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6583013-05DE-4D04-BB92-F6ACD6004CD4}" type="slidenum">
              <a:rPr lang="en-US" altLang="en-US" sz="1400"/>
              <a:pPr>
                <a:spcBef>
                  <a:spcPct val="0"/>
                </a:spcBef>
                <a:buClrTx/>
                <a:buSzTx/>
                <a:buFontTx/>
                <a:buNone/>
              </a:pPr>
              <a:t>23</a:t>
            </a:fld>
            <a:endParaRPr lang="en-US" altLang="en-US" sz="1400"/>
          </a:p>
        </p:txBody>
      </p:sp>
      <p:sp>
        <p:nvSpPr>
          <p:cNvPr id="25603" name="Rectangle 2">
            <a:extLst>
              <a:ext uri="{FF2B5EF4-FFF2-40B4-BE49-F238E27FC236}">
                <a16:creationId xmlns:a16="http://schemas.microsoft.com/office/drawing/2014/main" id="{32383134-D370-FFFB-3BC3-873011F7523A}"/>
              </a:ext>
            </a:extLst>
          </p:cNvPr>
          <p:cNvSpPr>
            <a:spLocks noGrp="1" noChangeArrowheads="1"/>
          </p:cNvSpPr>
          <p:nvPr>
            <p:ph type="title"/>
          </p:nvPr>
        </p:nvSpPr>
        <p:spPr>
          <a:xfrm>
            <a:off x="685800" y="228600"/>
            <a:ext cx="7772400" cy="609600"/>
          </a:xfrm>
        </p:spPr>
        <p:txBody>
          <a:bodyPr/>
          <a:lstStyle/>
          <a:p>
            <a:r>
              <a:rPr lang="en-US" altLang="en-US"/>
              <a:t>SP Algorithm Example (Step 0)</a:t>
            </a:r>
          </a:p>
        </p:txBody>
      </p:sp>
      <p:sp>
        <p:nvSpPr>
          <p:cNvPr id="25604" name="Rectangle 4">
            <a:extLst>
              <a:ext uri="{FF2B5EF4-FFF2-40B4-BE49-F238E27FC236}">
                <a16:creationId xmlns:a16="http://schemas.microsoft.com/office/drawing/2014/main" id="{D8BE4307-7786-B889-29EB-BF0AD6BA6DF2}"/>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5" name="Rectangle 8">
            <a:extLst>
              <a:ext uri="{FF2B5EF4-FFF2-40B4-BE49-F238E27FC236}">
                <a16:creationId xmlns:a16="http://schemas.microsoft.com/office/drawing/2014/main" id="{68B276AA-CE7B-C463-03FD-0D3EF73ECCB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6" name="Rectangle 10">
            <a:extLst>
              <a:ext uri="{FF2B5EF4-FFF2-40B4-BE49-F238E27FC236}">
                <a16:creationId xmlns:a16="http://schemas.microsoft.com/office/drawing/2014/main" id="{3EBBA32F-F1A0-D63C-D500-75C29CA7AA06}"/>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5607" name="Picture 8">
            <a:extLst>
              <a:ext uri="{FF2B5EF4-FFF2-40B4-BE49-F238E27FC236}">
                <a16:creationId xmlns:a16="http://schemas.microsoft.com/office/drawing/2014/main" id="{FCDD82C6-6519-085D-BB21-35336829E73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92238"/>
            <a:ext cx="8077200" cy="3519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EF03D472-B7C3-2010-A97D-5C513BDB078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8E1A784-0AB8-40FD-83B6-685655022D70}" type="slidenum">
              <a:rPr lang="en-US" altLang="en-US" sz="1400"/>
              <a:pPr>
                <a:spcBef>
                  <a:spcPct val="0"/>
                </a:spcBef>
                <a:buClrTx/>
                <a:buSzTx/>
                <a:buFontTx/>
                <a:buNone/>
              </a:pPr>
              <a:t>24</a:t>
            </a:fld>
            <a:endParaRPr lang="en-US" altLang="en-US" sz="1400"/>
          </a:p>
        </p:txBody>
      </p:sp>
      <p:sp>
        <p:nvSpPr>
          <p:cNvPr id="26627" name="Rectangle 2">
            <a:extLst>
              <a:ext uri="{FF2B5EF4-FFF2-40B4-BE49-F238E27FC236}">
                <a16:creationId xmlns:a16="http://schemas.microsoft.com/office/drawing/2014/main" id="{BAD5467C-BC75-2309-6318-D777CDA6C1F5}"/>
              </a:ext>
            </a:extLst>
          </p:cNvPr>
          <p:cNvSpPr>
            <a:spLocks noGrp="1" noChangeArrowheads="1"/>
          </p:cNvSpPr>
          <p:nvPr>
            <p:ph type="title"/>
          </p:nvPr>
        </p:nvSpPr>
        <p:spPr>
          <a:xfrm>
            <a:off x="685800" y="228600"/>
            <a:ext cx="7772400" cy="609600"/>
          </a:xfrm>
        </p:spPr>
        <p:txBody>
          <a:bodyPr/>
          <a:lstStyle/>
          <a:p>
            <a:r>
              <a:rPr lang="en-US" altLang="en-US"/>
              <a:t>SP Algorithm Example (Step 1)</a:t>
            </a:r>
          </a:p>
        </p:txBody>
      </p:sp>
      <p:sp>
        <p:nvSpPr>
          <p:cNvPr id="26628" name="Rectangle 4">
            <a:extLst>
              <a:ext uri="{FF2B5EF4-FFF2-40B4-BE49-F238E27FC236}">
                <a16:creationId xmlns:a16="http://schemas.microsoft.com/office/drawing/2014/main" id="{209430D6-B52E-DC07-FB5B-88E225F930B4}"/>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29" name="Rectangle 8">
            <a:extLst>
              <a:ext uri="{FF2B5EF4-FFF2-40B4-BE49-F238E27FC236}">
                <a16:creationId xmlns:a16="http://schemas.microsoft.com/office/drawing/2014/main" id="{F632A01D-E878-E1F3-4919-E54943A7E88D}"/>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0" name="Rectangle 10">
            <a:extLst>
              <a:ext uri="{FF2B5EF4-FFF2-40B4-BE49-F238E27FC236}">
                <a16:creationId xmlns:a16="http://schemas.microsoft.com/office/drawing/2014/main" id="{D61DD678-BF63-EDDB-A721-AF76D3A360F3}"/>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6631" name="Picture 8">
            <a:extLst>
              <a:ext uri="{FF2B5EF4-FFF2-40B4-BE49-F238E27FC236}">
                <a16:creationId xmlns:a16="http://schemas.microsoft.com/office/drawing/2014/main" id="{5FE0CA91-B6EA-76FD-5802-BD5F209DAC94}"/>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66875"/>
            <a:ext cx="7772400" cy="352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F0CD52A3-F700-8CBD-6CE3-DBBC86E2AB0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2105606-F9C6-4275-80EF-B21A3FED649E}" type="slidenum">
              <a:rPr lang="en-US" altLang="en-US" sz="1400"/>
              <a:pPr>
                <a:spcBef>
                  <a:spcPct val="0"/>
                </a:spcBef>
                <a:buClrTx/>
                <a:buSzTx/>
                <a:buFontTx/>
                <a:buNone/>
              </a:pPr>
              <a:t>25</a:t>
            </a:fld>
            <a:endParaRPr lang="en-US" altLang="en-US" sz="1400"/>
          </a:p>
        </p:txBody>
      </p:sp>
      <p:sp>
        <p:nvSpPr>
          <p:cNvPr id="27651" name="Rectangle 2">
            <a:extLst>
              <a:ext uri="{FF2B5EF4-FFF2-40B4-BE49-F238E27FC236}">
                <a16:creationId xmlns:a16="http://schemas.microsoft.com/office/drawing/2014/main" id="{06A93DE7-C645-90F7-2982-E9DCF5488C4A}"/>
              </a:ext>
            </a:extLst>
          </p:cNvPr>
          <p:cNvSpPr>
            <a:spLocks noGrp="1" noChangeArrowheads="1"/>
          </p:cNvSpPr>
          <p:nvPr>
            <p:ph type="title"/>
          </p:nvPr>
        </p:nvSpPr>
        <p:spPr>
          <a:xfrm>
            <a:off x="685800" y="228600"/>
            <a:ext cx="7772400" cy="609600"/>
          </a:xfrm>
        </p:spPr>
        <p:txBody>
          <a:bodyPr/>
          <a:lstStyle/>
          <a:p>
            <a:r>
              <a:rPr lang="en-US" altLang="en-US"/>
              <a:t>SP Algorithm Example (Step 2)</a:t>
            </a:r>
          </a:p>
        </p:txBody>
      </p:sp>
      <p:sp>
        <p:nvSpPr>
          <p:cNvPr id="27652" name="Rectangle 3">
            <a:extLst>
              <a:ext uri="{FF2B5EF4-FFF2-40B4-BE49-F238E27FC236}">
                <a16:creationId xmlns:a16="http://schemas.microsoft.com/office/drawing/2014/main" id="{A4E81729-C566-2077-517F-5B5C357CBF50}"/>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3" name="Rectangle 4">
            <a:extLst>
              <a:ext uri="{FF2B5EF4-FFF2-40B4-BE49-F238E27FC236}">
                <a16:creationId xmlns:a16="http://schemas.microsoft.com/office/drawing/2014/main" id="{E0E4D054-BE48-068F-032C-600963B99413}"/>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4" name="Rectangle 5">
            <a:extLst>
              <a:ext uri="{FF2B5EF4-FFF2-40B4-BE49-F238E27FC236}">
                <a16:creationId xmlns:a16="http://schemas.microsoft.com/office/drawing/2014/main" id="{15B943F1-C41D-55F7-13DA-143D685987E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7655" name="Picture 8">
            <a:extLst>
              <a:ext uri="{FF2B5EF4-FFF2-40B4-BE49-F238E27FC236}">
                <a16:creationId xmlns:a16="http://schemas.microsoft.com/office/drawing/2014/main" id="{8C17A001-55B2-493F-A18C-6523F9CEA6B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88" y="1704975"/>
            <a:ext cx="7820025" cy="3448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3AED8B6A-1301-EDDC-5BBD-ECEF9B341FA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5B1DFA5-33B6-4213-B4F8-1495FCC4E034}" type="slidenum">
              <a:rPr lang="en-US" altLang="en-US" sz="1400"/>
              <a:pPr>
                <a:spcBef>
                  <a:spcPct val="0"/>
                </a:spcBef>
                <a:buClrTx/>
                <a:buSzTx/>
                <a:buFontTx/>
                <a:buNone/>
              </a:pPr>
              <a:t>26</a:t>
            </a:fld>
            <a:endParaRPr lang="en-US" altLang="en-US" sz="1400"/>
          </a:p>
        </p:txBody>
      </p:sp>
      <p:sp>
        <p:nvSpPr>
          <p:cNvPr id="28675" name="Rectangle 2">
            <a:extLst>
              <a:ext uri="{FF2B5EF4-FFF2-40B4-BE49-F238E27FC236}">
                <a16:creationId xmlns:a16="http://schemas.microsoft.com/office/drawing/2014/main" id="{9A54CFF7-841F-92D8-0CE7-0E0D2427E5D8}"/>
              </a:ext>
            </a:extLst>
          </p:cNvPr>
          <p:cNvSpPr>
            <a:spLocks noGrp="1" noChangeArrowheads="1"/>
          </p:cNvSpPr>
          <p:nvPr>
            <p:ph type="title"/>
          </p:nvPr>
        </p:nvSpPr>
        <p:spPr>
          <a:xfrm>
            <a:off x="685800" y="228600"/>
            <a:ext cx="7772400" cy="609600"/>
          </a:xfrm>
        </p:spPr>
        <p:txBody>
          <a:bodyPr/>
          <a:lstStyle/>
          <a:p>
            <a:r>
              <a:rPr lang="en-US" altLang="en-US"/>
              <a:t>SP Algorithm Example (Step 3)</a:t>
            </a:r>
          </a:p>
        </p:txBody>
      </p:sp>
      <p:sp>
        <p:nvSpPr>
          <p:cNvPr id="28676" name="Rectangle 3">
            <a:extLst>
              <a:ext uri="{FF2B5EF4-FFF2-40B4-BE49-F238E27FC236}">
                <a16:creationId xmlns:a16="http://schemas.microsoft.com/office/drawing/2014/main" id="{6C3CAEBC-3B72-5CF1-D166-0C8DE49AC98B}"/>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7" name="Rectangle 4">
            <a:extLst>
              <a:ext uri="{FF2B5EF4-FFF2-40B4-BE49-F238E27FC236}">
                <a16:creationId xmlns:a16="http://schemas.microsoft.com/office/drawing/2014/main" id="{919083AB-5590-1462-276A-03656783CA35}"/>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8" name="Rectangle 5">
            <a:extLst>
              <a:ext uri="{FF2B5EF4-FFF2-40B4-BE49-F238E27FC236}">
                <a16:creationId xmlns:a16="http://schemas.microsoft.com/office/drawing/2014/main" id="{024E394E-3AAB-0022-56E5-C9F8D8213B96}"/>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8679" name="Picture 9">
            <a:extLst>
              <a:ext uri="{FF2B5EF4-FFF2-40B4-BE49-F238E27FC236}">
                <a16:creationId xmlns:a16="http://schemas.microsoft.com/office/drawing/2014/main" id="{5F4811C2-4BC3-72F6-35D2-3C25893C86F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1709738"/>
            <a:ext cx="7877175" cy="3438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DB59DF87-30E0-F604-DFCA-3E16164D35F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C84CEED-84F8-49F2-AB2C-F302F7150374}" type="slidenum">
              <a:rPr lang="en-US" altLang="en-US" sz="1400"/>
              <a:pPr>
                <a:spcBef>
                  <a:spcPct val="0"/>
                </a:spcBef>
                <a:buClrTx/>
                <a:buSzTx/>
                <a:buFontTx/>
                <a:buNone/>
              </a:pPr>
              <a:t>27</a:t>
            </a:fld>
            <a:endParaRPr lang="en-US" altLang="en-US" sz="1400"/>
          </a:p>
        </p:txBody>
      </p:sp>
      <p:sp>
        <p:nvSpPr>
          <p:cNvPr id="29699" name="Rectangle 2">
            <a:extLst>
              <a:ext uri="{FF2B5EF4-FFF2-40B4-BE49-F238E27FC236}">
                <a16:creationId xmlns:a16="http://schemas.microsoft.com/office/drawing/2014/main" id="{FD4FD8BB-113E-2A9B-C250-240458CE7A3B}"/>
              </a:ext>
            </a:extLst>
          </p:cNvPr>
          <p:cNvSpPr>
            <a:spLocks noGrp="1" noChangeArrowheads="1"/>
          </p:cNvSpPr>
          <p:nvPr>
            <p:ph type="title"/>
          </p:nvPr>
        </p:nvSpPr>
        <p:spPr>
          <a:xfrm>
            <a:off x="685800" y="228600"/>
            <a:ext cx="7772400" cy="609600"/>
          </a:xfrm>
        </p:spPr>
        <p:txBody>
          <a:bodyPr/>
          <a:lstStyle/>
          <a:p>
            <a:r>
              <a:rPr lang="en-US" altLang="en-US"/>
              <a:t>SP Algorithm Example (Step 4)</a:t>
            </a:r>
          </a:p>
        </p:txBody>
      </p:sp>
      <p:sp>
        <p:nvSpPr>
          <p:cNvPr id="29700" name="Rectangle 3">
            <a:extLst>
              <a:ext uri="{FF2B5EF4-FFF2-40B4-BE49-F238E27FC236}">
                <a16:creationId xmlns:a16="http://schemas.microsoft.com/office/drawing/2014/main" id="{76812B21-A433-552A-880E-AAC1DFDFFE76}"/>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1" name="Rectangle 4">
            <a:extLst>
              <a:ext uri="{FF2B5EF4-FFF2-40B4-BE49-F238E27FC236}">
                <a16:creationId xmlns:a16="http://schemas.microsoft.com/office/drawing/2014/main" id="{A00C4C5F-6064-D3BD-41BD-9EC56AB4D7D1}"/>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2" name="Rectangle 5">
            <a:extLst>
              <a:ext uri="{FF2B5EF4-FFF2-40B4-BE49-F238E27FC236}">
                <a16:creationId xmlns:a16="http://schemas.microsoft.com/office/drawing/2014/main" id="{4B8CEC3D-246C-C1F1-C55F-3BC2BDA29941}"/>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9703" name="Picture 8">
            <a:extLst>
              <a:ext uri="{FF2B5EF4-FFF2-40B4-BE49-F238E27FC236}">
                <a16:creationId xmlns:a16="http://schemas.microsoft.com/office/drawing/2014/main" id="{E7E91A07-98A2-A2C0-5358-4123C68D2B6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1614488"/>
            <a:ext cx="8058150" cy="3629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978135D6-9F9E-D8B4-7E30-D050666F40F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6FBEA77-9CD8-481B-AA54-3BD4E6C7A5EB}" type="slidenum">
              <a:rPr lang="en-US" altLang="en-US" sz="1400"/>
              <a:pPr>
                <a:spcBef>
                  <a:spcPct val="0"/>
                </a:spcBef>
                <a:buClrTx/>
                <a:buSzTx/>
                <a:buFontTx/>
                <a:buNone/>
              </a:pPr>
              <a:t>28</a:t>
            </a:fld>
            <a:endParaRPr lang="en-US" altLang="en-US" sz="1400"/>
          </a:p>
        </p:txBody>
      </p:sp>
      <p:sp>
        <p:nvSpPr>
          <p:cNvPr id="30723" name="Rectangle 2">
            <a:extLst>
              <a:ext uri="{FF2B5EF4-FFF2-40B4-BE49-F238E27FC236}">
                <a16:creationId xmlns:a16="http://schemas.microsoft.com/office/drawing/2014/main" id="{FDF50799-D4F6-3DC5-4DD9-2D902C0D7631}"/>
              </a:ext>
            </a:extLst>
          </p:cNvPr>
          <p:cNvSpPr>
            <a:spLocks noGrp="1" noChangeArrowheads="1"/>
          </p:cNvSpPr>
          <p:nvPr>
            <p:ph type="title"/>
          </p:nvPr>
        </p:nvSpPr>
        <p:spPr>
          <a:xfrm>
            <a:off x="685800" y="228600"/>
            <a:ext cx="7772400" cy="609600"/>
          </a:xfrm>
        </p:spPr>
        <p:txBody>
          <a:bodyPr/>
          <a:lstStyle/>
          <a:p>
            <a:r>
              <a:rPr lang="en-US" altLang="en-US"/>
              <a:t>SP Algorithm Example (Step 5)</a:t>
            </a:r>
          </a:p>
        </p:txBody>
      </p:sp>
      <p:sp>
        <p:nvSpPr>
          <p:cNvPr id="30724" name="Rectangle 3">
            <a:extLst>
              <a:ext uri="{FF2B5EF4-FFF2-40B4-BE49-F238E27FC236}">
                <a16:creationId xmlns:a16="http://schemas.microsoft.com/office/drawing/2014/main" id="{137D6AE5-D8AD-1B91-9CF6-690FFEFADB1F}"/>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5" name="Rectangle 4">
            <a:extLst>
              <a:ext uri="{FF2B5EF4-FFF2-40B4-BE49-F238E27FC236}">
                <a16:creationId xmlns:a16="http://schemas.microsoft.com/office/drawing/2014/main" id="{6BBB0BEC-2244-D024-9CC5-6DF381182AB0}"/>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6" name="Rectangle 5">
            <a:extLst>
              <a:ext uri="{FF2B5EF4-FFF2-40B4-BE49-F238E27FC236}">
                <a16:creationId xmlns:a16="http://schemas.microsoft.com/office/drawing/2014/main" id="{0FF1DBB9-7F45-1C2A-0707-5C85A7F43B17}"/>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0727" name="Picture 8">
            <a:extLst>
              <a:ext uri="{FF2B5EF4-FFF2-40B4-BE49-F238E27FC236}">
                <a16:creationId xmlns:a16="http://schemas.microsoft.com/office/drawing/2014/main" id="{B58DC273-EC67-DE44-5182-FE0DAED949B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8" y="1628775"/>
            <a:ext cx="7972425" cy="3600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15C9F75F-DFC8-793F-304F-7A1F5E8BE1A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37F0DBE-FFEE-477A-BC41-B1F0AB484885}" type="slidenum">
              <a:rPr lang="en-US" altLang="en-US" sz="1400"/>
              <a:pPr>
                <a:spcBef>
                  <a:spcPct val="0"/>
                </a:spcBef>
                <a:buClrTx/>
                <a:buSzTx/>
                <a:buFontTx/>
                <a:buNone/>
              </a:pPr>
              <a:t>29</a:t>
            </a:fld>
            <a:endParaRPr lang="en-US" altLang="en-US" sz="1400"/>
          </a:p>
        </p:txBody>
      </p:sp>
      <p:sp>
        <p:nvSpPr>
          <p:cNvPr id="31747" name="Rectangle 2">
            <a:extLst>
              <a:ext uri="{FF2B5EF4-FFF2-40B4-BE49-F238E27FC236}">
                <a16:creationId xmlns:a16="http://schemas.microsoft.com/office/drawing/2014/main" id="{EB3EB1CE-E6FB-1764-0714-6A17695771F9}"/>
              </a:ext>
            </a:extLst>
          </p:cNvPr>
          <p:cNvSpPr>
            <a:spLocks noGrp="1" noChangeArrowheads="1"/>
          </p:cNvSpPr>
          <p:nvPr>
            <p:ph type="title"/>
          </p:nvPr>
        </p:nvSpPr>
        <p:spPr>
          <a:xfrm>
            <a:off x="685800" y="228600"/>
            <a:ext cx="7772400" cy="609600"/>
          </a:xfrm>
        </p:spPr>
        <p:txBody>
          <a:bodyPr/>
          <a:lstStyle/>
          <a:p>
            <a:r>
              <a:rPr lang="en-US" altLang="en-US"/>
              <a:t>SP Algorithm Example (Step 6)</a:t>
            </a:r>
          </a:p>
        </p:txBody>
      </p:sp>
      <p:sp>
        <p:nvSpPr>
          <p:cNvPr id="31748" name="Rectangle 3">
            <a:extLst>
              <a:ext uri="{FF2B5EF4-FFF2-40B4-BE49-F238E27FC236}">
                <a16:creationId xmlns:a16="http://schemas.microsoft.com/office/drawing/2014/main" id="{D92B51CF-BB6D-971A-50EB-C8142B438739}"/>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49" name="Rectangle 4">
            <a:extLst>
              <a:ext uri="{FF2B5EF4-FFF2-40B4-BE49-F238E27FC236}">
                <a16:creationId xmlns:a16="http://schemas.microsoft.com/office/drawing/2014/main" id="{E8449BF8-C999-01C5-18FA-04E4E0FF3044}"/>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0" name="Rectangle 5">
            <a:extLst>
              <a:ext uri="{FF2B5EF4-FFF2-40B4-BE49-F238E27FC236}">
                <a16:creationId xmlns:a16="http://schemas.microsoft.com/office/drawing/2014/main" id="{FA9A6F2B-C871-1029-3E5D-91F594A7E73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1751" name="Picture 8">
            <a:extLst>
              <a:ext uri="{FF2B5EF4-FFF2-40B4-BE49-F238E27FC236}">
                <a16:creationId xmlns:a16="http://schemas.microsoft.com/office/drawing/2014/main" id="{3AD95C36-BA24-F52D-A421-02618AB4FEB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1785938"/>
            <a:ext cx="7658100" cy="328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94E13504-4A8F-D7D9-4964-78B10F82A5F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676A25B-3ECD-4EEA-9592-0F0D190545F2}" type="slidenum">
              <a:rPr lang="en-US" altLang="en-US" sz="1400"/>
              <a:pPr>
                <a:spcBef>
                  <a:spcPct val="0"/>
                </a:spcBef>
                <a:buClrTx/>
                <a:buSzTx/>
                <a:buFontTx/>
                <a:buNone/>
              </a:pPr>
              <a:t>30</a:t>
            </a:fld>
            <a:endParaRPr lang="en-US" altLang="en-US" sz="1400"/>
          </a:p>
        </p:txBody>
      </p:sp>
      <p:sp>
        <p:nvSpPr>
          <p:cNvPr id="32771" name="Rectangle 2">
            <a:extLst>
              <a:ext uri="{FF2B5EF4-FFF2-40B4-BE49-F238E27FC236}">
                <a16:creationId xmlns:a16="http://schemas.microsoft.com/office/drawing/2014/main" id="{721FB5E8-87BE-C9A2-0F61-9CC429C6EE54}"/>
              </a:ext>
            </a:extLst>
          </p:cNvPr>
          <p:cNvSpPr>
            <a:spLocks noGrp="1" noChangeArrowheads="1"/>
          </p:cNvSpPr>
          <p:nvPr>
            <p:ph type="title"/>
          </p:nvPr>
        </p:nvSpPr>
        <p:spPr>
          <a:xfrm>
            <a:off x="685800" y="228600"/>
            <a:ext cx="7772400" cy="609600"/>
          </a:xfrm>
        </p:spPr>
        <p:txBody>
          <a:bodyPr/>
          <a:lstStyle/>
          <a:p>
            <a:r>
              <a:rPr lang="en-US" altLang="en-US"/>
              <a:t>SP Algorithm Example (Step 7)</a:t>
            </a:r>
          </a:p>
        </p:txBody>
      </p:sp>
      <p:sp>
        <p:nvSpPr>
          <p:cNvPr id="32772" name="Rectangle 3">
            <a:extLst>
              <a:ext uri="{FF2B5EF4-FFF2-40B4-BE49-F238E27FC236}">
                <a16:creationId xmlns:a16="http://schemas.microsoft.com/office/drawing/2014/main" id="{4308071E-554A-3C49-CA1F-F65B27241835}"/>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3" name="Rectangle 4">
            <a:extLst>
              <a:ext uri="{FF2B5EF4-FFF2-40B4-BE49-F238E27FC236}">
                <a16:creationId xmlns:a16="http://schemas.microsoft.com/office/drawing/2014/main" id="{D1104E58-F8EB-5C7F-F085-B4B52A70140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4" name="Rectangle 5">
            <a:extLst>
              <a:ext uri="{FF2B5EF4-FFF2-40B4-BE49-F238E27FC236}">
                <a16:creationId xmlns:a16="http://schemas.microsoft.com/office/drawing/2014/main" id="{AB05CF10-B6D5-CCEE-2DCE-6D1C54F6D45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2775" name="Picture 8">
            <a:extLst>
              <a:ext uri="{FF2B5EF4-FFF2-40B4-BE49-F238E27FC236}">
                <a16:creationId xmlns:a16="http://schemas.microsoft.com/office/drawing/2014/main" id="{F562511F-AE1C-195D-F6D2-1742F5EE4A0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762125"/>
            <a:ext cx="7620000" cy="3333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a:extLst>
              <a:ext uri="{FF2B5EF4-FFF2-40B4-BE49-F238E27FC236}">
                <a16:creationId xmlns:a16="http://schemas.microsoft.com/office/drawing/2014/main" id="{76FC1766-E003-E9BF-7C93-F18822B625B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143A14D-289A-4D76-982C-F916D32EB554}" type="slidenum">
              <a:rPr lang="en-US" altLang="en-US" sz="1400"/>
              <a:pPr>
                <a:spcBef>
                  <a:spcPct val="0"/>
                </a:spcBef>
                <a:buClrTx/>
                <a:buSzTx/>
                <a:buFontTx/>
                <a:buNone/>
              </a:pPr>
              <a:t>31</a:t>
            </a:fld>
            <a:endParaRPr lang="en-US" altLang="en-US" sz="1400"/>
          </a:p>
        </p:txBody>
      </p:sp>
      <p:sp>
        <p:nvSpPr>
          <p:cNvPr id="33795" name="Rectangle 2">
            <a:extLst>
              <a:ext uri="{FF2B5EF4-FFF2-40B4-BE49-F238E27FC236}">
                <a16:creationId xmlns:a16="http://schemas.microsoft.com/office/drawing/2014/main" id="{C2C1B358-AE15-087B-9561-2B633CA2C9C3}"/>
              </a:ext>
            </a:extLst>
          </p:cNvPr>
          <p:cNvSpPr>
            <a:spLocks noGrp="1" noChangeArrowheads="1"/>
          </p:cNvSpPr>
          <p:nvPr>
            <p:ph type="title"/>
          </p:nvPr>
        </p:nvSpPr>
        <p:spPr>
          <a:xfrm>
            <a:off x="685800" y="228600"/>
            <a:ext cx="7772400" cy="609600"/>
          </a:xfrm>
        </p:spPr>
        <p:txBody>
          <a:bodyPr/>
          <a:lstStyle/>
          <a:p>
            <a:r>
              <a:rPr lang="en-US" altLang="en-US"/>
              <a:t>SP Algorithm Implementation</a:t>
            </a:r>
          </a:p>
        </p:txBody>
      </p:sp>
      <p:sp>
        <p:nvSpPr>
          <p:cNvPr id="33796" name="Rectangle 3">
            <a:extLst>
              <a:ext uri="{FF2B5EF4-FFF2-40B4-BE49-F238E27FC236}">
                <a16:creationId xmlns:a16="http://schemas.microsoft.com/office/drawing/2014/main" id="{BFDFFDE1-3FC5-A90F-AEA0-E8A55500B53B}"/>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7" name="Rectangle 4">
            <a:extLst>
              <a:ext uri="{FF2B5EF4-FFF2-40B4-BE49-F238E27FC236}">
                <a16:creationId xmlns:a16="http://schemas.microsoft.com/office/drawing/2014/main" id="{8641AD12-02F0-CB3F-1A63-5F3E7C4350A1}"/>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8" name="Rectangle 5">
            <a:extLst>
              <a:ext uri="{FF2B5EF4-FFF2-40B4-BE49-F238E27FC236}">
                <a16:creationId xmlns:a16="http://schemas.microsoft.com/office/drawing/2014/main" id="{AD079463-31E3-3AF1-4A91-A25C784F8200}"/>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9" name="Rectangle 6">
            <a:extLst>
              <a:ext uri="{FF2B5EF4-FFF2-40B4-BE49-F238E27FC236}">
                <a16:creationId xmlns:a16="http://schemas.microsoft.com/office/drawing/2014/main" id="{460BBB16-D741-C2AC-68A0-7504A690B609}"/>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0" name="Rectangle 7">
            <a:extLst>
              <a:ext uri="{FF2B5EF4-FFF2-40B4-BE49-F238E27FC236}">
                <a16:creationId xmlns:a16="http://schemas.microsoft.com/office/drawing/2014/main" id="{83B9D73D-6AC1-B9D0-4CD9-9DF5B35C1974}"/>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1" name="Rectangle 8">
            <a:extLst>
              <a:ext uri="{FF2B5EF4-FFF2-40B4-BE49-F238E27FC236}">
                <a16:creationId xmlns:a16="http://schemas.microsoft.com/office/drawing/2014/main" id="{1EED44E9-9E69-6AED-3F47-18D9BD7299FF}"/>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2" name="Rectangle 9">
            <a:extLst>
              <a:ext uri="{FF2B5EF4-FFF2-40B4-BE49-F238E27FC236}">
                <a16:creationId xmlns:a16="http://schemas.microsoft.com/office/drawing/2014/main" id="{12D752C7-E534-1096-FBB5-6DA7192F5710}"/>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3" name="Rectangle 10">
            <a:extLst>
              <a:ext uri="{FF2B5EF4-FFF2-40B4-BE49-F238E27FC236}">
                <a16:creationId xmlns:a16="http://schemas.microsoft.com/office/drawing/2014/main" id="{C0F880E8-8C86-0997-24BB-B9C6A27C3B3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4" name="Rectangle 13">
            <a:extLst>
              <a:ext uri="{FF2B5EF4-FFF2-40B4-BE49-F238E27FC236}">
                <a16:creationId xmlns:a16="http://schemas.microsoft.com/office/drawing/2014/main" id="{FF09FD9E-0809-BB7C-8E28-E74CFA679143}"/>
              </a:ext>
            </a:extLst>
          </p:cNvPr>
          <p:cNvSpPr>
            <a:spLocks noChangeArrowheads="1"/>
          </p:cNvSpPr>
          <p:nvPr/>
        </p:nvSpPr>
        <p:spPr bwMode="auto">
          <a:xfrm>
            <a:off x="0" y="2590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5" name="AutoShape 14">
            <a:hlinkClick r:id="rId2" action="ppaction://program" highlightClick="1"/>
            <a:extLst>
              <a:ext uri="{FF2B5EF4-FFF2-40B4-BE49-F238E27FC236}">
                <a16:creationId xmlns:a16="http://schemas.microsoft.com/office/drawing/2014/main" id="{23CD8736-1B75-43B0-AE5B-746A178E4A99}"/>
              </a:ext>
            </a:extLst>
          </p:cNvPr>
          <p:cNvSpPr>
            <a:spLocks noChangeArrowheads="1"/>
          </p:cNvSpPr>
          <p:nvPr/>
        </p:nvSpPr>
        <p:spPr bwMode="auto">
          <a:xfrm>
            <a:off x="6553200" y="5784850"/>
            <a:ext cx="24384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TestShortestPath</a:t>
            </a:r>
          </a:p>
        </p:txBody>
      </p:sp>
      <p:sp>
        <p:nvSpPr>
          <p:cNvPr id="524303" name="AutoShape 15">
            <a:hlinkClick r:id="" action="ppaction://noaction" highlightClick="1"/>
            <a:extLst>
              <a:ext uri="{FF2B5EF4-FFF2-40B4-BE49-F238E27FC236}">
                <a16:creationId xmlns:a16="http://schemas.microsoft.com/office/drawing/2014/main" id="{3BF5B142-109F-F50A-315D-0D51D1962291}"/>
              </a:ext>
            </a:extLst>
          </p:cNvPr>
          <p:cNvSpPr>
            <a:spLocks noChangeArrowheads="1"/>
          </p:cNvSpPr>
          <p:nvPr/>
        </p:nvSpPr>
        <p:spPr bwMode="auto">
          <a:xfrm>
            <a:off x="3429000" y="5784850"/>
            <a:ext cx="28194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3" action="ppaction://program">
                  <a:extLst>
                    <a:ext uri="{A12FA001-AC4F-418D-AE19-62706E023703}">
                      <ahyp:hlinkClr xmlns:ahyp="http://schemas.microsoft.com/office/drawing/2018/hyperlinkcolor" val="tx"/>
                    </a:ext>
                  </a:extLst>
                </a:hlinkClick>
              </a:rPr>
              <a:t>TestShortestPath</a:t>
            </a:r>
            <a:endParaRPr lang="en-US" dirty="0">
              <a:solidFill>
                <a:srgbClr val="002060"/>
              </a:solidFill>
            </a:endParaRPr>
          </a:p>
        </p:txBody>
      </p:sp>
      <p:sp>
        <p:nvSpPr>
          <p:cNvPr id="33807" name="Rectangle 17">
            <a:extLst>
              <a:ext uri="{FF2B5EF4-FFF2-40B4-BE49-F238E27FC236}">
                <a16:creationId xmlns:a16="http://schemas.microsoft.com/office/drawing/2014/main" id="{DF72E332-FEE9-969A-DAE7-31B2F456CB52}"/>
              </a:ext>
            </a:extLst>
          </p:cNvPr>
          <p:cNvSpPr>
            <a:spLocks noChangeArrowheads="1"/>
          </p:cNvSpPr>
          <p:nvPr/>
        </p:nvSpPr>
        <p:spPr bwMode="auto">
          <a:xfrm>
            <a:off x="0" y="2590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8" name="AutoShape 18">
            <a:hlinkClick r:id="rId4" highlightClick="1"/>
            <a:extLst>
              <a:ext uri="{FF2B5EF4-FFF2-40B4-BE49-F238E27FC236}">
                <a16:creationId xmlns:a16="http://schemas.microsoft.com/office/drawing/2014/main" id="{0086D12F-17B0-A4C4-E680-81559C9E6B2B}"/>
              </a:ext>
            </a:extLst>
          </p:cNvPr>
          <p:cNvSpPr>
            <a:spLocks noChangeArrowheads="1"/>
          </p:cNvSpPr>
          <p:nvPr/>
        </p:nvSpPr>
        <p:spPr bwMode="auto">
          <a:xfrm>
            <a:off x="2895600" y="570865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3809" name="Picture 20">
            <a:extLst>
              <a:ext uri="{FF2B5EF4-FFF2-40B4-BE49-F238E27FC236}">
                <a16:creationId xmlns:a16="http://schemas.microsoft.com/office/drawing/2014/main" id="{FCAD40FE-4EF0-0A8A-65A8-963FD47E7DDF}"/>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700" y="2108200"/>
            <a:ext cx="8851900" cy="264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8069EFDE-3E90-0331-006E-8CD4A5A6D43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EFE8FE9-F5F2-4698-A318-161BD66040EF}" type="slidenum">
              <a:rPr lang="en-US" altLang="en-US" sz="1400"/>
              <a:pPr>
                <a:spcBef>
                  <a:spcPct val="0"/>
                </a:spcBef>
                <a:buClrTx/>
                <a:buSzTx/>
                <a:buFontTx/>
                <a:buNone/>
              </a:pPr>
              <a:t>32</a:t>
            </a:fld>
            <a:endParaRPr lang="en-US" altLang="en-US" sz="1400"/>
          </a:p>
        </p:txBody>
      </p:sp>
      <p:sp>
        <p:nvSpPr>
          <p:cNvPr id="34819" name="Rectangle 2">
            <a:extLst>
              <a:ext uri="{FF2B5EF4-FFF2-40B4-BE49-F238E27FC236}">
                <a16:creationId xmlns:a16="http://schemas.microsoft.com/office/drawing/2014/main" id="{9D9938E2-525D-E14B-64B6-523579331457}"/>
              </a:ext>
            </a:extLst>
          </p:cNvPr>
          <p:cNvSpPr>
            <a:spLocks noGrp="1" noChangeArrowheads="1"/>
          </p:cNvSpPr>
          <p:nvPr>
            <p:ph type="title"/>
          </p:nvPr>
        </p:nvSpPr>
        <p:spPr>
          <a:xfrm>
            <a:off x="228600" y="152400"/>
            <a:ext cx="8686800" cy="1295400"/>
          </a:xfrm>
        </p:spPr>
        <p:txBody>
          <a:bodyPr/>
          <a:lstStyle/>
          <a:p>
            <a:r>
              <a:rPr lang="en-US" altLang="en-US"/>
              <a:t>Time Complexity</a:t>
            </a:r>
          </a:p>
        </p:txBody>
      </p:sp>
      <p:sp>
        <p:nvSpPr>
          <p:cNvPr id="34820" name="Rectangle 3">
            <a:extLst>
              <a:ext uri="{FF2B5EF4-FFF2-40B4-BE49-F238E27FC236}">
                <a16:creationId xmlns:a16="http://schemas.microsoft.com/office/drawing/2014/main" id="{FB73147A-230D-2C07-3633-77C1602A9A3C}"/>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1" name="Rectangle 4">
            <a:extLst>
              <a:ext uri="{FF2B5EF4-FFF2-40B4-BE49-F238E27FC236}">
                <a16:creationId xmlns:a16="http://schemas.microsoft.com/office/drawing/2014/main" id="{3021D577-115F-D485-8526-B2ECB5F31061}"/>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2" name="Rectangle 5">
            <a:extLst>
              <a:ext uri="{FF2B5EF4-FFF2-40B4-BE49-F238E27FC236}">
                <a16:creationId xmlns:a16="http://schemas.microsoft.com/office/drawing/2014/main" id="{85E2FB5B-555E-0E99-0FDA-6CA56A222438}"/>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3" name="Rectangle 6">
            <a:extLst>
              <a:ext uri="{FF2B5EF4-FFF2-40B4-BE49-F238E27FC236}">
                <a16:creationId xmlns:a16="http://schemas.microsoft.com/office/drawing/2014/main" id="{FDAF0425-F748-AA9F-0410-9C9632BC2551}"/>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4" name="Rectangle 7">
            <a:extLst>
              <a:ext uri="{FF2B5EF4-FFF2-40B4-BE49-F238E27FC236}">
                <a16:creationId xmlns:a16="http://schemas.microsoft.com/office/drawing/2014/main" id="{51C2814C-842B-4C52-C0F7-0CAE493FE8AC}"/>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5" name="Rectangle 8">
            <a:extLst>
              <a:ext uri="{FF2B5EF4-FFF2-40B4-BE49-F238E27FC236}">
                <a16:creationId xmlns:a16="http://schemas.microsoft.com/office/drawing/2014/main" id="{4176C10C-CAE7-9511-61E7-AECFA3A259E1}"/>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6" name="Rectangle 9">
            <a:extLst>
              <a:ext uri="{FF2B5EF4-FFF2-40B4-BE49-F238E27FC236}">
                <a16:creationId xmlns:a16="http://schemas.microsoft.com/office/drawing/2014/main" id="{B683511B-5E1F-B1B5-4F28-6A002D8A79BD}"/>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7" name="Rectangle 10">
            <a:extLst>
              <a:ext uri="{FF2B5EF4-FFF2-40B4-BE49-F238E27FC236}">
                <a16:creationId xmlns:a16="http://schemas.microsoft.com/office/drawing/2014/main" id="{F764C9AD-2AF5-7811-03C5-72B30CC4D63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8" name="Rectangle 11">
            <a:extLst>
              <a:ext uri="{FF2B5EF4-FFF2-40B4-BE49-F238E27FC236}">
                <a16:creationId xmlns:a16="http://schemas.microsoft.com/office/drawing/2014/main" id="{4D0FD944-A176-4B74-23E3-BDD3C1CB3439}"/>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9" name="Rectangle 12">
            <a:extLst>
              <a:ext uri="{FF2B5EF4-FFF2-40B4-BE49-F238E27FC236}">
                <a16:creationId xmlns:a16="http://schemas.microsoft.com/office/drawing/2014/main" id="{3EC65C85-3454-832D-C55C-C59B213AD354}"/>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0" name="Rectangle 13">
            <a:extLst>
              <a:ext uri="{FF2B5EF4-FFF2-40B4-BE49-F238E27FC236}">
                <a16:creationId xmlns:a16="http://schemas.microsoft.com/office/drawing/2014/main" id="{C0017631-E3AE-4183-C4A5-B0BE0F6AE795}"/>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1" name="Rectangle 14">
            <a:extLst>
              <a:ext uri="{FF2B5EF4-FFF2-40B4-BE49-F238E27FC236}">
                <a16:creationId xmlns:a16="http://schemas.microsoft.com/office/drawing/2014/main" id="{50A0D071-616B-C281-E600-3673E5B60F84}"/>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2" name="Rectangle 16">
            <a:extLst>
              <a:ext uri="{FF2B5EF4-FFF2-40B4-BE49-F238E27FC236}">
                <a16:creationId xmlns:a16="http://schemas.microsoft.com/office/drawing/2014/main" id="{D4B7471F-2A3A-8AC2-5E91-23F62E6ECAE4}"/>
              </a:ext>
            </a:extLst>
          </p:cNvPr>
          <p:cNvSpPr>
            <a:spLocks noChangeArrowheads="1"/>
          </p:cNvSpPr>
          <p:nvPr/>
        </p:nvSpPr>
        <p:spPr bwMode="auto">
          <a:xfrm>
            <a:off x="228600" y="1447800"/>
            <a:ext cx="86106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AU" altLang="en-US"/>
              <a:t>Same as the Prim’s MST, O(n^3) and can be reduced to O(n^2).</a:t>
            </a:r>
            <a:endParaRPr lang="en-US"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8423B199-95BA-D02F-A0FD-3362C36BD41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46007E3-A707-459A-AE54-43A99C4897E1}" type="slidenum">
              <a:rPr lang="en-US" altLang="en-US" sz="1400"/>
              <a:pPr>
                <a:spcBef>
                  <a:spcPct val="0"/>
                </a:spcBef>
                <a:buClrTx/>
                <a:buSzTx/>
                <a:buFontTx/>
                <a:buNone/>
              </a:pPr>
              <a:t>33</a:t>
            </a:fld>
            <a:endParaRPr lang="en-US" altLang="en-US" sz="1400"/>
          </a:p>
        </p:txBody>
      </p:sp>
      <p:sp>
        <p:nvSpPr>
          <p:cNvPr id="35843" name="Rectangle 2">
            <a:extLst>
              <a:ext uri="{FF2B5EF4-FFF2-40B4-BE49-F238E27FC236}">
                <a16:creationId xmlns:a16="http://schemas.microsoft.com/office/drawing/2014/main" id="{3E2191F0-13A9-73A1-39DC-A354A3BEE9DA}"/>
              </a:ext>
            </a:extLst>
          </p:cNvPr>
          <p:cNvSpPr>
            <a:spLocks noGrp="1" noChangeArrowheads="1"/>
          </p:cNvSpPr>
          <p:nvPr>
            <p:ph type="title"/>
          </p:nvPr>
        </p:nvSpPr>
        <p:spPr>
          <a:xfrm>
            <a:off x="685800" y="228600"/>
            <a:ext cx="7772400" cy="609600"/>
          </a:xfrm>
        </p:spPr>
        <p:txBody>
          <a:bodyPr/>
          <a:lstStyle/>
          <a:p>
            <a:r>
              <a:rPr lang="en-US" altLang="en-US"/>
              <a:t>SP Algorithm Example</a:t>
            </a:r>
          </a:p>
        </p:txBody>
      </p:sp>
      <p:sp>
        <p:nvSpPr>
          <p:cNvPr id="35844" name="Rectangle 3">
            <a:extLst>
              <a:ext uri="{FF2B5EF4-FFF2-40B4-BE49-F238E27FC236}">
                <a16:creationId xmlns:a16="http://schemas.microsoft.com/office/drawing/2014/main" id="{930782FC-6F8C-53A3-B502-DE7041A2BFBB}"/>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5" name="Rectangle 4">
            <a:extLst>
              <a:ext uri="{FF2B5EF4-FFF2-40B4-BE49-F238E27FC236}">
                <a16:creationId xmlns:a16="http://schemas.microsoft.com/office/drawing/2014/main" id="{7A4E5E6E-F7B5-E453-F3D0-08B374E39635}"/>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6" name="Rectangle 5">
            <a:extLst>
              <a:ext uri="{FF2B5EF4-FFF2-40B4-BE49-F238E27FC236}">
                <a16:creationId xmlns:a16="http://schemas.microsoft.com/office/drawing/2014/main" id="{8A4BB2B4-5AD5-FC28-CCD0-6817B2374A72}"/>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7" name="Rectangle 6">
            <a:extLst>
              <a:ext uri="{FF2B5EF4-FFF2-40B4-BE49-F238E27FC236}">
                <a16:creationId xmlns:a16="http://schemas.microsoft.com/office/drawing/2014/main" id="{4E61DF6B-39C0-2671-A558-96AF40B61EFA}"/>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8" name="Rectangle 7">
            <a:extLst>
              <a:ext uri="{FF2B5EF4-FFF2-40B4-BE49-F238E27FC236}">
                <a16:creationId xmlns:a16="http://schemas.microsoft.com/office/drawing/2014/main" id="{3D1B63F7-1670-B217-F87B-34B4204A8837}"/>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9" name="Rectangle 8">
            <a:extLst>
              <a:ext uri="{FF2B5EF4-FFF2-40B4-BE49-F238E27FC236}">
                <a16:creationId xmlns:a16="http://schemas.microsoft.com/office/drawing/2014/main" id="{2B37B5CA-63A9-1FF1-87BE-A1424A9F4943}"/>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0" name="Rectangle 9">
            <a:extLst>
              <a:ext uri="{FF2B5EF4-FFF2-40B4-BE49-F238E27FC236}">
                <a16:creationId xmlns:a16="http://schemas.microsoft.com/office/drawing/2014/main" id="{6C99DE08-A577-4BB7-DDA5-ECB19B6F1D60}"/>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1" name="Rectangle 10">
            <a:extLst>
              <a:ext uri="{FF2B5EF4-FFF2-40B4-BE49-F238E27FC236}">
                <a16:creationId xmlns:a16="http://schemas.microsoft.com/office/drawing/2014/main" id="{393380B2-2942-08E8-89A0-6A31F063E794}"/>
              </a:ext>
            </a:extLst>
          </p:cNvPr>
          <p:cNvSpPr>
            <a:spLocks noChangeArrowheads="1"/>
          </p:cNvSpPr>
          <p:nvPr/>
        </p:nvSpPr>
        <p:spPr bwMode="auto">
          <a:xfrm>
            <a:off x="0" y="2587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2" name="Rectangle 11">
            <a:extLst>
              <a:ext uri="{FF2B5EF4-FFF2-40B4-BE49-F238E27FC236}">
                <a16:creationId xmlns:a16="http://schemas.microsoft.com/office/drawing/2014/main" id="{F0D01A25-8501-5532-3B10-BD1406DA612B}"/>
              </a:ext>
            </a:extLst>
          </p:cNvPr>
          <p:cNvSpPr>
            <a:spLocks noChangeArrowheads="1"/>
          </p:cNvSpPr>
          <p:nvPr/>
        </p:nvSpPr>
        <p:spPr bwMode="auto">
          <a:xfrm>
            <a:off x="0" y="2590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3" name="Rectangle 16">
            <a:extLst>
              <a:ext uri="{FF2B5EF4-FFF2-40B4-BE49-F238E27FC236}">
                <a16:creationId xmlns:a16="http://schemas.microsoft.com/office/drawing/2014/main" id="{3F7035B0-3508-0AA4-49CF-A43152279B73}"/>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5854" name="Object 15">
            <a:extLst>
              <a:ext uri="{FF2B5EF4-FFF2-40B4-BE49-F238E27FC236}">
                <a16:creationId xmlns:a16="http://schemas.microsoft.com/office/drawing/2014/main" id="{22926E4F-3560-83CA-387A-E11003342E60}"/>
              </a:ext>
            </a:extLst>
          </p:cNvPr>
          <p:cNvGraphicFramePr>
            <a:graphicFrameLocks noChangeAspect="1"/>
          </p:cNvGraphicFramePr>
          <p:nvPr/>
        </p:nvGraphicFramePr>
        <p:xfrm>
          <a:off x="609600" y="1219200"/>
          <a:ext cx="7239000" cy="4629150"/>
        </p:xfrm>
        <a:graphic>
          <a:graphicData uri="http://schemas.openxmlformats.org/presentationml/2006/ole">
            <mc:AlternateContent xmlns:mc="http://schemas.openxmlformats.org/markup-compatibility/2006">
              <mc:Choice xmlns:v="urn:schemas-microsoft-com:vml" Requires="v">
                <p:oleObj name="Picture" r:id="rId2" imgW="6260592" imgH="3995928" progId="Word.Picture.8">
                  <p:embed/>
                </p:oleObj>
              </mc:Choice>
              <mc:Fallback>
                <p:oleObj name="Picture" r:id="rId2" imgW="6260592" imgH="3995928"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19200"/>
                        <a:ext cx="723900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a:extLst>
              <a:ext uri="{FF2B5EF4-FFF2-40B4-BE49-F238E27FC236}">
                <a16:creationId xmlns:a16="http://schemas.microsoft.com/office/drawing/2014/main" id="{76705831-D472-2D3E-A0ED-74975374B5A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534CB81-449D-44F3-AC93-6BA1271912D3}" type="slidenum">
              <a:rPr lang="en-US" altLang="en-US" sz="1400"/>
              <a:pPr>
                <a:spcBef>
                  <a:spcPct val="0"/>
                </a:spcBef>
                <a:buClrTx/>
                <a:buSzTx/>
                <a:buFontTx/>
                <a:buNone/>
              </a:pPr>
              <a:t>34</a:t>
            </a:fld>
            <a:endParaRPr lang="en-US" altLang="en-US" sz="1400"/>
          </a:p>
        </p:txBody>
      </p:sp>
      <p:sp>
        <p:nvSpPr>
          <p:cNvPr id="36867" name="Rectangle 2">
            <a:extLst>
              <a:ext uri="{FF2B5EF4-FFF2-40B4-BE49-F238E27FC236}">
                <a16:creationId xmlns:a16="http://schemas.microsoft.com/office/drawing/2014/main" id="{0E44B0B0-36EB-3923-F343-51209AE0B854}"/>
              </a:ext>
            </a:extLst>
          </p:cNvPr>
          <p:cNvSpPr>
            <a:spLocks noGrp="1" noChangeArrowheads="1"/>
          </p:cNvSpPr>
          <p:nvPr>
            <p:ph type="title"/>
          </p:nvPr>
        </p:nvSpPr>
        <p:spPr>
          <a:xfrm>
            <a:off x="179388" y="152400"/>
            <a:ext cx="8659812" cy="533400"/>
          </a:xfrm>
          <a:noFill/>
        </p:spPr>
        <p:txBody>
          <a:bodyPr/>
          <a:lstStyle/>
          <a:p>
            <a:r>
              <a:rPr lang="en-US" altLang="en-US" sz="3600"/>
              <a:t>Shortest Path Animation</a:t>
            </a:r>
          </a:p>
        </p:txBody>
      </p:sp>
      <p:sp>
        <p:nvSpPr>
          <p:cNvPr id="36868" name="Rectangle 3">
            <a:extLst>
              <a:ext uri="{FF2B5EF4-FFF2-40B4-BE49-F238E27FC236}">
                <a16:creationId xmlns:a16="http://schemas.microsoft.com/office/drawing/2014/main" id="{52F50610-0592-64AD-B7F5-D81C9290FDCF}"/>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69" name="Rectangle 4">
            <a:extLst>
              <a:ext uri="{FF2B5EF4-FFF2-40B4-BE49-F238E27FC236}">
                <a16:creationId xmlns:a16="http://schemas.microsoft.com/office/drawing/2014/main" id="{30460ECB-4734-BD9E-33F5-DE9857963B50}"/>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0" name="Rectangle 5">
            <a:extLst>
              <a:ext uri="{FF2B5EF4-FFF2-40B4-BE49-F238E27FC236}">
                <a16:creationId xmlns:a16="http://schemas.microsoft.com/office/drawing/2014/main" id="{AB5CAACF-AB09-E116-504B-99C85B802B53}"/>
              </a:ext>
            </a:extLst>
          </p:cNvPr>
          <p:cNvSpPr>
            <a:spLocks noChangeArrowheads="1"/>
          </p:cNvSpPr>
          <p:nvPr/>
        </p:nvSpPr>
        <p:spPr bwMode="auto">
          <a:xfrm>
            <a:off x="3462338" y="3095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1" name="Rectangle 6">
            <a:extLst>
              <a:ext uri="{FF2B5EF4-FFF2-40B4-BE49-F238E27FC236}">
                <a16:creationId xmlns:a16="http://schemas.microsoft.com/office/drawing/2014/main" id="{EDE67A12-7DFD-BA7F-4104-0C342E4D0602}"/>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6872" name="Picture 10">
            <a:extLst>
              <a:ext uri="{FF2B5EF4-FFF2-40B4-BE49-F238E27FC236}">
                <a16:creationId xmlns:a16="http://schemas.microsoft.com/office/drawing/2014/main" id="{1409B08F-EF5B-C3EE-6DFF-DAB4D8CB2ED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057400"/>
            <a:ext cx="5181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3" name="Rounded Rectangle 1">
            <a:hlinkClick r:id="rId3"/>
            <a:extLst>
              <a:ext uri="{FF2B5EF4-FFF2-40B4-BE49-F238E27FC236}">
                <a16:creationId xmlns:a16="http://schemas.microsoft.com/office/drawing/2014/main" id="{75D800DE-B8FC-C532-5F12-8644D5938E09}"/>
              </a:ext>
            </a:extLst>
          </p:cNvPr>
          <p:cNvSpPr>
            <a:spLocks noChangeArrowheads="1"/>
          </p:cNvSpPr>
          <p:nvPr/>
        </p:nvSpPr>
        <p:spPr bwMode="auto">
          <a:xfrm>
            <a:off x="533400" y="685800"/>
            <a:ext cx="8229600" cy="12192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u="sng">
                <a:solidFill>
                  <a:srgbClr val="009C47"/>
                </a:solidFill>
              </a:rPr>
              <a:t>www.cs.armstrong.edu/liang/animation/ShortestPathAnimation.html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AC0A8237-4564-F48D-D9AD-027F6CB6A39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07DD4BE-A1FA-4932-980C-38F6FCC09904}" type="slidenum">
              <a:rPr lang="en-US" altLang="en-US" sz="1400"/>
              <a:pPr>
                <a:spcBef>
                  <a:spcPct val="0"/>
                </a:spcBef>
                <a:buClrTx/>
                <a:buSzTx/>
                <a:buFontTx/>
                <a:buNone/>
              </a:pPr>
              <a:t>35</a:t>
            </a:fld>
            <a:endParaRPr lang="en-US" altLang="en-US" sz="1400"/>
          </a:p>
        </p:txBody>
      </p:sp>
      <p:sp>
        <p:nvSpPr>
          <p:cNvPr id="37891" name="Rectangle 2">
            <a:extLst>
              <a:ext uri="{FF2B5EF4-FFF2-40B4-BE49-F238E27FC236}">
                <a16:creationId xmlns:a16="http://schemas.microsoft.com/office/drawing/2014/main" id="{23458089-3231-58D2-75A3-5311776E47D4}"/>
              </a:ext>
            </a:extLst>
          </p:cNvPr>
          <p:cNvSpPr>
            <a:spLocks noGrp="1" noChangeArrowheads="1"/>
          </p:cNvSpPr>
          <p:nvPr>
            <p:ph type="title"/>
          </p:nvPr>
        </p:nvSpPr>
        <p:spPr>
          <a:xfrm>
            <a:off x="685800" y="285750"/>
            <a:ext cx="7772400" cy="704850"/>
          </a:xfrm>
        </p:spPr>
        <p:txBody>
          <a:bodyPr/>
          <a:lstStyle/>
          <a:p>
            <a:r>
              <a:rPr lang="en-US" altLang="en-US"/>
              <a:t>The Weighted Nine Tail Problem </a:t>
            </a:r>
          </a:p>
        </p:txBody>
      </p:sp>
      <p:sp>
        <p:nvSpPr>
          <p:cNvPr id="37892" name="Rectangle 5">
            <a:extLst>
              <a:ext uri="{FF2B5EF4-FFF2-40B4-BE49-F238E27FC236}">
                <a16:creationId xmlns:a16="http://schemas.microsoft.com/office/drawing/2014/main" id="{85D6C40B-38BB-7563-AE8F-9C64D19F630D}"/>
              </a:ext>
            </a:extLst>
          </p:cNvPr>
          <p:cNvSpPr>
            <a:spLocks noGrp="1" noChangeArrowheads="1"/>
          </p:cNvSpPr>
          <p:nvPr>
            <p:ph type="body" idx="1"/>
          </p:nvPr>
        </p:nvSpPr>
        <p:spPr>
          <a:xfrm>
            <a:off x="228600" y="1143000"/>
            <a:ext cx="8686800" cy="2895600"/>
          </a:xfrm>
          <a:noFill/>
        </p:spPr>
        <p:txBody>
          <a:bodyPr/>
          <a:lstStyle/>
          <a:p>
            <a:pPr marL="0" indent="0">
              <a:lnSpc>
                <a:spcPct val="90000"/>
              </a:lnSpc>
              <a:spcBef>
                <a:spcPts val="500"/>
              </a:spcBef>
              <a:spcAft>
                <a:spcPts val="500"/>
              </a:spcAft>
              <a:buFont typeface="Monotype Sorts"/>
              <a:buNone/>
            </a:pPr>
            <a:r>
              <a:rPr lang="en-US" altLang="en-US" sz="2800"/>
              <a:t>The nine tail problem is to find the minimum number of the moves that lead to all coins face down. Each move flips a head coin and its neighbors. The weighted nine tail problem assigns the number of the flips as a weight on each move. For example, you can move from the coins in (a) to (b) by flipping the three coins. So the weight for this move is 3.</a:t>
            </a:r>
          </a:p>
        </p:txBody>
      </p:sp>
      <p:sp>
        <p:nvSpPr>
          <p:cNvPr id="37893" name="Rectangle 7">
            <a:extLst>
              <a:ext uri="{FF2B5EF4-FFF2-40B4-BE49-F238E27FC236}">
                <a16:creationId xmlns:a16="http://schemas.microsoft.com/office/drawing/2014/main" id="{C8D10B19-4B70-EE82-6C24-B23CA9103225}"/>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4" name="Rectangle 9">
            <a:extLst>
              <a:ext uri="{FF2B5EF4-FFF2-40B4-BE49-F238E27FC236}">
                <a16:creationId xmlns:a16="http://schemas.microsoft.com/office/drawing/2014/main" id="{6226C932-A5A3-DF6C-9376-D5282A25002C}"/>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5" name="Rectangle 13">
            <a:extLst>
              <a:ext uri="{FF2B5EF4-FFF2-40B4-BE49-F238E27FC236}">
                <a16:creationId xmlns:a16="http://schemas.microsoft.com/office/drawing/2014/main" id="{807A8D6C-A92E-5B1B-BBFA-7B7FD4A63229}"/>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7896" name="Object 12">
            <a:extLst>
              <a:ext uri="{FF2B5EF4-FFF2-40B4-BE49-F238E27FC236}">
                <a16:creationId xmlns:a16="http://schemas.microsoft.com/office/drawing/2014/main" id="{9DB2352F-45B7-0B55-4CA0-419D03853398}"/>
              </a:ext>
            </a:extLst>
          </p:cNvPr>
          <p:cNvGraphicFramePr>
            <a:graphicFrameLocks noChangeAspect="1"/>
          </p:cNvGraphicFramePr>
          <p:nvPr/>
        </p:nvGraphicFramePr>
        <p:xfrm>
          <a:off x="1219200" y="4114800"/>
          <a:ext cx="2514600" cy="2108200"/>
        </p:xfrm>
        <a:graphic>
          <a:graphicData uri="http://schemas.openxmlformats.org/presentationml/2006/ole">
            <mc:AlternateContent xmlns:mc="http://schemas.openxmlformats.org/markup-compatibility/2006">
              <mc:Choice xmlns:v="urn:schemas-microsoft-com:vml" Requires="v">
                <p:oleObj name="Picture" r:id="rId2" imgW="902228" imgH="748560" progId="Word.Picture.8">
                  <p:embed/>
                </p:oleObj>
              </mc:Choice>
              <mc:Fallback>
                <p:oleObj name="Picture" r:id="rId2" imgW="902228" imgH="748560" progId="Word.Picture.8">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114800"/>
                        <a:ext cx="251460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7" name="Rectangle 15">
            <a:extLst>
              <a:ext uri="{FF2B5EF4-FFF2-40B4-BE49-F238E27FC236}">
                <a16:creationId xmlns:a16="http://schemas.microsoft.com/office/drawing/2014/main" id="{B6FE8C3E-DD55-4137-EC3D-92E6630D6BF8}"/>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7898" name="Object 14">
            <a:extLst>
              <a:ext uri="{FF2B5EF4-FFF2-40B4-BE49-F238E27FC236}">
                <a16:creationId xmlns:a16="http://schemas.microsoft.com/office/drawing/2014/main" id="{8B5596C7-2D22-7F1D-954D-78DDD80C5E78}"/>
              </a:ext>
            </a:extLst>
          </p:cNvPr>
          <p:cNvGraphicFramePr>
            <a:graphicFrameLocks noChangeAspect="1"/>
          </p:cNvGraphicFramePr>
          <p:nvPr/>
        </p:nvGraphicFramePr>
        <p:xfrm>
          <a:off x="4800600" y="4114800"/>
          <a:ext cx="2514600" cy="2108200"/>
        </p:xfrm>
        <a:graphic>
          <a:graphicData uri="http://schemas.openxmlformats.org/presentationml/2006/ole">
            <mc:AlternateContent xmlns:mc="http://schemas.openxmlformats.org/markup-compatibility/2006">
              <mc:Choice xmlns:v="urn:schemas-microsoft-com:vml" Requires="v">
                <p:oleObj name="Picture" r:id="rId4" imgW="902228" imgH="748560" progId="Word.Picture.8">
                  <p:embed/>
                </p:oleObj>
              </mc:Choice>
              <mc:Fallback>
                <p:oleObj name="Picture" r:id="rId4" imgW="902228" imgH="748560" progId="Word.Picture.8">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4114800"/>
                        <a:ext cx="251460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9" name="Rectangle 17">
            <a:extLst>
              <a:ext uri="{FF2B5EF4-FFF2-40B4-BE49-F238E27FC236}">
                <a16:creationId xmlns:a16="http://schemas.microsoft.com/office/drawing/2014/main" id="{178DB130-FA30-D097-2A70-27379E4F52C7}"/>
              </a:ext>
            </a:extLst>
          </p:cNvPr>
          <p:cNvSpPr>
            <a:spLocks noChangeArrowheads="1"/>
          </p:cNvSpPr>
          <p:nvPr/>
        </p:nvSpPr>
        <p:spPr bwMode="auto">
          <a:xfrm>
            <a:off x="457200" y="4191000"/>
            <a:ext cx="60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ts val="500"/>
              </a:spcBef>
              <a:spcAft>
                <a:spcPts val="500"/>
              </a:spcAft>
              <a:buFont typeface="Monotype Sorts"/>
              <a:buNone/>
            </a:pPr>
            <a:r>
              <a:rPr lang="en-US" altLang="en-US" sz="2800"/>
              <a:t>(a)</a:t>
            </a:r>
          </a:p>
        </p:txBody>
      </p:sp>
      <p:sp>
        <p:nvSpPr>
          <p:cNvPr id="37900" name="Rectangle 18">
            <a:extLst>
              <a:ext uri="{FF2B5EF4-FFF2-40B4-BE49-F238E27FC236}">
                <a16:creationId xmlns:a16="http://schemas.microsoft.com/office/drawing/2014/main" id="{FE2A652B-6CDF-3513-9FC9-7C37216F60EB}"/>
              </a:ext>
            </a:extLst>
          </p:cNvPr>
          <p:cNvSpPr>
            <a:spLocks noChangeArrowheads="1"/>
          </p:cNvSpPr>
          <p:nvPr/>
        </p:nvSpPr>
        <p:spPr bwMode="auto">
          <a:xfrm>
            <a:off x="7543800" y="4114800"/>
            <a:ext cx="685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ts val="500"/>
              </a:spcBef>
              <a:spcAft>
                <a:spcPts val="500"/>
              </a:spcAft>
              <a:buFont typeface="Monotype Sorts"/>
              <a:buNone/>
            </a:pPr>
            <a:r>
              <a:rPr lang="en-US" altLang="en-US" sz="2800"/>
              <a:t>(b)</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6E5D5092-F14F-C953-510C-BF110762874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B90EB53-D7DC-45B9-AE9A-29CC48E80C2A}" type="slidenum">
              <a:rPr lang="en-US" altLang="en-US" sz="1400"/>
              <a:pPr>
                <a:spcBef>
                  <a:spcPct val="0"/>
                </a:spcBef>
                <a:buClrTx/>
                <a:buSzTx/>
                <a:buFontTx/>
                <a:buNone/>
              </a:pPr>
              <a:t>36</a:t>
            </a:fld>
            <a:endParaRPr lang="en-US" altLang="en-US" sz="1400"/>
          </a:p>
        </p:txBody>
      </p:sp>
      <p:sp>
        <p:nvSpPr>
          <p:cNvPr id="38915" name="Rectangle 2">
            <a:extLst>
              <a:ext uri="{FF2B5EF4-FFF2-40B4-BE49-F238E27FC236}">
                <a16:creationId xmlns:a16="http://schemas.microsoft.com/office/drawing/2014/main" id="{A53BB18E-857A-94F8-3508-C98AA7850922}"/>
              </a:ext>
            </a:extLst>
          </p:cNvPr>
          <p:cNvSpPr>
            <a:spLocks noGrp="1" noChangeArrowheads="1"/>
          </p:cNvSpPr>
          <p:nvPr>
            <p:ph type="title"/>
          </p:nvPr>
        </p:nvSpPr>
        <p:spPr>
          <a:xfrm>
            <a:off x="685800" y="152400"/>
            <a:ext cx="7772400" cy="628650"/>
          </a:xfrm>
        </p:spPr>
        <p:txBody>
          <a:bodyPr/>
          <a:lstStyle/>
          <a:p>
            <a:r>
              <a:rPr lang="en-US" altLang="en-US"/>
              <a:t>WeightedNineTailModel </a:t>
            </a:r>
          </a:p>
        </p:txBody>
      </p:sp>
      <p:sp>
        <p:nvSpPr>
          <p:cNvPr id="38916" name="Rectangle 3">
            <a:extLst>
              <a:ext uri="{FF2B5EF4-FFF2-40B4-BE49-F238E27FC236}">
                <a16:creationId xmlns:a16="http://schemas.microsoft.com/office/drawing/2014/main" id="{79B84A84-0C76-4DB7-BA7D-5CBDCCA2737D}"/>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7" name="Rectangle 4">
            <a:extLst>
              <a:ext uri="{FF2B5EF4-FFF2-40B4-BE49-F238E27FC236}">
                <a16:creationId xmlns:a16="http://schemas.microsoft.com/office/drawing/2014/main" id="{A022C8E8-863C-6375-EF34-7E837FE9AF67}"/>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8" name="Rectangle 5">
            <a:extLst>
              <a:ext uri="{FF2B5EF4-FFF2-40B4-BE49-F238E27FC236}">
                <a16:creationId xmlns:a16="http://schemas.microsoft.com/office/drawing/2014/main" id="{C4DDD4CA-C11F-6F17-130B-45D6C9A80DBF}"/>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9" name="Rectangle 6">
            <a:extLst>
              <a:ext uri="{FF2B5EF4-FFF2-40B4-BE49-F238E27FC236}">
                <a16:creationId xmlns:a16="http://schemas.microsoft.com/office/drawing/2014/main" id="{B28EE264-38D7-2347-965E-F0C46B48BA16}"/>
              </a:ext>
            </a:extLst>
          </p:cNvPr>
          <p:cNvSpPr>
            <a:spLocks noChangeArrowheads="1"/>
          </p:cNvSpPr>
          <p:nvPr/>
        </p:nvSpPr>
        <p:spPr bwMode="auto">
          <a:xfrm>
            <a:off x="0" y="21113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0" name="Rectangle 7">
            <a:extLst>
              <a:ext uri="{FF2B5EF4-FFF2-40B4-BE49-F238E27FC236}">
                <a16:creationId xmlns:a16="http://schemas.microsoft.com/office/drawing/2014/main" id="{00964795-C7B7-B396-6D0B-70BFA61DB78F}"/>
              </a:ext>
            </a:extLst>
          </p:cNvPr>
          <p:cNvSpPr>
            <a:spLocks noChangeArrowheads="1"/>
          </p:cNvSpPr>
          <p:nvPr/>
        </p:nvSpPr>
        <p:spPr bwMode="auto">
          <a:xfrm>
            <a:off x="0" y="4473575"/>
            <a:ext cx="29273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tabLst>
                <a:tab pos="2286000" algn="l"/>
                <a:tab pos="2743200" algn="l"/>
                <a:tab pos="3200400" algn="l"/>
                <a:tab pos="3657600" algn="l"/>
                <a:tab pos="4114800" algn="l"/>
                <a:tab pos="45720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2286000" algn="l"/>
                <a:tab pos="2743200" algn="l"/>
                <a:tab pos="3200400" algn="l"/>
                <a:tab pos="3657600" algn="l"/>
                <a:tab pos="4114800" algn="l"/>
                <a:tab pos="45720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2286000" algn="l"/>
                <a:tab pos="2743200" algn="l"/>
                <a:tab pos="3200400" algn="l"/>
                <a:tab pos="3657600" algn="l"/>
                <a:tab pos="4114800" algn="l"/>
                <a:tab pos="45720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i="1">
                <a:solidFill>
                  <a:srgbClr val="0000FF"/>
                </a:solidFill>
                <a:latin typeface="Courier New" panose="02070309020205020404" pitchFamily="49" charset="0"/>
                <a:ea typeface="Times New Roman" panose="02020603050405020304" pitchFamily="18" charset="0"/>
                <a:cs typeface="Courier New" panose="02070309020205020404" pitchFamily="49" charset="0"/>
              </a:rPr>
              <a:t>		</a:t>
            </a:r>
            <a:endParaRPr lang="en-US" altLang="en-US" sz="2400">
              <a:ea typeface="Times New Roman" panose="02020603050405020304" pitchFamily="18" charset="0"/>
              <a:cs typeface="Courier New" panose="02070309020205020404" pitchFamily="49" charset="0"/>
            </a:endParaRPr>
          </a:p>
        </p:txBody>
      </p:sp>
      <p:sp>
        <p:nvSpPr>
          <p:cNvPr id="38921" name="AutoShape 8">
            <a:hlinkClick r:id="rId2" action="ppaction://program" highlightClick="1"/>
            <a:extLst>
              <a:ext uri="{FF2B5EF4-FFF2-40B4-BE49-F238E27FC236}">
                <a16:creationId xmlns:a16="http://schemas.microsoft.com/office/drawing/2014/main" id="{C7B0F83B-C116-1C31-813A-6939DEF2FBD3}"/>
              </a:ext>
            </a:extLst>
          </p:cNvPr>
          <p:cNvSpPr>
            <a:spLocks noChangeArrowheads="1"/>
          </p:cNvSpPr>
          <p:nvPr/>
        </p:nvSpPr>
        <p:spPr bwMode="auto">
          <a:xfrm>
            <a:off x="6553200" y="6019800"/>
            <a:ext cx="24384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WeightedNineTail</a:t>
            </a:r>
          </a:p>
        </p:txBody>
      </p:sp>
      <p:sp>
        <p:nvSpPr>
          <p:cNvPr id="534537" name="AutoShape 9">
            <a:hlinkClick r:id="" action="ppaction://noaction" highlightClick="1"/>
            <a:extLst>
              <a:ext uri="{FF2B5EF4-FFF2-40B4-BE49-F238E27FC236}">
                <a16:creationId xmlns:a16="http://schemas.microsoft.com/office/drawing/2014/main" id="{0D759F50-AFEC-60D1-4EBE-BDA7E33CB2BE}"/>
              </a:ext>
            </a:extLst>
          </p:cNvPr>
          <p:cNvSpPr>
            <a:spLocks noChangeArrowheads="1"/>
          </p:cNvSpPr>
          <p:nvPr/>
        </p:nvSpPr>
        <p:spPr bwMode="auto">
          <a:xfrm>
            <a:off x="2906713" y="6019800"/>
            <a:ext cx="3505200" cy="3810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3" action="ppaction://program">
                  <a:extLst>
                    <a:ext uri="{A12FA001-AC4F-418D-AE19-62706E023703}">
                      <ahyp:hlinkClr xmlns:ahyp="http://schemas.microsoft.com/office/drawing/2018/hyperlinkcolor" val="tx"/>
                    </a:ext>
                  </a:extLst>
                </a:hlinkClick>
              </a:rPr>
              <a:t>WeightedNineTailModel</a:t>
            </a:r>
            <a:endParaRPr lang="en-US" dirty="0">
              <a:solidFill>
                <a:srgbClr val="002060"/>
              </a:solidFill>
            </a:endParaRPr>
          </a:p>
        </p:txBody>
      </p:sp>
      <p:sp>
        <p:nvSpPr>
          <p:cNvPr id="38923" name="Rectangle 11">
            <a:extLst>
              <a:ext uri="{FF2B5EF4-FFF2-40B4-BE49-F238E27FC236}">
                <a16:creationId xmlns:a16="http://schemas.microsoft.com/office/drawing/2014/main" id="{17EE0DEF-F239-3A15-9D3E-D9D7195B8D53}"/>
              </a:ext>
            </a:extLst>
          </p:cNvPr>
          <p:cNvSpPr>
            <a:spLocks noChangeArrowheads="1"/>
          </p:cNvSpPr>
          <p:nvPr/>
        </p:nvSpPr>
        <p:spPr bwMode="auto">
          <a:xfrm>
            <a:off x="0" y="231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4" name="Rectangle 12">
            <a:extLst>
              <a:ext uri="{FF2B5EF4-FFF2-40B4-BE49-F238E27FC236}">
                <a16:creationId xmlns:a16="http://schemas.microsoft.com/office/drawing/2014/main" id="{4A600114-C21A-350B-FFD7-B6FCEDC2AFB2}"/>
              </a:ext>
            </a:extLst>
          </p:cNvPr>
          <p:cNvSpPr>
            <a:spLocks noChangeArrowheads="1"/>
          </p:cNvSpPr>
          <p:nvPr/>
        </p:nvSpPr>
        <p:spPr bwMode="auto">
          <a:xfrm>
            <a:off x="0" y="1371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5" name="Rectangle 15">
            <a:extLst>
              <a:ext uri="{FF2B5EF4-FFF2-40B4-BE49-F238E27FC236}">
                <a16:creationId xmlns:a16="http://schemas.microsoft.com/office/drawing/2014/main" id="{8BCAAF4F-DD6E-4B85-AD4F-EB952A19269F}"/>
              </a:ext>
            </a:extLst>
          </p:cNvPr>
          <p:cNvSpPr>
            <a:spLocks noChangeArrowheads="1"/>
          </p:cNvSpPr>
          <p:nvPr/>
        </p:nvSpPr>
        <p:spPr bwMode="auto">
          <a:xfrm>
            <a:off x="0" y="1371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6" name="AutoShape 17">
            <a:hlinkClick r:id="rId4" highlightClick="1"/>
            <a:extLst>
              <a:ext uri="{FF2B5EF4-FFF2-40B4-BE49-F238E27FC236}">
                <a16:creationId xmlns:a16="http://schemas.microsoft.com/office/drawing/2014/main" id="{C5BE875B-0FD4-F08C-85F5-A77E2BAF0358}"/>
              </a:ext>
            </a:extLst>
          </p:cNvPr>
          <p:cNvSpPr>
            <a:spLocks noChangeArrowheads="1"/>
          </p:cNvSpPr>
          <p:nvPr/>
        </p:nvSpPr>
        <p:spPr bwMode="auto">
          <a:xfrm>
            <a:off x="2398713" y="5856288"/>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7" name="AutoShape 18">
            <a:hlinkClick r:id="rId5" highlightClick="1"/>
            <a:extLst>
              <a:ext uri="{FF2B5EF4-FFF2-40B4-BE49-F238E27FC236}">
                <a16:creationId xmlns:a16="http://schemas.microsoft.com/office/drawing/2014/main" id="{12E551DC-D827-8BFC-3BFE-CCCB25B6DBC2}"/>
              </a:ext>
            </a:extLst>
          </p:cNvPr>
          <p:cNvSpPr>
            <a:spLocks noChangeArrowheads="1"/>
          </p:cNvSpPr>
          <p:nvPr/>
        </p:nvSpPr>
        <p:spPr bwMode="auto">
          <a:xfrm>
            <a:off x="5943600" y="5334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8928" name="Picture 19">
            <a:extLst>
              <a:ext uri="{FF2B5EF4-FFF2-40B4-BE49-F238E27FC236}">
                <a16:creationId xmlns:a16="http://schemas.microsoft.com/office/drawing/2014/main" id="{2F053148-3DA3-7DB2-623D-B65B55039120}"/>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862013"/>
            <a:ext cx="6731000" cy="505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534538" name="AutoShape 10">
            <a:hlinkClick r:id="" action="ppaction://noaction" highlightClick="1"/>
            <a:extLst>
              <a:ext uri="{FF2B5EF4-FFF2-40B4-BE49-F238E27FC236}">
                <a16:creationId xmlns:a16="http://schemas.microsoft.com/office/drawing/2014/main" id="{B5E0B59E-F807-3E83-3A70-701A0389EF0E}"/>
              </a:ext>
            </a:extLst>
          </p:cNvPr>
          <p:cNvSpPr>
            <a:spLocks noChangeArrowheads="1"/>
          </p:cNvSpPr>
          <p:nvPr/>
        </p:nvSpPr>
        <p:spPr bwMode="auto">
          <a:xfrm>
            <a:off x="6477000" y="3886200"/>
            <a:ext cx="2514600" cy="3810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rgbClr val="002060"/>
                </a:solidFill>
                <a:latin typeface="Book Antiqua" pitchFamily="18" charset="0"/>
                <a:hlinkClick r:id="rId7" action="ppaction://program">
                  <a:extLst>
                    <a:ext uri="{A12FA001-AC4F-418D-AE19-62706E023703}">
                      <ahyp:hlinkClr xmlns:ahyp="http://schemas.microsoft.com/office/drawing/2018/hyperlinkcolor" val="tx"/>
                    </a:ext>
                  </a:extLst>
                </a:hlinkClick>
              </a:rPr>
              <a:t>NineTailModel</a:t>
            </a:r>
            <a:endParaRPr lang="en-US" dirty="0">
              <a:solidFill>
                <a:srgbClr val="002060"/>
              </a:solidFill>
            </a:endParaRPr>
          </a:p>
        </p:txBody>
      </p:sp>
      <p:sp>
        <p:nvSpPr>
          <p:cNvPr id="38930" name="AutoShape 18">
            <a:hlinkClick r:id="rId5" highlightClick="1"/>
            <a:extLst>
              <a:ext uri="{FF2B5EF4-FFF2-40B4-BE49-F238E27FC236}">
                <a16:creationId xmlns:a16="http://schemas.microsoft.com/office/drawing/2014/main" id="{8EA074C9-1A4B-740E-34DA-8AEE2088A6C1}"/>
              </a:ext>
            </a:extLst>
          </p:cNvPr>
          <p:cNvSpPr>
            <a:spLocks noChangeArrowheads="1"/>
          </p:cNvSpPr>
          <p:nvPr/>
        </p:nvSpPr>
        <p:spPr bwMode="auto">
          <a:xfrm>
            <a:off x="5943600" y="378777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36829</TotalTime>
  <Words>1299</Words>
  <Application>Microsoft Office PowerPoint</Application>
  <PresentationFormat>On-screen Show (4:3)</PresentationFormat>
  <Paragraphs>166</Paragraphs>
  <Slides>36</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5" baseType="lpstr">
      <vt:lpstr>Arial</vt:lpstr>
      <vt:lpstr>Book Antiqua</vt:lpstr>
      <vt:lpstr>Courier</vt:lpstr>
      <vt:lpstr>Courier New</vt:lpstr>
      <vt:lpstr>Monotype Sorts</vt:lpstr>
      <vt:lpstr>Times New Roman</vt:lpstr>
      <vt:lpstr>Wingdings</vt:lpstr>
      <vt:lpstr>International</vt:lpstr>
      <vt:lpstr>Picture</vt:lpstr>
      <vt:lpstr>Chapter 29 Weighted Graphs and Applications</vt:lpstr>
      <vt:lpstr>Objectives</vt:lpstr>
      <vt:lpstr>Weighted Graph Animation</vt:lpstr>
      <vt:lpstr>Weighted Graph Animation</vt:lpstr>
      <vt:lpstr>Representing Weighted Graphs </vt:lpstr>
      <vt:lpstr>Representing Weighted Edges: Edge Array </vt:lpstr>
      <vt:lpstr>Representing Weighted Edges: Edge Array </vt:lpstr>
      <vt:lpstr>Edge Adjacency Lists</vt:lpstr>
      <vt:lpstr>Edge Adjacency Lists</vt:lpstr>
      <vt:lpstr>Edge Adjacency Lists</vt:lpstr>
      <vt:lpstr>Minimum Spanning Trees </vt:lpstr>
      <vt:lpstr>Prim’s Minimum Spanning Tree Algorithm </vt:lpstr>
      <vt:lpstr>Minimum Spanning Tree Algorithm </vt:lpstr>
      <vt:lpstr>Minimum Spanning Tree Algorithm Example </vt:lpstr>
      <vt:lpstr>Refined Version of Prim’s Minimum Spanning Tree Algorithm </vt:lpstr>
      <vt:lpstr>Implementing MST Algorithm</vt:lpstr>
      <vt:lpstr>Time Complexity</vt:lpstr>
      <vt:lpstr>Test MST</vt:lpstr>
      <vt:lpstr>Shortest Path </vt:lpstr>
      <vt:lpstr>Single Source Shortest Path Algorithm </vt:lpstr>
      <vt:lpstr>Single Source Shortest Path Algorithm </vt:lpstr>
      <vt:lpstr>Single Source Shortest Path Algorithm </vt:lpstr>
      <vt:lpstr>SP Algorithm Example (Step 0)</vt:lpstr>
      <vt:lpstr>SP Algorithm Example (Step 1)</vt:lpstr>
      <vt:lpstr>SP Algorithm Example (Step 2)</vt:lpstr>
      <vt:lpstr>SP Algorithm Example (Step 3)</vt:lpstr>
      <vt:lpstr>SP Algorithm Example (Step 4)</vt:lpstr>
      <vt:lpstr>SP Algorithm Example (Step 5)</vt:lpstr>
      <vt:lpstr>SP Algorithm Example (Step 6)</vt:lpstr>
      <vt:lpstr>SP Algorithm Example (Step 7)</vt:lpstr>
      <vt:lpstr>SP Algorithm Implementation</vt:lpstr>
      <vt:lpstr>Time Complexity</vt:lpstr>
      <vt:lpstr>SP Algorithm Example</vt:lpstr>
      <vt:lpstr>Shortest Path Animation</vt:lpstr>
      <vt:lpstr>The Weighted Nine Tail Problem </vt:lpstr>
      <vt:lpstr>WeightedNineTailModel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Objects and Classes</dc:title>
  <dc:creator>Y. Daniel Liang</dc:creator>
  <cp:lastModifiedBy>Hisham Haddad</cp:lastModifiedBy>
  <cp:revision>252</cp:revision>
  <dcterms:created xsi:type="dcterms:W3CDTF">1995-06-10T17:31:50Z</dcterms:created>
  <dcterms:modified xsi:type="dcterms:W3CDTF">2026-04-10T19:12:00Z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isReadingOrderVerified":"true","pageNumber":0,"geomIndex":-1,"issueTypeId":"ReadingOrderIssue:PPTX","dismiss":false,"pageNumbers":[2],"coordinatesList":[[10.0,10.0,2.0,2.0]]},{"isReadingOrderVerified":"true","pageNumber":0,"geomIndex":-1,"issueTypeId":"ReadingOrderIssue:PPTX","dismiss":false,"pageNumbers":[3],"coordinatesList":[[10.0,10.0,2.0,2.0]]},{"pageNumber":0,"geomIndex":568,"lastGeomIndex":631,"textElement":"www.cs.armstrong.edu/liang/animation/ShortestPathAnimation.html","tableIndex":-1,"rowIndex":-1,"cellIndex":-1,"fontColor":"#009c47","identifiers":{"PARAGRAPH_ID":"13","RUN_ID":"0","SLIDE_ID":"2"},"issueDetails":{"luminance25":"1.0","isHeader":"true","luminance75":"1.0","textColor":"00b050"},"issueTypeId":"LowContrastIssue:PPTX","dismiss":false,"pageNumbers":[3],"coordinatesList":[[26.08799934387207,83.1099853515625,663.7830333709717,10.91890811920166]]},{"pageNumber":0,"geomIndex":-1,"decorative":true,"imageIndex":7,"identifiers":{},"issueTypeId":"MissingAlternativeTextIssue:PPTX","dismiss":false,"pageNumbers":[3],"coordinatesList":[[102.0,505.625,462.0,385.6199951171875]]},{"isReadingOrderVerified":"true","pageNumber":0,"geomIndex":-1,"issueTypeId":"ReadingOrderIssue:PPTX","dismiss":false,"pageNumbers":[4],"coordinatesList":[[10.0,10.0,2.0,2.0]]},{"pageNumber":0,"geomIndex":654,"lastGeomIndex":721,"textElement":"www.cs.armstrong.edu/liang/animation/WeightedGraphLearningTool.html","tableIndex":-1,"rowIndex":-1,"cellIndex":-1,"fontColor":"#009c47","identifiers":{"PARAGRAPH_ID":"16","RUN_ID":"0","SLIDE_ID":"3"},"issueDetails":{"luminance25":"1.0","isHeader":"true","luminance75":"1.0","textColor":"00b050"},"issueTypeId":"LowContrastIssue:PPTX","dismiss":false,"pageNumbers":[4],"coordinatesList":[[61.992000579833984,84.98001098632812,601.039737701416,9.108180046081543]]},{"pageNumber":0,"geomIndex":-1,"decorative":true,"imageIndex":7,"identifiers":{},"issueTypeId":"MissingAlternativeTextIssue:PPTX","dismiss":false,"pageNumbers":[4],"coordinatesList":[[12.0,497.875,690.0,383.8699951171875]]},{"isReadingOrderVerified":"true","pageNumber":0,"geomIndex":-1,"issueTypeId":"ReadingOrderIssue:PPTX","dismiss":false,"pageNumbers":[5],"coordinatesList":[[10.0,10.0,2.0,2.0]]},{"isReadingOrderVerified":"true","pageNumber":0,"geomIndex":-1,"issueTypeId":"ReadingOrderIssue:PPTX","dismiss":false,"pageNumbers":[6],"coordinatesList":[[10.0,10.0,2.0,2.0]]},{"pageNumber":0,"geomIndex":-1,"decorative":true,"imageIndex":8,"identifiers":{},"issueTypeId":"MissingAlternativeTextIssue:PPTX","dismiss":false,"pageNumbers":[6],"coordinatesList":[[174.0,486.75,519.75,234.75]]},{"isReadingOrderVerified":"true","pageNumber":0,"geomIndex":-1,"issueTypeId":"ReadingOrderIssue:PPTX","dismiss":false,"pageNumbers":[7],"coordinatesList":[[10.0,10.0,2.0,2.0]]},{"pageNumber":0,"geomIndex":-1,"decorative":true,"imageIndex":11,"identifiers":{},"issueTypeId":"MissingAlternativeTextIssue:PPTX","dismiss":false,"pageNumbers":[7],"coordinatesList":[[89.125,504.625,519.75,234.75]]},{"isReadingOrderVerified":"true","pageNumber":0,"geomIndex":-1,"issueTypeId":"ReadingOrderIssue:PPTX","dismiss":false,"pageNumbers":[8],"coordinatesList":[[10.0,10.0,2.0,2.0]]},{"pageNumber":0,"geomIndex":1040,"lastGeomIndex":1052,"textElement":"WeightedEdge","tableIndex":-1,"rowIndex":-1,"cellIndex":-1,"fontColor":"#009c47","identifiers":{"PARAGRAPH_ID":"34","RUN_ID":"0","SLIDE_ID":"7"},"issueDetails":{"luminance25":"0.316298551618885","isHeader":"true","luminance75":"0.316298551618885","textColor":"cbcbcb"},"issueTypeId":"LowContrastIssue:PPTX","dismiss":false,"pageNumbers":[8],"coordinatesList":[[44.0880012512207,425.1400146484375,157.79999923706055,12.107999801635742]]},{"pageNumber":0,"geomIndex":-1,"decorative":true,"imageIndex":13,"identifiers":{},"issueTypeId":"MissingAlternativeTextIssue:PPTX","dismiss":false,"pageNumbers":[8],"coordinatesList":[[288.0,503.5,401.25,181.1199951171875]]},{"isReadingOrderVerified":"true","pageNumber":0,"geomIndex":-1,"issueTypeId":"ReadingOrderIssue:PPTX","dismiss":false,"pageNumbers":[9],"coordinatesList":[[10.0,10.0,2.0,2.0]]},{"isReadingOrderVerified":"true","pageNumber":0,"geomIndex":-1,"issueTypeId":"ReadingOrderIssue:PPTX","dismiss":false,"pageNumbers":[10],"coordinatesList":[[10.0,10.0,2.0,2.0]]},{"pageNumber":0,"geomIndex":1272,"lastGeomIndex":1277,"textElement":"Graph","tableIndex":-1,"rowIndex":-1,"cellIndex":-1,"fontColor":"#009c47","identifiers":{"PARAGRAPH_ID":"42","RUN_ID":"0","SLIDE_ID":"9"},"issueDetails":{"luminance25":"0.316298551618885","isHeader":"true","luminance75":"0.316298551618885","textColor":"cbcbcb"},"issueTypeId":"LowContrastIssue:PPTX","dismiss":false,"pageNumbers":[10],"coordinatesList":[[58.847999572753906,491.135986328125,68.23200225830078,12.107999801635742]]},{"pageNumber":0,"geomIndex":1294,"lastGeomIndex":1307,"textElement":"AbstractGraph","tableIndex":-1,"rowIndex":-1,"cellIndex":-1,"fontColor":"#009c47","identifiers":{"PARAGRAPH_ID":"44","RUN_ID":"0","SLIDE_ID":"9"},"issueDetails":{"luminance25":"0.316298551618885","isHeader":"true","luminance75":"0.316298551618885","textColor":"cbcbcb"},"issueTypeId":"LowContrastIssue:PPTX","dismiss":false,"pageNumbers":[10],"coordinatesList":[[232.89999389648438,491.135986328125,158.1600341796875,12.107999801635742]]},{"pageNumber":0,"geomIndex":1307,"lastGeomIndex":1320,"textElement":"WeightedGraph","tableIndex":-1,"rowIndex":-1,"cellIndex":-1,"fontColor":"#009c47","identifiers":{"PARAGRAPH_ID":"45","RUN_ID":"0","SLIDE_ID":"9"},"issueDetails":{"luminance25":"0.316298551618885","isHeader":"true","luminance75":"0.316298551618885","textColor":"cbcbcb"},"issueTypeId":"LowContrastIssue:PPTX","dismiss":false,"pageNumbers":[10],"coordinatesList":[[499.0799865722656,491.135986328125,171.88790893554688,12.107999801635742]]},{"pageNumber":0,"geomIndex":1320,"lastGeomIndex":1337,"textElement":"TestWeightedGraph","tableIndex":-1,"rowIndex":-1,"cellIndex":-1,"fontColor":"#009c47","identifiers":{"PARAGRAPH_ID":"46","RUN_ID":"0","SLIDE_ID":"9"},"issueDetails":{"luminance25":"0.316298551618885","isHeader":"true","luminance75":"0.316298551618885","textColor":"cbcbcb"},"issueTypeId":"LowContrastIssue:PPTX","dismiss":false,"pageNumbers":[10],"coordinatesList":[[53.95199966430664,446.135986328125,216.14397811889648,12.107999801635742]]},{"pageNumber":0,"geomIndex":-1,"decorative":true,"imageIndex":16,"identifiers":{},"issueTypeId":"MissingAlternativeTextIssue:PPTX","dismiss":false,"pageNumbers":[10],"coordinatesList":[[51.75,405.0,616.5,393.0]]},{"isReadingOrderVerified":"true","pageNumber":0,"geomIndex":-1,"issueTypeId":"ReadingOrderIssue:PPTX","dismiss":false,"pageNumbers":[11],"coordinatesList":[[10.0,10.0,2.0,2.0]]},{"isReadingOrderVerified":"true","pageNumber":0,"geomIndex":-1,"issueTypeId":"ReadingOrderIssue:PPTX","dismiss":false,"pageNumbers":[12],"coordinatesList":[[10.0,10.0,2.0,2.0]]},{"isReadingOrderVerified":"true","pageNumber":0,"geomIndex":-1,"issueTypeId":"ReadingOrderIssue:PPTX","dismiss":false,"pageNumbers":[13],"coordinatesList":[[10.0,10.0,2.0,2.0]]},{"isReadingOrderVerified":"true","pageNumber":0,"geomIndex":-1,"issueTypeId":"ReadingOrderIssue:PPTX","dismiss":false,"pageNumbers":[14],"coordinatesList":[[10.0,10.0,2.0,2.0]]},{"pageNumber":0,"geomIndex":-1,"decorative":true,"imageIndex":14,"identifiers":{},"issueTypeId":"MissingAlternativeTextIssue:PPTX","dismiss":false,"pageNumbers":[14],"coordinatesList":[[234.0,506.0,458.5,488.0]]},{"isReadingOrderVerified":"true","pageNumber":0,"geomIndex":-1,"issueTypeId":"ReadingOrderIssue:PPTX","dismiss":false,"pageNumbers":[15],"coordinatesList":[[10.0,10.0,2.0,2.0]]},{"isReadingOrderVerified":"true","pageNumber":0,"geomIndex":-1,"issueTypeId":"ReadingOrderIssue:PPTX","dismiss":false,"pageNumbers":[16],"coordinatesList":[[10.0,10.0,2.0,2.0]]},{"pageNumber":0,"geomIndex":-1,"decorative":true,"imageIndex":15,"identifiers":{},"issueTypeId":"MissingAlternativeTextIssue:PPTX","dismiss":false,"pageNumbers":[16],"coordinatesList":[[12.0,321.0,669.5,183.0]]},{"isReadingOrderVerified":"true","pageNumber":0,"geomIndex":-1,"issueTypeId":"ReadingOrderIssue:PPTX","dismiss":false,"pageNumbers":[17],"coordinatesList":[[10.0,10.0,2.0,2.0]]},{"isReadingOrderVerified":"true","pageNumber":0,"geomIndex":-1,"issueTypeId":"ReadingOrderIssue:PPTX","dismiss":false,"pageNumbers":[18],"coordinatesList":[[10.0,10.0,2.0,2.0]]},{"pageNumber":0,"geomIndex":-1,"decorative":true,"imageIndex":11,"identifiers":{},"issueTypeId":"MissingAlternativeTextIssue:PPTX","dismiss":false,"pageNumbers":[18],"coordinatesList":[[22.5,442.625,661.0,392.1199951171875]]},{"isReadingOrderVerified":"true","pageNumber":0,"geomIndex":-1,"issueTypeId":"ReadingOrderIssue:PPTX","dismiss":false,"pageNumbers":[19],"coordinatesList":[[10.0,10.0,2.0,2.0]]},{"isReadingOrderVerified":"true","pageNumber":0,"geomIndex":-1,"issueTypeId":"ReadingOrderIssue:PPTX","dismiss":false,"pageNumbers":[20],"coordinatesList":[[10.0,10.0,2.0,2.0]]},{"isReadingOrderVerified":"true","pageNumber":0,"geomIndex":-1,"issueTypeId":"ReadingOrderIssue:PPTX","dismiss":false,"pageNumbers":[21],"coordinatesList":[[10.0,10.0,2.0,2.0]]},{"isReadingOrderVerified":"true","pageNumber":0,"geomIndex":-1,"issueTypeId":"ReadingOrderIssue:PPTX","dismiss":false,"pageNumbers":[22],"coordinatesList":[[10.0,10.0,2.0,2.0]]},{"isReadingOrderVerified":"true","pageNumber":0,"geomIndex":-1,"issueTypeId":"ReadingOrderIssue:PPTX","dismiss":false,"pageNumbers":[23],"coordinatesList":[[10.0,10.0,2.0,2.0]]},{"pageNumber":0,"geomIndex":-1,"decorative":true,"imageIndex":6,"identifiers":{},"issueTypeId":"MissingAlternativeTextIssue:PPTX","dismiss":false,"pageNumbers":[23],"coordinatesList":[[36.0,386.75,636.0,277.1199951171875]]},{"isReadingOrderVerified":"true","pageNumber":0,"geomIndex":-1,"issueTypeId":"ReadingOrderIssue:PPTX","dismiss":false,"pageNumbers":[24],"coordinatesList":[[10.0,10.0,2.0,2.0]]},{"pageNumber":0,"geomIndex":-1,"decorative":true,"imageIndex":6,"identifiers":{},"issueTypeId":"MissingAlternativeTextIssue:PPTX","dismiss":false,"pageNumbers":[24],"coordinatesList":[[54.0,408.75,612.0,277.5]]},{"isReadingOrderVerified":"true","pageNumber":0,"geomIndex":-1,"issueTypeId":"ReadingOrderIssue:PPTX","dismiss":false,"pageNumbers":[25],"coordinatesList":[[10.0,10.0,2.0,2.0]]},{"pageNumber":0,"geomIndex":-1,"decorative":true,"imageIndex":6,"identifiers":{},"issueTypeId":"MissingAlternativeTextIssue:PPTX","dismiss":false,"pageNumbers":[25],"coordinatesList":[[52.125,405.75,615.75,271.5]]},{"isReadingOrderVerified":"true","pageNumber":0,"geomIndex":-1,"issueTypeId":"ReadingOrderIssue:PPTX","dismiss":false,"pageNumbers":[26],"coordinatesList":[[10.0,10.0,2.0,2.0]]},{"pageNumber":0,"geomIndex":-1,"decorative":true,"imageIndex":6,"identifiers":{},"issueTypeId":"MissingAlternativeTextIssue:PPTX","dismiss":false,"pageNumbers":[26],"coordinatesList":[[49.875,405.3699951171875,620.25,270.75]]},{"isReadingOrderVerified":"true","pageNumber":0,"geomIndex":-1,"issueTypeId":"ReadingOrderIssue:PPTX","dismiss":false,"pageNumbers":[27],"coordinatesList":[[10.0,10.0,2.0,2.0]]},{"pageNumber":0,"geomIndex":-1,"decorative":true,"imageIndex":6,"identifiers":{},"issueTypeId":"MissingAlternativeTextIssue:PPTX","dismiss":false,"pageNumbers":[27],"coordinatesList":[[42.75,412.8699951171875,634.5,285.75]]},{"isReadingOrderVerified":"true","pageNumber":0,"geomIndex":-1,"issueTypeId":"ReadingOrderIssue:PPTX","dismiss":false,"pageNumbers":[28],"coordinatesList":[[10.0,10.0,2.0,2.0]]},{"pageNumber":0,"geomIndex":-1,"decorative":true,"imageIndex":6,"identifiers":{},"issueTypeId":"MissingAlternativeTextIssue:PPTX","dismiss":false,"pageNumbers":[28],"coordinatesList":[[46.125,411.75,627.75,283.5]]},{"isReadingOrderVerified":"true","pageNumber":0,"geomIndex":-1,"issueTypeId":"ReadingOrderIssue:PPTX","dismiss":false,"pageNumbers":[29],"coordinatesList":[[10.0,10.0,2.0,2.0]]},{"pageNumber":0,"geomIndex":-1,"decorative":true,"imageIndex":6,"identifiers":{},"issueTypeId":"MissingAlternativeTextIssue:PPTX","dismiss":false,"pageNumbers":[29],"coordinatesList":[[58.5,399.3699951171875,603.0,258.75]]},{"isReadingOrderVerified":"true","pageNumber":0,"geomIndex":-1,"issueTypeId":"ReadingOrderIssue:PPTX","dismiss":false,"pageNumbers":[30],"coordinatesList":[[10.0,10.0,2.0,2.0]]},{"pageNumber":0,"geomIndex":-1,"decorative":true,"imageIndex":6,"identifiers":{},"issueTypeId":"MissingAlternativeTextIssue:PPTX","dismiss":false,"pageNumbers":[30],"coordinatesList":[[60.0,401.25,600.0,262.5]]},{"isReadingOrderVerified":"true","pageNumber":0,"geomIndex":-1,"issueTypeId":"ReadingOrderIssue:PPTX","dismiss":false,"pageNumbers":[31],"coordinatesList":[[10.0,10.0,2.0,2.0]]},{"pageNumber":0,"geomIndex":-1,"decorative":true,"imageIndex":16,"identifiers":{},"issueTypeId":"MissingAlternativeTextIssue:PPTX","dismiss":false,"pageNumbers":[31],"coordinatesList":[[11.0,374.0,697.0,208.0]]},{"isReadingOrderVerified":"true","pageNumber":0,"geomIndex":-1,"issueTypeId":"ReadingOrderIssue:PPTX","dismiss":false,"pageNumbers":[32],"coordinatesList":[[10.0,10.0,2.0,2.0]]},{"isReadingOrderVerified":"true","pageNumber":0,"geomIndex":-1,"issueTypeId":"ReadingOrderIssue:PPTX","dismiss":false,"pageNumbers":[33],"coordinatesList":[[10.0,10.0,2.0,2.0]]},{"isReadingOrderVerified":"true","pageNumber":0,"geomIndex":-1,"issueTypeId":"ReadingOrderIssue:PPTX","dismiss":false,"pageNumbers":[34],"coordinatesList":[[10.0,10.0,2.0,2.0]]},{"pageNumber":0,"geomIndex":3920,"lastGeomIndex":3983,"textElement":"www.cs.armstrong.edu/liang/animation/ShortestPathAnimation.html","tableIndex":-1,"rowIndex":-1,"cellIndex":-1,"fontColor":"#009c47","identifiers":{"PARAGRAPH_ID":"152","RUN_ID":"0","SLIDE_ID":"33"},"issueDetails":{"luminance25":"1.0","isHeader":"true","luminance75":"1.0","textColor":"00b050"},"issueTypeId":"LowContrastIssue:PPTX","dismiss":false,"pageNumbers":[34],"coordinatesList":[[53.90399932861328,131.66000366210938,617.7632369995117,52.96217441558838]]},{"pageNumber":0,"geomIndex":-1,"decorative":true,"imageIndex":7,"identifiers":{},"issueTypeId":"MissingAlternativeTextIssue:PPTX","dismiss":false,"pageNumbers":[34],"coordinatesList":[[186.0,502.5,408.0,340.5]]},{"isReadingOrderVerified":"true","pageNumber":0,"geomIndex":-1,"issueTypeId":"ReadingOrderIssue:PPTX","dismiss":false,"pageNumbers":[35],"coordinatesList":[[10.0,10.0,2.0,2.0]]},{"isReadingOrderVerified":"true","pageNumber":0,"geomIndex":-1,"issueTypeId":"ReadingOrderIssue:PPTX","dismiss":false,"pageNumbers":[36],"coordinatesList":[[10.0,10.0,2.0,2.0]]},{"pageNumber":0,"geomIndex":4359,"lastGeomIndex":4372,"textElement":"NineTailModel","tableIndex":-1,"rowIndex":-1,"cellIndex":-1,"fontColor":"#009c47","identifiers":{"PARAGRAPH_ID":"162","RUN_ID":"0","SLIDE_ID":"35"},"issueDetails":{"luminance25":"0.316298551618885","isHeader":"true","luminance75":"0.316298551618885","textColor":"cbcbcb"},"issueTypeId":"LowContrastIssue:PPTX","dismiss":false,"pageNumbers":[36],"coordinatesList":[[528.1199951171875,329.1099853515625,161.90386962890625,12.107999801635742]]},{"pageNumber":0,"geomIndex":-1,"decorative":true,"imageIndex":15,"identifiers":{},"issueTypeId":"MissingAlternativeTextIssue:PPTX","dismiss":false,"pageNumbers":[36],"coordinatesList":[[12.0,465.875,530.0,398.0]]}]</vt:lpwstr>
  </property>
  <property fmtid="{D5CDD505-2E9C-101B-9397-08002B2CF9AE}" pid="3" name="ReadingOrderVerifiedPages">
    <vt:lpwstr>1,2,3,4,5,6,7,8,9,10,11,12,13,14,15,16,17,18,19,20,21,22,23,24,25,26,27,28,29,30,31,32,33,34,35,36</vt:lpwstr>
  </property>
</Properties>
</file>