
<file path=[Content_Types].xml><?xml version="1.0" encoding="utf-8"?>
<Types xmlns="http://schemas.openxmlformats.org/package/2006/content-types">
  <Default ContentType="application/vnd.openxmlformats-officedocument.oleObject" Extension="bin"/>
  <Default ContentType="image/jpeg" Extension="jpeg"/>
  <Default ContentType="image/png" Extension="png"/>
  <Default ContentType="application/vnd.openxmlformats-package.relationships+xml" Extension="rels"/>
  <Default ContentType="image/x-wmf" Extension="wmf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83" r:id="rId3"/>
    <p:sldId id="358" r:id="rId4"/>
    <p:sldId id="386" r:id="rId5"/>
    <p:sldId id="392" r:id="rId6"/>
    <p:sldId id="368" r:id="rId7"/>
    <p:sldId id="387" r:id="rId8"/>
    <p:sldId id="388" r:id="rId9"/>
    <p:sldId id="389" r:id="rId10"/>
    <p:sldId id="390" r:id="rId11"/>
    <p:sldId id="391" r:id="rId12"/>
    <p:sldId id="394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82" autoAdjust="0"/>
    <p:restoredTop sz="94630" autoAdjust="0"/>
  </p:normalViewPr>
  <p:slideViewPr>
    <p:cSldViewPr>
      <p:cViewPr varScale="1">
        <p:scale>
          <a:sx n="85" d="100"/>
          <a:sy n="85" d="100"/>
        </p:scale>
        <p:origin x="-538" y="-67"/>
      </p:cViewPr>
      <p:guideLst>
        <p:guide orient="horz" pos="576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3101" y="58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9.xml" Type="http://schemas.openxmlformats.org/officeDocument/2006/relationships/slide"/><Relationship Id="rId11" Target="slides/slide10.xml" Type="http://schemas.openxmlformats.org/officeDocument/2006/relationships/slide"/><Relationship Id="rId12" Target="slides/slide11.xml" Type="http://schemas.openxmlformats.org/officeDocument/2006/relationships/slide"/><Relationship Id="rId13" Target="slides/slide12.xml" Type="http://schemas.openxmlformats.org/officeDocument/2006/relationships/slide"/><Relationship Id="rId14" Target="notesMasters/notesMaster1.xml" Type="http://schemas.openxmlformats.org/officeDocument/2006/relationships/notesMaster"/><Relationship Id="rId15" Target="handoutMasters/handoutMaster1.xml" Type="http://schemas.openxmlformats.org/officeDocument/2006/relationships/handoutMaster"/><Relationship Id="rId16" Target="presProps.xml" Type="http://schemas.openxmlformats.org/officeDocument/2006/relationships/presProps"/><Relationship Id="rId17" Target="viewProps.xml" Type="http://schemas.openxmlformats.org/officeDocument/2006/relationships/viewProps"/><Relationship Id="rId18" Target="theme/theme1.xml" Type="http://schemas.openxmlformats.org/officeDocument/2006/relationships/theme"/><Relationship Id="rId19" Target="tableStyles.xml" Type="http://schemas.openxmlformats.org/officeDocument/2006/relationships/tableStyles"/><Relationship Id="rId2" Target="slides/slide1.xml" Type="http://schemas.openxmlformats.org/officeDocument/2006/relationships/slide"/><Relationship Id="rId3" Target="slides/slide2.xml" Type="http://schemas.openxmlformats.org/officeDocument/2006/relationships/slide"/><Relationship Id="rId4" Target="slides/slide3.xml" Type="http://schemas.openxmlformats.org/officeDocument/2006/relationships/slide"/><Relationship Id="rId5" Target="slides/slide4.xml" Type="http://schemas.openxmlformats.org/officeDocument/2006/relationships/slide"/><Relationship Id="rId6" Target="slides/slide5.xml" Type="http://schemas.openxmlformats.org/officeDocument/2006/relationships/slide"/><Relationship Id="rId7" Target="slides/slide6.xml" Type="http://schemas.openxmlformats.org/officeDocument/2006/relationships/slide"/><Relationship Id="rId8" Target="slides/slide7.xml" Type="http://schemas.openxmlformats.org/officeDocument/2006/relationships/slide"/><Relationship Id="rId9" Target="slides/slide8.xml" Type="http://schemas.openxmlformats.org/officeDocument/2006/relationships/slide"/></Relationships>
</file>

<file path=ppt/handoutMasters/_rels/handout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0B34BD7-CD3A-1D4F-40B5-2CCF439A1E4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1F69974-92B7-CEA7-A85E-64B8EB64853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3CC9BE1D-F8C4-7473-ED08-71F5076A93A2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50938" y="692150"/>
            <a:ext cx="4556125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E16957CD-C0C8-C89B-6414-91FB7169763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4FC477A8-A32C-8509-D47A-9DDF2761695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96988882-5D86-F945-872D-77D01BC1D4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fld id="{22DD6367-AFAA-48D0-9949-6B09CEF63B5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1">
            <a:extLst>
              <a:ext uri="{FF2B5EF4-FFF2-40B4-BE49-F238E27FC236}">
                <a16:creationId xmlns:a16="http://schemas.microsoft.com/office/drawing/2014/main" id="{7D3B9D39-4CC7-62E8-4BFD-F7D781F2BA4E}"/>
              </a:ext>
            </a:extLst>
          </p:cNvPr>
          <p:cNvGrpSpPr>
            <a:grpSpLocks/>
          </p:cNvGrpSpPr>
          <p:nvPr/>
        </p:nvGrpSpPr>
        <p:grpSpPr bwMode="auto">
          <a:xfrm>
            <a:off x="0" y="114300"/>
            <a:ext cx="9142413" cy="6742113"/>
            <a:chOff x="0" y="72"/>
            <a:chExt cx="5759" cy="424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C5CFC8E-0F15-6997-C033-521AFF272683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112"/>
              <a:ext cx="5759" cy="22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grpSp>
          <p:nvGrpSpPr>
            <p:cNvPr id="4" name="Group 30">
              <a:extLst>
                <a:ext uri="{FF2B5EF4-FFF2-40B4-BE49-F238E27FC236}">
                  <a16:creationId xmlns:a16="http://schemas.microsoft.com/office/drawing/2014/main" id="{84015215-6A19-3B8C-D1F2-EED076A316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72"/>
              <a:ext cx="5759" cy="2040"/>
              <a:chOff x="0" y="72"/>
              <a:chExt cx="5759" cy="2040"/>
            </a:xfrm>
          </p:grpSpPr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A120FF1F-8FB0-69D5-5EAB-DFE17EA4E05F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0" y="1872"/>
                <a:ext cx="5759" cy="240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hlink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6" name="Group 9">
                <a:extLst>
                  <a:ext uri="{FF2B5EF4-FFF2-40B4-BE49-F238E27FC236}">
                    <a16:creationId xmlns:a16="http://schemas.microsoft.com/office/drawing/2014/main" id="{27DA1CA9-8538-767D-43BB-A973CBDD4D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9" y="72"/>
                <a:ext cx="1440" cy="1984"/>
                <a:chOff x="2289" y="72"/>
                <a:chExt cx="1440" cy="1984"/>
              </a:xfrm>
            </p:grpSpPr>
            <p:sp>
              <p:nvSpPr>
                <p:cNvPr id="27" name="Freeform 4">
                  <a:extLst>
                    <a:ext uri="{FF2B5EF4-FFF2-40B4-BE49-F238E27FC236}">
                      <a16:creationId xmlns:a16="http://schemas.microsoft.com/office/drawing/2014/main" id="{8A5642C8-0625-F9A5-F824-0C7D704C3D15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289" y="127"/>
                  <a:ext cx="1440" cy="1770"/>
                </a:xfrm>
                <a:custGeom>
                  <a:avLst/>
                  <a:gdLst>
                    <a:gd name="T0" fmla="*/ 901 w 1440"/>
                    <a:gd name="T1" fmla="*/ 33 h 1770"/>
                    <a:gd name="T2" fmla="*/ 1066 w 1440"/>
                    <a:gd name="T3" fmla="*/ 129 h 1770"/>
                    <a:gd name="T4" fmla="*/ 1207 w 1440"/>
                    <a:gd name="T5" fmla="*/ 256 h 1770"/>
                    <a:gd name="T6" fmla="*/ 1316 w 1440"/>
                    <a:gd name="T7" fmla="*/ 410 h 1770"/>
                    <a:gd name="T8" fmla="*/ 1394 w 1440"/>
                    <a:gd name="T9" fmla="*/ 581 h 1770"/>
                    <a:gd name="T10" fmla="*/ 1435 w 1440"/>
                    <a:gd name="T11" fmla="*/ 766 h 1770"/>
                    <a:gd name="T12" fmla="*/ 1435 w 1440"/>
                    <a:gd name="T13" fmla="*/ 958 h 1770"/>
                    <a:gd name="T14" fmla="*/ 1394 w 1440"/>
                    <a:gd name="T15" fmla="*/ 1143 h 1770"/>
                    <a:gd name="T16" fmla="*/ 1316 w 1440"/>
                    <a:gd name="T17" fmla="*/ 1314 h 1770"/>
                    <a:gd name="T18" fmla="*/ 1207 w 1440"/>
                    <a:gd name="T19" fmla="*/ 1468 h 1770"/>
                    <a:gd name="T20" fmla="*/ 1066 w 1440"/>
                    <a:gd name="T21" fmla="*/ 1597 h 1770"/>
                    <a:gd name="T22" fmla="*/ 901 w 1440"/>
                    <a:gd name="T23" fmla="*/ 1691 h 1770"/>
                    <a:gd name="T24" fmla="*/ 721 w 1440"/>
                    <a:gd name="T25" fmla="*/ 1749 h 1770"/>
                    <a:gd name="T26" fmla="*/ 533 w 1440"/>
                    <a:gd name="T27" fmla="*/ 1769 h 1770"/>
                    <a:gd name="T28" fmla="*/ 344 w 1440"/>
                    <a:gd name="T29" fmla="*/ 1749 h 1770"/>
                    <a:gd name="T30" fmla="*/ 165 w 1440"/>
                    <a:gd name="T31" fmla="*/ 1691 h 1770"/>
                    <a:gd name="T32" fmla="*/ 0 w 1440"/>
                    <a:gd name="T33" fmla="*/ 1597 h 1770"/>
                    <a:gd name="T34" fmla="*/ 125 w 1440"/>
                    <a:gd name="T35" fmla="*/ 1571 h 1770"/>
                    <a:gd name="T36" fmla="*/ 281 w 1440"/>
                    <a:gd name="T37" fmla="*/ 1640 h 1770"/>
                    <a:gd name="T38" fmla="*/ 446 w 1440"/>
                    <a:gd name="T39" fmla="*/ 1675 h 1770"/>
                    <a:gd name="T40" fmla="*/ 618 w 1440"/>
                    <a:gd name="T41" fmla="*/ 1675 h 1770"/>
                    <a:gd name="T42" fmla="*/ 785 w 1440"/>
                    <a:gd name="T43" fmla="*/ 1640 h 1770"/>
                    <a:gd name="T44" fmla="*/ 941 w 1440"/>
                    <a:gd name="T45" fmla="*/ 1571 h 1770"/>
                    <a:gd name="T46" fmla="*/ 1080 w 1440"/>
                    <a:gd name="T47" fmla="*/ 1470 h 1770"/>
                    <a:gd name="T48" fmla="*/ 1194 w 1440"/>
                    <a:gd name="T49" fmla="*/ 1343 h 1770"/>
                    <a:gd name="T50" fmla="*/ 1281 w 1440"/>
                    <a:gd name="T51" fmla="*/ 1194 h 1770"/>
                    <a:gd name="T52" fmla="*/ 1332 w 1440"/>
                    <a:gd name="T53" fmla="*/ 1032 h 1770"/>
                    <a:gd name="T54" fmla="*/ 1350 w 1440"/>
                    <a:gd name="T55" fmla="*/ 862 h 1770"/>
                    <a:gd name="T56" fmla="*/ 1332 w 1440"/>
                    <a:gd name="T57" fmla="*/ 691 h 1770"/>
                    <a:gd name="T58" fmla="*/ 1281 w 1440"/>
                    <a:gd name="T59" fmla="*/ 530 h 1770"/>
                    <a:gd name="T60" fmla="*/ 1194 w 1440"/>
                    <a:gd name="T61" fmla="*/ 381 h 1770"/>
                    <a:gd name="T62" fmla="*/ 1080 w 1440"/>
                    <a:gd name="T63" fmla="*/ 254 h 1770"/>
                    <a:gd name="T64" fmla="*/ 941 w 1440"/>
                    <a:gd name="T65" fmla="*/ 154 h 1770"/>
                    <a:gd name="T66" fmla="*/ 785 w 1440"/>
                    <a:gd name="T67" fmla="*/ 85 h 1770"/>
                    <a:gd name="T68" fmla="*/ 812 w 1440"/>
                    <a:gd name="T69" fmla="*/ 0 h 1770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1440" h="1770">
                      <a:moveTo>
                        <a:pt x="812" y="0"/>
                      </a:moveTo>
                      <a:lnTo>
                        <a:pt x="901" y="33"/>
                      </a:lnTo>
                      <a:lnTo>
                        <a:pt x="986" y="78"/>
                      </a:lnTo>
                      <a:lnTo>
                        <a:pt x="1066" y="129"/>
                      </a:lnTo>
                      <a:lnTo>
                        <a:pt x="1140" y="187"/>
                      </a:lnTo>
                      <a:lnTo>
                        <a:pt x="1207" y="256"/>
                      </a:lnTo>
                      <a:lnTo>
                        <a:pt x="1265" y="330"/>
                      </a:lnTo>
                      <a:lnTo>
                        <a:pt x="1316" y="410"/>
                      </a:lnTo>
                      <a:lnTo>
                        <a:pt x="1361" y="492"/>
                      </a:lnTo>
                      <a:lnTo>
                        <a:pt x="1394" y="581"/>
                      </a:lnTo>
                      <a:lnTo>
                        <a:pt x="1419" y="673"/>
                      </a:lnTo>
                      <a:lnTo>
                        <a:pt x="1435" y="766"/>
                      </a:lnTo>
                      <a:lnTo>
                        <a:pt x="1439" y="862"/>
                      </a:lnTo>
                      <a:lnTo>
                        <a:pt x="1435" y="958"/>
                      </a:lnTo>
                      <a:lnTo>
                        <a:pt x="1419" y="1052"/>
                      </a:lnTo>
                      <a:lnTo>
                        <a:pt x="1394" y="1143"/>
                      </a:lnTo>
                      <a:lnTo>
                        <a:pt x="1361" y="1230"/>
                      </a:lnTo>
                      <a:lnTo>
                        <a:pt x="1316" y="1314"/>
                      </a:lnTo>
                      <a:lnTo>
                        <a:pt x="1265" y="1395"/>
                      </a:lnTo>
                      <a:lnTo>
                        <a:pt x="1207" y="1468"/>
                      </a:lnTo>
                      <a:lnTo>
                        <a:pt x="1140" y="1537"/>
                      </a:lnTo>
                      <a:lnTo>
                        <a:pt x="1066" y="1597"/>
                      </a:lnTo>
                      <a:lnTo>
                        <a:pt x="986" y="1646"/>
                      </a:lnTo>
                      <a:lnTo>
                        <a:pt x="901" y="1691"/>
                      </a:lnTo>
                      <a:lnTo>
                        <a:pt x="812" y="1724"/>
                      </a:lnTo>
                      <a:lnTo>
                        <a:pt x="721" y="1749"/>
                      </a:lnTo>
                      <a:lnTo>
                        <a:pt x="627" y="1765"/>
                      </a:lnTo>
                      <a:lnTo>
                        <a:pt x="533" y="1769"/>
                      </a:lnTo>
                      <a:lnTo>
                        <a:pt x="437" y="1765"/>
                      </a:lnTo>
                      <a:lnTo>
                        <a:pt x="344" y="1749"/>
                      </a:lnTo>
                      <a:lnTo>
                        <a:pt x="252" y="1724"/>
                      </a:lnTo>
                      <a:lnTo>
                        <a:pt x="165" y="1691"/>
                      </a:lnTo>
                      <a:lnTo>
                        <a:pt x="80" y="1646"/>
                      </a:lnTo>
                      <a:lnTo>
                        <a:pt x="0" y="1597"/>
                      </a:lnTo>
                      <a:lnTo>
                        <a:pt x="51" y="1524"/>
                      </a:lnTo>
                      <a:lnTo>
                        <a:pt x="125" y="1571"/>
                      </a:lnTo>
                      <a:lnTo>
                        <a:pt x="201" y="1609"/>
                      </a:lnTo>
                      <a:lnTo>
                        <a:pt x="281" y="1640"/>
                      </a:lnTo>
                      <a:lnTo>
                        <a:pt x="364" y="1662"/>
                      </a:lnTo>
                      <a:lnTo>
                        <a:pt x="446" y="1675"/>
                      </a:lnTo>
                      <a:lnTo>
                        <a:pt x="533" y="1680"/>
                      </a:lnTo>
                      <a:lnTo>
                        <a:pt x="618" y="1675"/>
                      </a:lnTo>
                      <a:lnTo>
                        <a:pt x="703" y="1662"/>
                      </a:lnTo>
                      <a:lnTo>
                        <a:pt x="785" y="1640"/>
                      </a:lnTo>
                      <a:lnTo>
                        <a:pt x="866" y="1609"/>
                      </a:lnTo>
                      <a:lnTo>
                        <a:pt x="941" y="1571"/>
                      </a:lnTo>
                      <a:lnTo>
                        <a:pt x="1013" y="1524"/>
                      </a:lnTo>
                      <a:lnTo>
                        <a:pt x="1080" y="1470"/>
                      </a:lnTo>
                      <a:lnTo>
                        <a:pt x="1140" y="1410"/>
                      </a:lnTo>
                      <a:lnTo>
                        <a:pt x="1194" y="1343"/>
                      </a:lnTo>
                      <a:lnTo>
                        <a:pt x="1240" y="1270"/>
                      </a:lnTo>
                      <a:lnTo>
                        <a:pt x="1281" y="1194"/>
                      </a:lnTo>
                      <a:lnTo>
                        <a:pt x="1312" y="1116"/>
                      </a:lnTo>
                      <a:lnTo>
                        <a:pt x="1332" y="1032"/>
                      </a:lnTo>
                      <a:lnTo>
                        <a:pt x="1345" y="947"/>
                      </a:lnTo>
                      <a:lnTo>
                        <a:pt x="1350" y="862"/>
                      </a:lnTo>
                      <a:lnTo>
                        <a:pt x="1345" y="775"/>
                      </a:lnTo>
                      <a:lnTo>
                        <a:pt x="1332" y="691"/>
                      </a:lnTo>
                      <a:lnTo>
                        <a:pt x="1312" y="608"/>
                      </a:lnTo>
                      <a:lnTo>
                        <a:pt x="1281" y="530"/>
                      </a:lnTo>
                      <a:lnTo>
                        <a:pt x="1240" y="452"/>
                      </a:lnTo>
                      <a:lnTo>
                        <a:pt x="1194" y="381"/>
                      </a:lnTo>
                      <a:lnTo>
                        <a:pt x="1140" y="314"/>
                      </a:lnTo>
                      <a:lnTo>
                        <a:pt x="1080" y="254"/>
                      </a:lnTo>
                      <a:lnTo>
                        <a:pt x="1013" y="201"/>
                      </a:lnTo>
                      <a:lnTo>
                        <a:pt x="941" y="154"/>
                      </a:lnTo>
                      <a:lnTo>
                        <a:pt x="866" y="114"/>
                      </a:lnTo>
                      <a:lnTo>
                        <a:pt x="785" y="85"/>
                      </a:lnTo>
                      <a:lnTo>
                        <a:pt x="788" y="78"/>
                      </a:lnTo>
                      <a:lnTo>
                        <a:pt x="812" y="0"/>
                      </a:lnTo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Line 5">
                  <a:extLst>
                    <a:ext uri="{FF2B5EF4-FFF2-40B4-BE49-F238E27FC236}">
                      <a16:creationId xmlns:a16="http://schemas.microsoft.com/office/drawing/2014/main" id="{F386EDD9-6340-4827-4192-0CAC489C51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ltGray">
                <a:xfrm flipV="1">
                  <a:off x="2324" y="1620"/>
                  <a:ext cx="143" cy="258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">
                  <a:extLst>
                    <a:ext uri="{FF2B5EF4-FFF2-40B4-BE49-F238E27FC236}">
                      <a16:creationId xmlns:a16="http://schemas.microsoft.com/office/drawing/2014/main" id="{67D8D8F8-3507-0531-1B02-AC381AB593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ltGray">
                <a:xfrm flipV="1">
                  <a:off x="3119" y="243"/>
                  <a:ext cx="50" cy="99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7">
                  <a:extLst>
                    <a:ext uri="{FF2B5EF4-FFF2-40B4-BE49-F238E27FC236}">
                      <a16:creationId xmlns:a16="http://schemas.microsoft.com/office/drawing/2014/main" id="{F4A93AAA-D703-EFCB-B31C-7AFD5DD6A7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ltGray">
                <a:xfrm flipV="1">
                  <a:off x="3203" y="72"/>
                  <a:ext cx="50" cy="99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Freeform 8">
                  <a:extLst>
                    <a:ext uri="{FF2B5EF4-FFF2-40B4-BE49-F238E27FC236}">
                      <a16:creationId xmlns:a16="http://schemas.microsoft.com/office/drawing/2014/main" id="{E1C4E3EE-A738-123B-E1DE-DC2FCD5F736E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483" y="1903"/>
                  <a:ext cx="841" cy="153"/>
                </a:xfrm>
                <a:custGeom>
                  <a:avLst/>
                  <a:gdLst>
                    <a:gd name="T0" fmla="*/ 3 w 841"/>
                    <a:gd name="T1" fmla="*/ 98 h 153"/>
                    <a:gd name="T2" fmla="*/ 20 w 841"/>
                    <a:gd name="T3" fmla="*/ 80 h 153"/>
                    <a:gd name="T4" fmla="*/ 44 w 841"/>
                    <a:gd name="T5" fmla="*/ 65 h 153"/>
                    <a:gd name="T6" fmla="*/ 89 w 841"/>
                    <a:gd name="T7" fmla="*/ 43 h 153"/>
                    <a:gd name="T8" fmla="*/ 140 w 841"/>
                    <a:gd name="T9" fmla="*/ 30 h 153"/>
                    <a:gd name="T10" fmla="*/ 188 w 841"/>
                    <a:gd name="T11" fmla="*/ 19 h 153"/>
                    <a:gd name="T12" fmla="*/ 253 w 841"/>
                    <a:gd name="T13" fmla="*/ 9 h 153"/>
                    <a:gd name="T14" fmla="*/ 314 w 841"/>
                    <a:gd name="T15" fmla="*/ 3 h 153"/>
                    <a:gd name="T16" fmla="*/ 386 w 841"/>
                    <a:gd name="T17" fmla="*/ 0 h 153"/>
                    <a:gd name="T18" fmla="*/ 475 w 841"/>
                    <a:gd name="T19" fmla="*/ 1 h 153"/>
                    <a:gd name="T20" fmla="*/ 567 w 841"/>
                    <a:gd name="T21" fmla="*/ 6 h 153"/>
                    <a:gd name="T22" fmla="*/ 632 w 841"/>
                    <a:gd name="T23" fmla="*/ 14 h 153"/>
                    <a:gd name="T24" fmla="*/ 700 w 841"/>
                    <a:gd name="T25" fmla="*/ 27 h 153"/>
                    <a:gd name="T26" fmla="*/ 765 w 841"/>
                    <a:gd name="T27" fmla="*/ 47 h 153"/>
                    <a:gd name="T28" fmla="*/ 799 w 841"/>
                    <a:gd name="T29" fmla="*/ 66 h 153"/>
                    <a:gd name="T30" fmla="*/ 820 w 841"/>
                    <a:gd name="T31" fmla="*/ 82 h 153"/>
                    <a:gd name="T32" fmla="*/ 840 w 841"/>
                    <a:gd name="T33" fmla="*/ 108 h 153"/>
                    <a:gd name="T34" fmla="*/ 806 w 841"/>
                    <a:gd name="T35" fmla="*/ 122 h 153"/>
                    <a:gd name="T36" fmla="*/ 748 w 841"/>
                    <a:gd name="T37" fmla="*/ 133 h 153"/>
                    <a:gd name="T38" fmla="*/ 676 w 841"/>
                    <a:gd name="T39" fmla="*/ 141 h 153"/>
                    <a:gd name="T40" fmla="*/ 608 w 841"/>
                    <a:gd name="T41" fmla="*/ 148 h 153"/>
                    <a:gd name="T42" fmla="*/ 526 w 841"/>
                    <a:gd name="T43" fmla="*/ 151 h 153"/>
                    <a:gd name="T44" fmla="*/ 437 w 841"/>
                    <a:gd name="T45" fmla="*/ 152 h 153"/>
                    <a:gd name="T46" fmla="*/ 352 w 841"/>
                    <a:gd name="T47" fmla="*/ 152 h 153"/>
                    <a:gd name="T48" fmla="*/ 263 w 841"/>
                    <a:gd name="T49" fmla="*/ 151 h 153"/>
                    <a:gd name="T50" fmla="*/ 164 w 841"/>
                    <a:gd name="T51" fmla="*/ 143 h 153"/>
                    <a:gd name="T52" fmla="*/ 85 w 841"/>
                    <a:gd name="T53" fmla="*/ 135 h 153"/>
                    <a:gd name="T54" fmla="*/ 20 w 841"/>
                    <a:gd name="T55" fmla="*/ 120 h 153"/>
                    <a:gd name="T56" fmla="*/ 0 w 841"/>
                    <a:gd name="T57" fmla="*/ 109 h 153"/>
                    <a:gd name="T58" fmla="*/ 3 w 841"/>
                    <a:gd name="T59" fmla="*/ 98 h 153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0" t="0" r="r" b="b"/>
                  <a:pathLst>
                    <a:path w="841" h="153">
                      <a:moveTo>
                        <a:pt x="3" y="98"/>
                      </a:moveTo>
                      <a:lnTo>
                        <a:pt x="20" y="80"/>
                      </a:lnTo>
                      <a:lnTo>
                        <a:pt x="44" y="65"/>
                      </a:lnTo>
                      <a:lnTo>
                        <a:pt x="89" y="43"/>
                      </a:lnTo>
                      <a:lnTo>
                        <a:pt x="140" y="30"/>
                      </a:lnTo>
                      <a:lnTo>
                        <a:pt x="188" y="19"/>
                      </a:lnTo>
                      <a:lnTo>
                        <a:pt x="253" y="9"/>
                      </a:lnTo>
                      <a:lnTo>
                        <a:pt x="314" y="3"/>
                      </a:lnTo>
                      <a:lnTo>
                        <a:pt x="386" y="0"/>
                      </a:lnTo>
                      <a:lnTo>
                        <a:pt x="475" y="1"/>
                      </a:lnTo>
                      <a:lnTo>
                        <a:pt x="567" y="6"/>
                      </a:lnTo>
                      <a:lnTo>
                        <a:pt x="632" y="14"/>
                      </a:lnTo>
                      <a:lnTo>
                        <a:pt x="700" y="27"/>
                      </a:lnTo>
                      <a:lnTo>
                        <a:pt x="765" y="47"/>
                      </a:lnTo>
                      <a:lnTo>
                        <a:pt x="799" y="66"/>
                      </a:lnTo>
                      <a:lnTo>
                        <a:pt x="820" y="82"/>
                      </a:lnTo>
                      <a:lnTo>
                        <a:pt x="840" y="108"/>
                      </a:lnTo>
                      <a:lnTo>
                        <a:pt x="806" y="122"/>
                      </a:lnTo>
                      <a:lnTo>
                        <a:pt x="748" y="133"/>
                      </a:lnTo>
                      <a:lnTo>
                        <a:pt x="676" y="141"/>
                      </a:lnTo>
                      <a:lnTo>
                        <a:pt x="608" y="148"/>
                      </a:lnTo>
                      <a:lnTo>
                        <a:pt x="526" y="151"/>
                      </a:lnTo>
                      <a:lnTo>
                        <a:pt x="437" y="152"/>
                      </a:lnTo>
                      <a:lnTo>
                        <a:pt x="352" y="152"/>
                      </a:lnTo>
                      <a:lnTo>
                        <a:pt x="263" y="151"/>
                      </a:lnTo>
                      <a:lnTo>
                        <a:pt x="164" y="143"/>
                      </a:lnTo>
                      <a:lnTo>
                        <a:pt x="85" y="135"/>
                      </a:lnTo>
                      <a:lnTo>
                        <a:pt x="20" y="120"/>
                      </a:lnTo>
                      <a:lnTo>
                        <a:pt x="0" y="109"/>
                      </a:lnTo>
                      <a:lnTo>
                        <a:pt x="3" y="98"/>
                      </a:lnTo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chemeClr val="bg2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" name="Oval 10">
                <a:extLst>
                  <a:ext uri="{FF2B5EF4-FFF2-40B4-BE49-F238E27FC236}">
                    <a16:creationId xmlns:a16="http://schemas.microsoft.com/office/drawing/2014/main" id="{41D4A5DB-21E5-9BE9-8763-7C18BB11055A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2071" y="250"/>
                <a:ext cx="1497" cy="1494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8" name="Group 29">
                <a:extLst>
                  <a:ext uri="{FF2B5EF4-FFF2-40B4-BE49-F238E27FC236}">
                    <a16:creationId xmlns:a16="http://schemas.microsoft.com/office/drawing/2014/main" id="{C014C62D-7511-2039-3221-742FECC6D2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71" y="406"/>
                <a:ext cx="1392" cy="1109"/>
                <a:chOff x="2071" y="406"/>
                <a:chExt cx="1392" cy="1109"/>
              </a:xfrm>
            </p:grpSpPr>
            <p:sp>
              <p:nvSpPr>
                <p:cNvPr id="9" name="Freeform 11">
                  <a:extLst>
                    <a:ext uri="{FF2B5EF4-FFF2-40B4-BE49-F238E27FC236}">
                      <a16:creationId xmlns:a16="http://schemas.microsoft.com/office/drawing/2014/main" id="{4FC93E65-ECD2-D023-7092-BEC2DE4B074A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68" y="812"/>
                  <a:ext cx="1" cy="17"/>
                </a:xfrm>
                <a:custGeom>
                  <a:avLst/>
                  <a:gdLst>
                    <a:gd name="T0" fmla="*/ 0 w 1"/>
                    <a:gd name="T1" fmla="*/ 0 h 17"/>
                    <a:gd name="T2" fmla="*/ 0 w 1"/>
                    <a:gd name="T3" fmla="*/ 16 h 17"/>
                    <a:gd name="T4" fmla="*/ 0 w 1"/>
                    <a:gd name="T5" fmla="*/ 16 h 17"/>
                    <a:gd name="T6" fmla="*/ 0 w 1"/>
                    <a:gd name="T7" fmla="*/ 6 h 17"/>
                    <a:gd name="T8" fmla="*/ 0 w 1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" h="17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" name="Freeform 12">
                  <a:extLst>
                    <a:ext uri="{FF2B5EF4-FFF2-40B4-BE49-F238E27FC236}">
                      <a16:creationId xmlns:a16="http://schemas.microsoft.com/office/drawing/2014/main" id="{9B1705C7-25ED-FD3B-D26F-8DC4938DA9A2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92" y="843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" name="Freeform 13">
                  <a:extLst>
                    <a:ext uri="{FF2B5EF4-FFF2-40B4-BE49-F238E27FC236}">
                      <a16:creationId xmlns:a16="http://schemas.microsoft.com/office/drawing/2014/main" id="{760F7037-90B0-0F0C-51B4-BA2B0E9747AC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372" y="802"/>
                  <a:ext cx="51" cy="48"/>
                </a:xfrm>
                <a:custGeom>
                  <a:avLst/>
                  <a:gdLst>
                    <a:gd name="T0" fmla="*/ 50 w 51"/>
                    <a:gd name="T1" fmla="*/ 0 h 48"/>
                    <a:gd name="T2" fmla="*/ 31 w 51"/>
                    <a:gd name="T3" fmla="*/ 0 h 48"/>
                    <a:gd name="T4" fmla="*/ 20 w 51"/>
                    <a:gd name="T5" fmla="*/ 13 h 48"/>
                    <a:gd name="T6" fmla="*/ 13 w 51"/>
                    <a:gd name="T7" fmla="*/ 13 h 48"/>
                    <a:gd name="T8" fmla="*/ 7 w 51"/>
                    <a:gd name="T9" fmla="*/ 19 h 48"/>
                    <a:gd name="T10" fmla="*/ 0 w 51"/>
                    <a:gd name="T11" fmla="*/ 19 h 48"/>
                    <a:gd name="T12" fmla="*/ 0 w 51"/>
                    <a:gd name="T13" fmla="*/ 35 h 48"/>
                    <a:gd name="T14" fmla="*/ 12 w 51"/>
                    <a:gd name="T15" fmla="*/ 47 h 48"/>
                    <a:gd name="T16" fmla="*/ 41 w 51"/>
                    <a:gd name="T17" fmla="*/ 47 h 48"/>
                    <a:gd name="T18" fmla="*/ 50 w 51"/>
                    <a:gd name="T19" fmla="*/ 35 h 48"/>
                    <a:gd name="T20" fmla="*/ 50 w 51"/>
                    <a:gd name="T21" fmla="*/ 0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51" h="48">
                      <a:moveTo>
                        <a:pt x="50" y="0"/>
                      </a:moveTo>
                      <a:lnTo>
                        <a:pt x="31" y="0"/>
                      </a:lnTo>
                      <a:lnTo>
                        <a:pt x="20" y="13"/>
                      </a:lnTo>
                      <a:lnTo>
                        <a:pt x="13" y="13"/>
                      </a:lnTo>
                      <a:lnTo>
                        <a:pt x="7" y="19"/>
                      </a:lnTo>
                      <a:lnTo>
                        <a:pt x="0" y="19"/>
                      </a:lnTo>
                      <a:lnTo>
                        <a:pt x="0" y="35"/>
                      </a:lnTo>
                      <a:lnTo>
                        <a:pt x="12" y="47"/>
                      </a:lnTo>
                      <a:lnTo>
                        <a:pt x="41" y="47"/>
                      </a:lnTo>
                      <a:lnTo>
                        <a:pt x="50" y="35"/>
                      </a:lnTo>
                      <a:lnTo>
                        <a:pt x="5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" name="Freeform 14">
                  <a:extLst>
                    <a:ext uri="{FF2B5EF4-FFF2-40B4-BE49-F238E27FC236}">
                      <a16:creationId xmlns:a16="http://schemas.microsoft.com/office/drawing/2014/main" id="{F80D8BF8-7757-2DD2-DFF3-63D5B44D3E22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071" y="840"/>
                  <a:ext cx="451" cy="587"/>
                </a:xfrm>
                <a:custGeom>
                  <a:avLst/>
                  <a:gdLst>
                    <a:gd name="T0" fmla="*/ 107 w 451"/>
                    <a:gd name="T1" fmla="*/ 0 h 587"/>
                    <a:gd name="T2" fmla="*/ 99 w 451"/>
                    <a:gd name="T3" fmla="*/ 16 h 587"/>
                    <a:gd name="T4" fmla="*/ 64 w 451"/>
                    <a:gd name="T5" fmla="*/ 47 h 587"/>
                    <a:gd name="T6" fmla="*/ 56 w 451"/>
                    <a:gd name="T7" fmla="*/ 75 h 587"/>
                    <a:gd name="T8" fmla="*/ 30 w 451"/>
                    <a:gd name="T9" fmla="*/ 95 h 587"/>
                    <a:gd name="T10" fmla="*/ 12 w 451"/>
                    <a:gd name="T11" fmla="*/ 135 h 587"/>
                    <a:gd name="T12" fmla="*/ 12 w 451"/>
                    <a:gd name="T13" fmla="*/ 159 h 587"/>
                    <a:gd name="T14" fmla="*/ 0 w 451"/>
                    <a:gd name="T15" fmla="*/ 201 h 587"/>
                    <a:gd name="T16" fmla="*/ 16 w 451"/>
                    <a:gd name="T17" fmla="*/ 219 h 587"/>
                    <a:gd name="T18" fmla="*/ 56 w 451"/>
                    <a:gd name="T19" fmla="*/ 272 h 587"/>
                    <a:gd name="T20" fmla="*/ 68 w 451"/>
                    <a:gd name="T21" fmla="*/ 265 h 587"/>
                    <a:gd name="T22" fmla="*/ 139 w 451"/>
                    <a:gd name="T23" fmla="*/ 265 h 587"/>
                    <a:gd name="T24" fmla="*/ 172 w 451"/>
                    <a:gd name="T25" fmla="*/ 278 h 587"/>
                    <a:gd name="T26" fmla="*/ 169 w 451"/>
                    <a:gd name="T27" fmla="*/ 319 h 587"/>
                    <a:gd name="T28" fmla="*/ 193 w 451"/>
                    <a:gd name="T29" fmla="*/ 374 h 587"/>
                    <a:gd name="T30" fmla="*/ 191 w 451"/>
                    <a:gd name="T31" fmla="*/ 389 h 587"/>
                    <a:gd name="T32" fmla="*/ 201 w 451"/>
                    <a:gd name="T33" fmla="*/ 406 h 587"/>
                    <a:gd name="T34" fmla="*/ 186 w 451"/>
                    <a:gd name="T35" fmla="*/ 445 h 587"/>
                    <a:gd name="T36" fmla="*/ 204 w 451"/>
                    <a:gd name="T37" fmla="*/ 494 h 587"/>
                    <a:gd name="T38" fmla="*/ 214 w 451"/>
                    <a:gd name="T39" fmla="*/ 532 h 587"/>
                    <a:gd name="T40" fmla="*/ 226 w 451"/>
                    <a:gd name="T41" fmla="*/ 556 h 587"/>
                    <a:gd name="T42" fmla="*/ 239 w 451"/>
                    <a:gd name="T43" fmla="*/ 586 h 587"/>
                    <a:gd name="T44" fmla="*/ 263 w 451"/>
                    <a:gd name="T45" fmla="*/ 582 h 587"/>
                    <a:gd name="T46" fmla="*/ 302 w 451"/>
                    <a:gd name="T47" fmla="*/ 560 h 587"/>
                    <a:gd name="T48" fmla="*/ 320 w 451"/>
                    <a:gd name="T49" fmla="*/ 533 h 587"/>
                    <a:gd name="T50" fmla="*/ 319 w 451"/>
                    <a:gd name="T51" fmla="*/ 515 h 587"/>
                    <a:gd name="T52" fmla="*/ 342 w 451"/>
                    <a:gd name="T53" fmla="*/ 500 h 587"/>
                    <a:gd name="T54" fmla="*/ 338 w 451"/>
                    <a:gd name="T55" fmla="*/ 474 h 587"/>
                    <a:gd name="T56" fmla="*/ 373 w 451"/>
                    <a:gd name="T57" fmla="*/ 432 h 587"/>
                    <a:gd name="T58" fmla="*/ 378 w 451"/>
                    <a:gd name="T59" fmla="*/ 398 h 587"/>
                    <a:gd name="T60" fmla="*/ 369 w 451"/>
                    <a:gd name="T61" fmla="*/ 386 h 587"/>
                    <a:gd name="T62" fmla="*/ 373 w 451"/>
                    <a:gd name="T63" fmla="*/ 372 h 587"/>
                    <a:gd name="T64" fmla="*/ 365 w 451"/>
                    <a:gd name="T65" fmla="*/ 360 h 587"/>
                    <a:gd name="T66" fmla="*/ 391 w 451"/>
                    <a:gd name="T67" fmla="*/ 327 h 587"/>
                    <a:gd name="T68" fmla="*/ 391 w 451"/>
                    <a:gd name="T69" fmla="*/ 310 h 587"/>
                    <a:gd name="T70" fmla="*/ 427 w 451"/>
                    <a:gd name="T71" fmla="*/ 282 h 587"/>
                    <a:gd name="T72" fmla="*/ 450 w 451"/>
                    <a:gd name="T73" fmla="*/ 207 h 587"/>
                    <a:gd name="T74" fmla="*/ 417 w 451"/>
                    <a:gd name="T75" fmla="*/ 226 h 587"/>
                    <a:gd name="T76" fmla="*/ 388 w 451"/>
                    <a:gd name="T77" fmla="*/ 218 h 587"/>
                    <a:gd name="T78" fmla="*/ 392 w 451"/>
                    <a:gd name="T79" fmla="*/ 200 h 587"/>
                    <a:gd name="T80" fmla="*/ 363 w 451"/>
                    <a:gd name="T81" fmla="*/ 180 h 587"/>
                    <a:gd name="T82" fmla="*/ 349 w 451"/>
                    <a:gd name="T83" fmla="*/ 132 h 587"/>
                    <a:gd name="T84" fmla="*/ 321 w 451"/>
                    <a:gd name="T85" fmla="*/ 93 h 587"/>
                    <a:gd name="T86" fmla="*/ 321 w 451"/>
                    <a:gd name="T87" fmla="*/ 66 h 587"/>
                    <a:gd name="T88" fmla="*/ 306 w 451"/>
                    <a:gd name="T89" fmla="*/ 65 h 587"/>
                    <a:gd name="T90" fmla="*/ 296 w 451"/>
                    <a:gd name="T91" fmla="*/ 69 h 587"/>
                    <a:gd name="T92" fmla="*/ 254 w 451"/>
                    <a:gd name="T93" fmla="*/ 54 h 587"/>
                    <a:gd name="T94" fmla="*/ 243 w 451"/>
                    <a:gd name="T95" fmla="*/ 65 h 587"/>
                    <a:gd name="T96" fmla="*/ 234 w 451"/>
                    <a:gd name="T97" fmla="*/ 78 h 587"/>
                    <a:gd name="T98" fmla="*/ 211 w 451"/>
                    <a:gd name="T99" fmla="*/ 53 h 587"/>
                    <a:gd name="T100" fmla="*/ 189 w 451"/>
                    <a:gd name="T101" fmla="*/ 47 h 587"/>
                    <a:gd name="T102" fmla="*/ 187 w 451"/>
                    <a:gd name="T103" fmla="*/ 15 h 587"/>
                    <a:gd name="T104" fmla="*/ 155 w 451"/>
                    <a:gd name="T105" fmla="*/ 20 h 587"/>
                    <a:gd name="T106" fmla="*/ 135 w 451"/>
                    <a:gd name="T107" fmla="*/ 13 h 587"/>
                    <a:gd name="T108" fmla="*/ 107 w 451"/>
                    <a:gd name="T109" fmla="*/ 0 h 587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451" h="587">
                      <a:moveTo>
                        <a:pt x="107" y="0"/>
                      </a:moveTo>
                      <a:lnTo>
                        <a:pt x="99" y="16"/>
                      </a:lnTo>
                      <a:lnTo>
                        <a:pt x="64" y="47"/>
                      </a:lnTo>
                      <a:lnTo>
                        <a:pt x="56" y="75"/>
                      </a:lnTo>
                      <a:lnTo>
                        <a:pt x="30" y="95"/>
                      </a:lnTo>
                      <a:lnTo>
                        <a:pt x="12" y="135"/>
                      </a:lnTo>
                      <a:lnTo>
                        <a:pt x="12" y="159"/>
                      </a:lnTo>
                      <a:lnTo>
                        <a:pt x="0" y="201"/>
                      </a:lnTo>
                      <a:lnTo>
                        <a:pt x="16" y="219"/>
                      </a:lnTo>
                      <a:lnTo>
                        <a:pt x="56" y="272"/>
                      </a:lnTo>
                      <a:lnTo>
                        <a:pt x="68" y="265"/>
                      </a:lnTo>
                      <a:lnTo>
                        <a:pt x="139" y="265"/>
                      </a:lnTo>
                      <a:lnTo>
                        <a:pt x="172" y="278"/>
                      </a:lnTo>
                      <a:lnTo>
                        <a:pt x="169" y="319"/>
                      </a:lnTo>
                      <a:lnTo>
                        <a:pt x="193" y="374"/>
                      </a:lnTo>
                      <a:lnTo>
                        <a:pt x="191" y="389"/>
                      </a:lnTo>
                      <a:lnTo>
                        <a:pt x="201" y="406"/>
                      </a:lnTo>
                      <a:lnTo>
                        <a:pt x="186" y="445"/>
                      </a:lnTo>
                      <a:lnTo>
                        <a:pt x="204" y="494"/>
                      </a:lnTo>
                      <a:lnTo>
                        <a:pt x="214" y="532"/>
                      </a:lnTo>
                      <a:lnTo>
                        <a:pt x="226" y="556"/>
                      </a:lnTo>
                      <a:lnTo>
                        <a:pt x="239" y="586"/>
                      </a:lnTo>
                      <a:lnTo>
                        <a:pt x="263" y="582"/>
                      </a:lnTo>
                      <a:lnTo>
                        <a:pt x="302" y="560"/>
                      </a:lnTo>
                      <a:lnTo>
                        <a:pt x="320" y="533"/>
                      </a:lnTo>
                      <a:lnTo>
                        <a:pt x="319" y="515"/>
                      </a:lnTo>
                      <a:lnTo>
                        <a:pt x="342" y="500"/>
                      </a:lnTo>
                      <a:lnTo>
                        <a:pt x="338" y="474"/>
                      </a:lnTo>
                      <a:lnTo>
                        <a:pt x="373" y="432"/>
                      </a:lnTo>
                      <a:lnTo>
                        <a:pt x="378" y="398"/>
                      </a:lnTo>
                      <a:lnTo>
                        <a:pt x="369" y="386"/>
                      </a:lnTo>
                      <a:lnTo>
                        <a:pt x="373" y="372"/>
                      </a:lnTo>
                      <a:lnTo>
                        <a:pt x="365" y="360"/>
                      </a:lnTo>
                      <a:lnTo>
                        <a:pt x="391" y="327"/>
                      </a:lnTo>
                      <a:lnTo>
                        <a:pt x="391" y="310"/>
                      </a:lnTo>
                      <a:lnTo>
                        <a:pt x="427" y="282"/>
                      </a:lnTo>
                      <a:lnTo>
                        <a:pt x="450" y="207"/>
                      </a:lnTo>
                      <a:lnTo>
                        <a:pt x="417" y="226"/>
                      </a:lnTo>
                      <a:lnTo>
                        <a:pt x="388" y="218"/>
                      </a:lnTo>
                      <a:lnTo>
                        <a:pt x="392" y="200"/>
                      </a:lnTo>
                      <a:lnTo>
                        <a:pt x="363" y="180"/>
                      </a:lnTo>
                      <a:lnTo>
                        <a:pt x="349" y="132"/>
                      </a:lnTo>
                      <a:lnTo>
                        <a:pt x="321" y="93"/>
                      </a:lnTo>
                      <a:lnTo>
                        <a:pt x="321" y="66"/>
                      </a:lnTo>
                      <a:lnTo>
                        <a:pt x="306" y="65"/>
                      </a:lnTo>
                      <a:lnTo>
                        <a:pt x="296" y="69"/>
                      </a:lnTo>
                      <a:lnTo>
                        <a:pt x="254" y="54"/>
                      </a:lnTo>
                      <a:lnTo>
                        <a:pt x="243" y="65"/>
                      </a:lnTo>
                      <a:lnTo>
                        <a:pt x="234" y="78"/>
                      </a:lnTo>
                      <a:lnTo>
                        <a:pt x="211" y="53"/>
                      </a:lnTo>
                      <a:lnTo>
                        <a:pt x="189" y="47"/>
                      </a:lnTo>
                      <a:lnTo>
                        <a:pt x="187" y="15"/>
                      </a:lnTo>
                      <a:lnTo>
                        <a:pt x="155" y="20"/>
                      </a:lnTo>
                      <a:lnTo>
                        <a:pt x="135" y="13"/>
                      </a:lnTo>
                      <a:lnTo>
                        <a:pt x="10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" name="Freeform 15">
                  <a:extLst>
                    <a:ext uri="{FF2B5EF4-FFF2-40B4-BE49-F238E27FC236}">
                      <a16:creationId xmlns:a16="http://schemas.microsoft.com/office/drawing/2014/main" id="{B141E71A-CDCD-D396-3616-10EA1B02C491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112" y="987"/>
                  <a:ext cx="17" cy="28"/>
                </a:xfrm>
                <a:custGeom>
                  <a:avLst/>
                  <a:gdLst>
                    <a:gd name="T0" fmla="*/ 7 w 17"/>
                    <a:gd name="T1" fmla="*/ 0 h 28"/>
                    <a:gd name="T2" fmla="*/ 9 w 17"/>
                    <a:gd name="T3" fmla="*/ 8 h 28"/>
                    <a:gd name="T4" fmla="*/ 7 w 17"/>
                    <a:gd name="T5" fmla="*/ 14 h 28"/>
                    <a:gd name="T6" fmla="*/ 7 w 17"/>
                    <a:gd name="T7" fmla="*/ 19 h 28"/>
                    <a:gd name="T8" fmla="*/ 16 w 17"/>
                    <a:gd name="T9" fmla="*/ 23 h 28"/>
                    <a:gd name="T10" fmla="*/ 16 w 17"/>
                    <a:gd name="T11" fmla="*/ 27 h 28"/>
                    <a:gd name="T12" fmla="*/ 9 w 17"/>
                    <a:gd name="T13" fmla="*/ 23 h 28"/>
                    <a:gd name="T14" fmla="*/ 3 w 17"/>
                    <a:gd name="T15" fmla="*/ 27 h 28"/>
                    <a:gd name="T16" fmla="*/ 0 w 17"/>
                    <a:gd name="T17" fmla="*/ 23 h 28"/>
                    <a:gd name="T18" fmla="*/ 3 w 17"/>
                    <a:gd name="T19" fmla="*/ 19 h 28"/>
                    <a:gd name="T20" fmla="*/ 0 w 17"/>
                    <a:gd name="T21" fmla="*/ 14 h 28"/>
                    <a:gd name="T22" fmla="*/ 3 w 17"/>
                    <a:gd name="T23" fmla="*/ 4 h 28"/>
                    <a:gd name="T24" fmla="*/ 7 w 17"/>
                    <a:gd name="T25" fmla="*/ 0 h 28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" h="28">
                      <a:moveTo>
                        <a:pt x="7" y="0"/>
                      </a:moveTo>
                      <a:lnTo>
                        <a:pt x="9" y="8"/>
                      </a:lnTo>
                      <a:lnTo>
                        <a:pt x="7" y="14"/>
                      </a:lnTo>
                      <a:lnTo>
                        <a:pt x="7" y="19"/>
                      </a:lnTo>
                      <a:lnTo>
                        <a:pt x="16" y="23"/>
                      </a:lnTo>
                      <a:lnTo>
                        <a:pt x="16" y="27"/>
                      </a:lnTo>
                      <a:lnTo>
                        <a:pt x="9" y="23"/>
                      </a:lnTo>
                      <a:lnTo>
                        <a:pt x="3" y="27"/>
                      </a:lnTo>
                      <a:lnTo>
                        <a:pt x="0" y="23"/>
                      </a:lnTo>
                      <a:lnTo>
                        <a:pt x="3" y="19"/>
                      </a:lnTo>
                      <a:lnTo>
                        <a:pt x="0" y="14"/>
                      </a:lnTo>
                      <a:lnTo>
                        <a:pt x="3" y="4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" name="Freeform 16">
                  <a:extLst>
                    <a:ext uri="{FF2B5EF4-FFF2-40B4-BE49-F238E27FC236}">
                      <a16:creationId xmlns:a16="http://schemas.microsoft.com/office/drawing/2014/main" id="{BFF02B86-D12B-7E8C-F746-9BD9300B9E86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027" y="1109"/>
                  <a:ext cx="68" cy="97"/>
                </a:xfrm>
                <a:custGeom>
                  <a:avLst/>
                  <a:gdLst>
                    <a:gd name="T0" fmla="*/ 0 w 68"/>
                    <a:gd name="T1" fmla="*/ 48 h 97"/>
                    <a:gd name="T2" fmla="*/ 24 w 68"/>
                    <a:gd name="T3" fmla="*/ 48 h 97"/>
                    <a:gd name="T4" fmla="*/ 52 w 68"/>
                    <a:gd name="T5" fmla="*/ 0 h 97"/>
                    <a:gd name="T6" fmla="*/ 67 w 68"/>
                    <a:gd name="T7" fmla="*/ 28 h 97"/>
                    <a:gd name="T8" fmla="*/ 55 w 68"/>
                    <a:gd name="T9" fmla="*/ 96 h 97"/>
                    <a:gd name="T10" fmla="*/ 5 w 68"/>
                    <a:gd name="T11" fmla="*/ 80 h 97"/>
                    <a:gd name="T12" fmla="*/ 0 w 68"/>
                    <a:gd name="T13" fmla="*/ 48 h 9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8" h="97">
                      <a:moveTo>
                        <a:pt x="0" y="48"/>
                      </a:moveTo>
                      <a:lnTo>
                        <a:pt x="24" y="48"/>
                      </a:lnTo>
                      <a:lnTo>
                        <a:pt x="52" y="0"/>
                      </a:lnTo>
                      <a:lnTo>
                        <a:pt x="67" y="28"/>
                      </a:lnTo>
                      <a:lnTo>
                        <a:pt x="55" y="96"/>
                      </a:lnTo>
                      <a:lnTo>
                        <a:pt x="5" y="80"/>
                      </a:lnTo>
                      <a:lnTo>
                        <a:pt x="0" y="4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" name="Freeform 17">
                  <a:extLst>
                    <a:ext uri="{FF2B5EF4-FFF2-40B4-BE49-F238E27FC236}">
                      <a16:creationId xmlns:a16="http://schemas.microsoft.com/office/drawing/2014/main" id="{A30FEEAA-3425-E666-DC19-BE2FD2B16C38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162" y="1146"/>
                  <a:ext cx="117" cy="94"/>
                </a:xfrm>
                <a:custGeom>
                  <a:avLst/>
                  <a:gdLst>
                    <a:gd name="T0" fmla="*/ 7 w 117"/>
                    <a:gd name="T1" fmla="*/ 22 h 94"/>
                    <a:gd name="T2" fmla="*/ 0 w 117"/>
                    <a:gd name="T3" fmla="*/ 0 h 94"/>
                    <a:gd name="T4" fmla="*/ 39 w 117"/>
                    <a:gd name="T5" fmla="*/ 9 h 94"/>
                    <a:gd name="T6" fmla="*/ 95 w 117"/>
                    <a:gd name="T7" fmla="*/ 32 h 94"/>
                    <a:gd name="T8" fmla="*/ 95 w 117"/>
                    <a:gd name="T9" fmla="*/ 49 h 94"/>
                    <a:gd name="T10" fmla="*/ 116 w 117"/>
                    <a:gd name="T11" fmla="*/ 93 h 94"/>
                    <a:gd name="T12" fmla="*/ 73 w 117"/>
                    <a:gd name="T13" fmla="*/ 51 h 94"/>
                    <a:gd name="T14" fmla="*/ 44 w 117"/>
                    <a:gd name="T15" fmla="*/ 54 h 94"/>
                    <a:gd name="T16" fmla="*/ 7 w 117"/>
                    <a:gd name="T17" fmla="*/ 22 h 9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17" h="94">
                      <a:moveTo>
                        <a:pt x="7" y="22"/>
                      </a:moveTo>
                      <a:lnTo>
                        <a:pt x="0" y="0"/>
                      </a:lnTo>
                      <a:lnTo>
                        <a:pt x="39" y="9"/>
                      </a:lnTo>
                      <a:lnTo>
                        <a:pt x="95" y="32"/>
                      </a:lnTo>
                      <a:lnTo>
                        <a:pt x="95" y="49"/>
                      </a:lnTo>
                      <a:lnTo>
                        <a:pt x="116" y="93"/>
                      </a:lnTo>
                      <a:lnTo>
                        <a:pt x="73" y="51"/>
                      </a:lnTo>
                      <a:lnTo>
                        <a:pt x="44" y="54"/>
                      </a:lnTo>
                      <a:lnTo>
                        <a:pt x="7" y="22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" name="Freeform 18">
                  <a:extLst>
                    <a:ext uri="{FF2B5EF4-FFF2-40B4-BE49-F238E27FC236}">
                      <a16:creationId xmlns:a16="http://schemas.microsoft.com/office/drawing/2014/main" id="{D5D0F1CE-8F43-0B6F-9AD4-82A954EBA713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384" y="1337"/>
                  <a:ext cx="79" cy="101"/>
                </a:xfrm>
                <a:custGeom>
                  <a:avLst/>
                  <a:gdLst>
                    <a:gd name="T0" fmla="*/ 48 w 79"/>
                    <a:gd name="T1" fmla="*/ 0 h 101"/>
                    <a:gd name="T2" fmla="*/ 78 w 79"/>
                    <a:gd name="T3" fmla="*/ 30 h 101"/>
                    <a:gd name="T4" fmla="*/ 16 w 79"/>
                    <a:gd name="T5" fmla="*/ 100 h 101"/>
                    <a:gd name="T6" fmla="*/ 0 w 79"/>
                    <a:gd name="T7" fmla="*/ 84 h 101"/>
                    <a:gd name="T8" fmla="*/ 45 w 79"/>
                    <a:gd name="T9" fmla="*/ 39 h 101"/>
                    <a:gd name="T10" fmla="*/ 48 w 79"/>
                    <a:gd name="T11" fmla="*/ 0 h 10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79" h="101">
                      <a:moveTo>
                        <a:pt x="48" y="0"/>
                      </a:moveTo>
                      <a:lnTo>
                        <a:pt x="78" y="30"/>
                      </a:lnTo>
                      <a:lnTo>
                        <a:pt x="16" y="100"/>
                      </a:lnTo>
                      <a:lnTo>
                        <a:pt x="0" y="84"/>
                      </a:lnTo>
                      <a:lnTo>
                        <a:pt x="45" y="39"/>
                      </a:lnTo>
                      <a:lnTo>
                        <a:pt x="4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Freeform 19">
                  <a:extLst>
                    <a:ext uri="{FF2B5EF4-FFF2-40B4-BE49-F238E27FC236}">
                      <a16:creationId xmlns:a16="http://schemas.microsoft.com/office/drawing/2014/main" id="{DB7BD1B9-E466-3201-231D-78275ED4FB75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11" y="651"/>
                  <a:ext cx="39" cy="66"/>
                </a:xfrm>
                <a:custGeom>
                  <a:avLst/>
                  <a:gdLst>
                    <a:gd name="T0" fmla="*/ 38 w 39"/>
                    <a:gd name="T1" fmla="*/ 51 h 66"/>
                    <a:gd name="T2" fmla="*/ 28 w 39"/>
                    <a:gd name="T3" fmla="*/ 43 h 66"/>
                    <a:gd name="T4" fmla="*/ 28 w 39"/>
                    <a:gd name="T5" fmla="*/ 14 h 66"/>
                    <a:gd name="T6" fmla="*/ 33 w 39"/>
                    <a:gd name="T7" fmla="*/ 8 h 66"/>
                    <a:gd name="T8" fmla="*/ 24 w 39"/>
                    <a:gd name="T9" fmla="*/ 8 h 66"/>
                    <a:gd name="T10" fmla="*/ 29 w 39"/>
                    <a:gd name="T11" fmla="*/ 0 h 66"/>
                    <a:gd name="T12" fmla="*/ 22 w 39"/>
                    <a:gd name="T13" fmla="*/ 0 h 66"/>
                    <a:gd name="T14" fmla="*/ 14 w 39"/>
                    <a:gd name="T15" fmla="*/ 9 h 66"/>
                    <a:gd name="T16" fmla="*/ 14 w 39"/>
                    <a:gd name="T17" fmla="*/ 27 h 66"/>
                    <a:gd name="T18" fmla="*/ 18 w 39"/>
                    <a:gd name="T19" fmla="*/ 31 h 66"/>
                    <a:gd name="T20" fmla="*/ 18 w 39"/>
                    <a:gd name="T21" fmla="*/ 39 h 66"/>
                    <a:gd name="T22" fmla="*/ 16 w 39"/>
                    <a:gd name="T23" fmla="*/ 39 h 66"/>
                    <a:gd name="T24" fmla="*/ 9 w 39"/>
                    <a:gd name="T25" fmla="*/ 46 h 66"/>
                    <a:gd name="T26" fmla="*/ 9 w 39"/>
                    <a:gd name="T27" fmla="*/ 53 h 66"/>
                    <a:gd name="T28" fmla="*/ 0 w 39"/>
                    <a:gd name="T29" fmla="*/ 65 h 66"/>
                    <a:gd name="T30" fmla="*/ 29 w 39"/>
                    <a:gd name="T31" fmla="*/ 65 h 66"/>
                    <a:gd name="T32" fmla="*/ 38 w 39"/>
                    <a:gd name="T33" fmla="*/ 51 h 6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9" h="66">
                      <a:moveTo>
                        <a:pt x="38" y="51"/>
                      </a:moveTo>
                      <a:lnTo>
                        <a:pt x="28" y="43"/>
                      </a:lnTo>
                      <a:lnTo>
                        <a:pt x="28" y="14"/>
                      </a:lnTo>
                      <a:lnTo>
                        <a:pt x="33" y="8"/>
                      </a:lnTo>
                      <a:lnTo>
                        <a:pt x="24" y="8"/>
                      </a:lnTo>
                      <a:lnTo>
                        <a:pt x="29" y="0"/>
                      </a:lnTo>
                      <a:lnTo>
                        <a:pt x="22" y="0"/>
                      </a:lnTo>
                      <a:lnTo>
                        <a:pt x="14" y="9"/>
                      </a:lnTo>
                      <a:lnTo>
                        <a:pt x="14" y="27"/>
                      </a:lnTo>
                      <a:lnTo>
                        <a:pt x="18" y="31"/>
                      </a:lnTo>
                      <a:lnTo>
                        <a:pt x="18" y="39"/>
                      </a:lnTo>
                      <a:lnTo>
                        <a:pt x="16" y="39"/>
                      </a:lnTo>
                      <a:lnTo>
                        <a:pt x="9" y="46"/>
                      </a:lnTo>
                      <a:lnTo>
                        <a:pt x="9" y="53"/>
                      </a:lnTo>
                      <a:lnTo>
                        <a:pt x="0" y="65"/>
                      </a:lnTo>
                      <a:lnTo>
                        <a:pt x="29" y="65"/>
                      </a:lnTo>
                      <a:lnTo>
                        <a:pt x="38" y="51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Freeform 20">
                  <a:extLst>
                    <a:ext uri="{FF2B5EF4-FFF2-40B4-BE49-F238E27FC236}">
                      <a16:creationId xmlns:a16="http://schemas.microsoft.com/office/drawing/2014/main" id="{EA80FC56-220D-6BB0-B61C-73EC0D3A8D7A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198" y="673"/>
                  <a:ext cx="21" cy="24"/>
                </a:xfrm>
                <a:custGeom>
                  <a:avLst/>
                  <a:gdLst>
                    <a:gd name="T0" fmla="*/ 17 w 21"/>
                    <a:gd name="T1" fmla="*/ 8 h 24"/>
                    <a:gd name="T2" fmla="*/ 20 w 21"/>
                    <a:gd name="T3" fmla="*/ 8 h 24"/>
                    <a:gd name="T4" fmla="*/ 20 w 21"/>
                    <a:gd name="T5" fmla="*/ 0 h 24"/>
                    <a:gd name="T6" fmla="*/ 13 w 21"/>
                    <a:gd name="T7" fmla="*/ 0 h 24"/>
                    <a:gd name="T8" fmla="*/ 0 w 21"/>
                    <a:gd name="T9" fmla="*/ 15 h 24"/>
                    <a:gd name="T10" fmla="*/ 0 w 21"/>
                    <a:gd name="T11" fmla="*/ 23 h 24"/>
                    <a:gd name="T12" fmla="*/ 12 w 21"/>
                    <a:gd name="T13" fmla="*/ 23 h 24"/>
                    <a:gd name="T14" fmla="*/ 17 w 21"/>
                    <a:gd name="T15" fmla="*/ 17 h 24"/>
                    <a:gd name="T16" fmla="*/ 17 w 21"/>
                    <a:gd name="T17" fmla="*/ 8 h 2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" h="24">
                      <a:moveTo>
                        <a:pt x="17" y="8"/>
                      </a:moveTo>
                      <a:lnTo>
                        <a:pt x="20" y="8"/>
                      </a:lnTo>
                      <a:lnTo>
                        <a:pt x="20" y="0"/>
                      </a:lnTo>
                      <a:lnTo>
                        <a:pt x="13" y="0"/>
                      </a:lnTo>
                      <a:lnTo>
                        <a:pt x="0" y="15"/>
                      </a:lnTo>
                      <a:lnTo>
                        <a:pt x="0" y="23"/>
                      </a:lnTo>
                      <a:lnTo>
                        <a:pt x="12" y="23"/>
                      </a:lnTo>
                      <a:lnTo>
                        <a:pt x="17" y="17"/>
                      </a:lnTo>
                      <a:lnTo>
                        <a:pt x="17" y="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Freeform 21">
                  <a:extLst>
                    <a:ext uri="{FF2B5EF4-FFF2-40B4-BE49-F238E27FC236}">
                      <a16:creationId xmlns:a16="http://schemas.microsoft.com/office/drawing/2014/main" id="{A09C531C-142A-29C3-661E-3607B6E0E183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167" y="634"/>
                  <a:ext cx="256" cy="216"/>
                </a:xfrm>
                <a:custGeom>
                  <a:avLst/>
                  <a:gdLst>
                    <a:gd name="T0" fmla="*/ 168 w 256"/>
                    <a:gd name="T1" fmla="*/ 15 h 216"/>
                    <a:gd name="T2" fmla="*/ 201 w 256"/>
                    <a:gd name="T3" fmla="*/ 20 h 216"/>
                    <a:gd name="T4" fmla="*/ 181 w 256"/>
                    <a:gd name="T5" fmla="*/ 28 h 216"/>
                    <a:gd name="T6" fmla="*/ 172 w 256"/>
                    <a:gd name="T7" fmla="*/ 41 h 216"/>
                    <a:gd name="T8" fmla="*/ 160 w 256"/>
                    <a:gd name="T9" fmla="*/ 70 h 216"/>
                    <a:gd name="T10" fmla="*/ 140 w 256"/>
                    <a:gd name="T11" fmla="*/ 72 h 216"/>
                    <a:gd name="T12" fmla="*/ 123 w 256"/>
                    <a:gd name="T13" fmla="*/ 69 h 216"/>
                    <a:gd name="T14" fmla="*/ 131 w 256"/>
                    <a:gd name="T15" fmla="*/ 55 h 216"/>
                    <a:gd name="T16" fmla="*/ 124 w 256"/>
                    <a:gd name="T17" fmla="*/ 37 h 216"/>
                    <a:gd name="T18" fmla="*/ 114 w 256"/>
                    <a:gd name="T19" fmla="*/ 69 h 216"/>
                    <a:gd name="T20" fmla="*/ 87 w 256"/>
                    <a:gd name="T21" fmla="*/ 84 h 216"/>
                    <a:gd name="T22" fmla="*/ 73 w 256"/>
                    <a:gd name="T23" fmla="*/ 94 h 216"/>
                    <a:gd name="T24" fmla="*/ 53 w 256"/>
                    <a:gd name="T25" fmla="*/ 108 h 216"/>
                    <a:gd name="T26" fmla="*/ 43 w 256"/>
                    <a:gd name="T27" fmla="*/ 143 h 216"/>
                    <a:gd name="T28" fmla="*/ 8 w 256"/>
                    <a:gd name="T29" fmla="*/ 130 h 216"/>
                    <a:gd name="T30" fmla="*/ 0 w 256"/>
                    <a:gd name="T31" fmla="*/ 156 h 216"/>
                    <a:gd name="T32" fmla="*/ 15 w 256"/>
                    <a:gd name="T33" fmla="*/ 194 h 216"/>
                    <a:gd name="T34" fmla="*/ 71 w 256"/>
                    <a:gd name="T35" fmla="*/ 153 h 216"/>
                    <a:gd name="T36" fmla="*/ 105 w 256"/>
                    <a:gd name="T37" fmla="*/ 145 h 216"/>
                    <a:gd name="T38" fmla="*/ 111 w 256"/>
                    <a:gd name="T39" fmla="*/ 161 h 216"/>
                    <a:gd name="T40" fmla="*/ 139 w 256"/>
                    <a:gd name="T41" fmla="*/ 201 h 216"/>
                    <a:gd name="T42" fmla="*/ 142 w 256"/>
                    <a:gd name="T43" fmla="*/ 189 h 216"/>
                    <a:gd name="T44" fmla="*/ 150 w 256"/>
                    <a:gd name="T45" fmla="*/ 189 h 216"/>
                    <a:gd name="T46" fmla="*/ 123 w 256"/>
                    <a:gd name="T47" fmla="*/ 152 h 216"/>
                    <a:gd name="T48" fmla="*/ 131 w 256"/>
                    <a:gd name="T49" fmla="*/ 139 h 216"/>
                    <a:gd name="T50" fmla="*/ 160 w 256"/>
                    <a:gd name="T51" fmla="*/ 178 h 216"/>
                    <a:gd name="T52" fmla="*/ 172 w 256"/>
                    <a:gd name="T53" fmla="*/ 202 h 216"/>
                    <a:gd name="T54" fmla="*/ 178 w 256"/>
                    <a:gd name="T55" fmla="*/ 215 h 216"/>
                    <a:gd name="T56" fmla="*/ 183 w 256"/>
                    <a:gd name="T57" fmla="*/ 191 h 216"/>
                    <a:gd name="T58" fmla="*/ 202 w 256"/>
                    <a:gd name="T59" fmla="*/ 182 h 216"/>
                    <a:gd name="T60" fmla="*/ 214 w 256"/>
                    <a:gd name="T61" fmla="*/ 177 h 216"/>
                    <a:gd name="T62" fmla="*/ 210 w 256"/>
                    <a:gd name="T63" fmla="*/ 158 h 216"/>
                    <a:gd name="T64" fmla="*/ 219 w 256"/>
                    <a:gd name="T65" fmla="*/ 126 h 216"/>
                    <a:gd name="T66" fmla="*/ 232 w 256"/>
                    <a:gd name="T67" fmla="*/ 130 h 216"/>
                    <a:gd name="T68" fmla="*/ 236 w 256"/>
                    <a:gd name="T69" fmla="*/ 145 h 216"/>
                    <a:gd name="T70" fmla="*/ 247 w 256"/>
                    <a:gd name="T71" fmla="*/ 137 h 216"/>
                    <a:gd name="T72" fmla="*/ 244 w 256"/>
                    <a:gd name="T73" fmla="*/ 134 h 216"/>
                    <a:gd name="T74" fmla="*/ 252 w 256"/>
                    <a:gd name="T75" fmla="*/ 114 h 216"/>
                    <a:gd name="T76" fmla="*/ 255 w 256"/>
                    <a:gd name="T77" fmla="*/ 137 h 216"/>
                    <a:gd name="T78" fmla="*/ 168 w 256"/>
                    <a:gd name="T79" fmla="*/ 0 h 21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256" h="216">
                      <a:moveTo>
                        <a:pt x="168" y="0"/>
                      </a:moveTo>
                      <a:lnTo>
                        <a:pt x="168" y="15"/>
                      </a:lnTo>
                      <a:lnTo>
                        <a:pt x="173" y="20"/>
                      </a:lnTo>
                      <a:lnTo>
                        <a:pt x="201" y="20"/>
                      </a:lnTo>
                      <a:lnTo>
                        <a:pt x="201" y="28"/>
                      </a:lnTo>
                      <a:lnTo>
                        <a:pt x="181" y="28"/>
                      </a:lnTo>
                      <a:lnTo>
                        <a:pt x="181" y="52"/>
                      </a:lnTo>
                      <a:lnTo>
                        <a:pt x="172" y="41"/>
                      </a:lnTo>
                      <a:lnTo>
                        <a:pt x="172" y="56"/>
                      </a:lnTo>
                      <a:lnTo>
                        <a:pt x="160" y="70"/>
                      </a:lnTo>
                      <a:lnTo>
                        <a:pt x="152" y="62"/>
                      </a:lnTo>
                      <a:lnTo>
                        <a:pt x="140" y="72"/>
                      </a:lnTo>
                      <a:lnTo>
                        <a:pt x="138" y="69"/>
                      </a:lnTo>
                      <a:lnTo>
                        <a:pt x="123" y="69"/>
                      </a:lnTo>
                      <a:lnTo>
                        <a:pt x="131" y="59"/>
                      </a:lnTo>
                      <a:lnTo>
                        <a:pt x="131" y="55"/>
                      </a:lnTo>
                      <a:lnTo>
                        <a:pt x="124" y="48"/>
                      </a:lnTo>
                      <a:lnTo>
                        <a:pt x="124" y="37"/>
                      </a:lnTo>
                      <a:lnTo>
                        <a:pt x="114" y="48"/>
                      </a:lnTo>
                      <a:lnTo>
                        <a:pt x="114" y="69"/>
                      </a:lnTo>
                      <a:lnTo>
                        <a:pt x="102" y="69"/>
                      </a:lnTo>
                      <a:lnTo>
                        <a:pt x="87" y="84"/>
                      </a:lnTo>
                      <a:lnTo>
                        <a:pt x="81" y="84"/>
                      </a:lnTo>
                      <a:lnTo>
                        <a:pt x="73" y="94"/>
                      </a:lnTo>
                      <a:lnTo>
                        <a:pt x="43" y="94"/>
                      </a:lnTo>
                      <a:lnTo>
                        <a:pt x="53" y="108"/>
                      </a:lnTo>
                      <a:lnTo>
                        <a:pt x="53" y="130"/>
                      </a:lnTo>
                      <a:lnTo>
                        <a:pt x="43" y="143"/>
                      </a:lnTo>
                      <a:lnTo>
                        <a:pt x="31" y="130"/>
                      </a:lnTo>
                      <a:lnTo>
                        <a:pt x="8" y="130"/>
                      </a:lnTo>
                      <a:lnTo>
                        <a:pt x="8" y="146"/>
                      </a:lnTo>
                      <a:lnTo>
                        <a:pt x="0" y="156"/>
                      </a:lnTo>
                      <a:lnTo>
                        <a:pt x="0" y="177"/>
                      </a:lnTo>
                      <a:lnTo>
                        <a:pt x="15" y="194"/>
                      </a:lnTo>
                      <a:lnTo>
                        <a:pt x="37" y="194"/>
                      </a:lnTo>
                      <a:lnTo>
                        <a:pt x="71" y="153"/>
                      </a:lnTo>
                      <a:lnTo>
                        <a:pt x="101" y="153"/>
                      </a:lnTo>
                      <a:lnTo>
                        <a:pt x="105" y="145"/>
                      </a:lnTo>
                      <a:lnTo>
                        <a:pt x="112" y="153"/>
                      </a:lnTo>
                      <a:lnTo>
                        <a:pt x="111" y="161"/>
                      </a:lnTo>
                      <a:lnTo>
                        <a:pt x="139" y="189"/>
                      </a:lnTo>
                      <a:lnTo>
                        <a:pt x="139" y="201"/>
                      </a:lnTo>
                      <a:lnTo>
                        <a:pt x="145" y="196"/>
                      </a:lnTo>
                      <a:lnTo>
                        <a:pt x="142" y="189"/>
                      </a:lnTo>
                      <a:lnTo>
                        <a:pt x="145" y="185"/>
                      </a:lnTo>
                      <a:lnTo>
                        <a:pt x="150" y="189"/>
                      </a:lnTo>
                      <a:lnTo>
                        <a:pt x="152" y="188"/>
                      </a:lnTo>
                      <a:lnTo>
                        <a:pt x="123" y="152"/>
                      </a:lnTo>
                      <a:lnTo>
                        <a:pt x="123" y="139"/>
                      </a:lnTo>
                      <a:lnTo>
                        <a:pt x="131" y="139"/>
                      </a:lnTo>
                      <a:lnTo>
                        <a:pt x="131" y="146"/>
                      </a:lnTo>
                      <a:lnTo>
                        <a:pt x="160" y="178"/>
                      </a:lnTo>
                      <a:lnTo>
                        <a:pt x="160" y="188"/>
                      </a:lnTo>
                      <a:lnTo>
                        <a:pt x="172" y="202"/>
                      </a:lnTo>
                      <a:lnTo>
                        <a:pt x="169" y="205"/>
                      </a:lnTo>
                      <a:lnTo>
                        <a:pt x="178" y="215"/>
                      </a:lnTo>
                      <a:lnTo>
                        <a:pt x="191" y="200"/>
                      </a:lnTo>
                      <a:lnTo>
                        <a:pt x="183" y="191"/>
                      </a:lnTo>
                      <a:lnTo>
                        <a:pt x="191" y="182"/>
                      </a:lnTo>
                      <a:lnTo>
                        <a:pt x="202" y="182"/>
                      </a:lnTo>
                      <a:lnTo>
                        <a:pt x="207" y="177"/>
                      </a:lnTo>
                      <a:lnTo>
                        <a:pt x="214" y="177"/>
                      </a:lnTo>
                      <a:lnTo>
                        <a:pt x="205" y="164"/>
                      </a:lnTo>
                      <a:lnTo>
                        <a:pt x="210" y="158"/>
                      </a:lnTo>
                      <a:lnTo>
                        <a:pt x="210" y="137"/>
                      </a:lnTo>
                      <a:lnTo>
                        <a:pt x="219" y="126"/>
                      </a:lnTo>
                      <a:lnTo>
                        <a:pt x="223" y="130"/>
                      </a:lnTo>
                      <a:lnTo>
                        <a:pt x="232" y="130"/>
                      </a:lnTo>
                      <a:lnTo>
                        <a:pt x="228" y="136"/>
                      </a:lnTo>
                      <a:lnTo>
                        <a:pt x="236" y="145"/>
                      </a:lnTo>
                      <a:lnTo>
                        <a:pt x="241" y="137"/>
                      </a:lnTo>
                      <a:lnTo>
                        <a:pt x="247" y="137"/>
                      </a:lnTo>
                      <a:lnTo>
                        <a:pt x="247" y="134"/>
                      </a:lnTo>
                      <a:lnTo>
                        <a:pt x="244" y="134"/>
                      </a:lnTo>
                      <a:lnTo>
                        <a:pt x="239" y="130"/>
                      </a:lnTo>
                      <a:lnTo>
                        <a:pt x="252" y="114"/>
                      </a:lnTo>
                      <a:lnTo>
                        <a:pt x="252" y="137"/>
                      </a:lnTo>
                      <a:lnTo>
                        <a:pt x="255" y="137"/>
                      </a:lnTo>
                      <a:lnTo>
                        <a:pt x="255" y="0"/>
                      </a:lnTo>
                      <a:lnTo>
                        <a:pt x="16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22">
                  <a:extLst>
                    <a:ext uri="{FF2B5EF4-FFF2-40B4-BE49-F238E27FC236}">
                      <a16:creationId xmlns:a16="http://schemas.microsoft.com/office/drawing/2014/main" id="{3EC346EF-CA22-2398-5083-CF4465D6D3B9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76" y="406"/>
                  <a:ext cx="1089" cy="769"/>
                </a:xfrm>
                <a:custGeom>
                  <a:avLst/>
                  <a:gdLst>
                    <a:gd name="T0" fmla="*/ 32 w 1089"/>
                    <a:gd name="T1" fmla="*/ 202 h 769"/>
                    <a:gd name="T2" fmla="*/ 99 w 1089"/>
                    <a:gd name="T3" fmla="*/ 134 h 769"/>
                    <a:gd name="T4" fmla="*/ 142 w 1089"/>
                    <a:gd name="T5" fmla="*/ 181 h 769"/>
                    <a:gd name="T6" fmla="*/ 118 w 1089"/>
                    <a:gd name="T7" fmla="*/ 179 h 769"/>
                    <a:gd name="T8" fmla="*/ 216 w 1089"/>
                    <a:gd name="T9" fmla="*/ 172 h 769"/>
                    <a:gd name="T10" fmla="*/ 240 w 1089"/>
                    <a:gd name="T11" fmla="*/ 110 h 769"/>
                    <a:gd name="T12" fmla="*/ 241 w 1089"/>
                    <a:gd name="T13" fmla="*/ 124 h 769"/>
                    <a:gd name="T14" fmla="*/ 223 w 1089"/>
                    <a:gd name="T15" fmla="*/ 172 h 769"/>
                    <a:gd name="T16" fmla="*/ 301 w 1089"/>
                    <a:gd name="T17" fmla="*/ 133 h 769"/>
                    <a:gd name="T18" fmla="*/ 460 w 1089"/>
                    <a:gd name="T19" fmla="*/ 23 h 769"/>
                    <a:gd name="T20" fmla="*/ 574 w 1089"/>
                    <a:gd name="T21" fmla="*/ 29 h 769"/>
                    <a:gd name="T22" fmla="*/ 701 w 1089"/>
                    <a:gd name="T23" fmla="*/ 15 h 769"/>
                    <a:gd name="T24" fmla="*/ 840 w 1089"/>
                    <a:gd name="T25" fmla="*/ 71 h 769"/>
                    <a:gd name="T26" fmla="*/ 1001 w 1089"/>
                    <a:gd name="T27" fmla="*/ 91 h 769"/>
                    <a:gd name="T28" fmla="*/ 1080 w 1089"/>
                    <a:gd name="T29" fmla="*/ 156 h 769"/>
                    <a:gd name="T30" fmla="*/ 1019 w 1089"/>
                    <a:gd name="T31" fmla="*/ 206 h 769"/>
                    <a:gd name="T32" fmla="*/ 985 w 1089"/>
                    <a:gd name="T33" fmla="*/ 270 h 769"/>
                    <a:gd name="T34" fmla="*/ 945 w 1089"/>
                    <a:gd name="T35" fmla="*/ 273 h 769"/>
                    <a:gd name="T36" fmla="*/ 958 w 1089"/>
                    <a:gd name="T37" fmla="*/ 184 h 769"/>
                    <a:gd name="T38" fmla="*/ 906 w 1089"/>
                    <a:gd name="T39" fmla="*/ 232 h 769"/>
                    <a:gd name="T40" fmla="*/ 868 w 1089"/>
                    <a:gd name="T41" fmla="*/ 273 h 769"/>
                    <a:gd name="T42" fmla="*/ 881 w 1089"/>
                    <a:gd name="T43" fmla="*/ 318 h 769"/>
                    <a:gd name="T44" fmla="*/ 837 w 1089"/>
                    <a:gd name="T45" fmla="*/ 385 h 769"/>
                    <a:gd name="T46" fmla="*/ 844 w 1089"/>
                    <a:gd name="T47" fmla="*/ 439 h 769"/>
                    <a:gd name="T48" fmla="*/ 839 w 1089"/>
                    <a:gd name="T49" fmla="*/ 413 h 769"/>
                    <a:gd name="T50" fmla="*/ 797 w 1089"/>
                    <a:gd name="T51" fmla="*/ 416 h 769"/>
                    <a:gd name="T52" fmla="*/ 828 w 1089"/>
                    <a:gd name="T53" fmla="*/ 496 h 769"/>
                    <a:gd name="T54" fmla="*/ 751 w 1089"/>
                    <a:gd name="T55" fmla="*/ 589 h 769"/>
                    <a:gd name="T56" fmla="*/ 730 w 1089"/>
                    <a:gd name="T57" fmla="*/ 615 h 769"/>
                    <a:gd name="T58" fmla="*/ 703 w 1089"/>
                    <a:gd name="T59" fmla="*/ 706 h 769"/>
                    <a:gd name="T60" fmla="*/ 665 w 1089"/>
                    <a:gd name="T61" fmla="*/ 708 h 769"/>
                    <a:gd name="T62" fmla="*/ 711 w 1089"/>
                    <a:gd name="T63" fmla="*/ 768 h 769"/>
                    <a:gd name="T64" fmla="*/ 634 w 1089"/>
                    <a:gd name="T65" fmla="*/ 626 h 769"/>
                    <a:gd name="T66" fmla="*/ 545 w 1089"/>
                    <a:gd name="T67" fmla="*/ 596 h 769"/>
                    <a:gd name="T68" fmla="*/ 503 w 1089"/>
                    <a:gd name="T69" fmla="*/ 689 h 769"/>
                    <a:gd name="T70" fmla="*/ 471 w 1089"/>
                    <a:gd name="T71" fmla="*/ 738 h 769"/>
                    <a:gd name="T72" fmla="*/ 416 w 1089"/>
                    <a:gd name="T73" fmla="*/ 592 h 769"/>
                    <a:gd name="T74" fmla="*/ 373 w 1089"/>
                    <a:gd name="T75" fmla="*/ 607 h 769"/>
                    <a:gd name="T76" fmla="*/ 336 w 1089"/>
                    <a:gd name="T77" fmla="*/ 545 h 769"/>
                    <a:gd name="T78" fmla="*/ 223 w 1089"/>
                    <a:gd name="T79" fmla="*/ 510 h 769"/>
                    <a:gd name="T80" fmla="*/ 263 w 1089"/>
                    <a:gd name="T81" fmla="*/ 577 h 769"/>
                    <a:gd name="T82" fmla="*/ 234 w 1089"/>
                    <a:gd name="T83" fmla="*/ 620 h 769"/>
                    <a:gd name="T84" fmla="*/ 190 w 1089"/>
                    <a:gd name="T85" fmla="*/ 605 h 769"/>
                    <a:gd name="T86" fmla="*/ 119 w 1089"/>
                    <a:gd name="T87" fmla="*/ 495 h 769"/>
                    <a:gd name="T88" fmla="*/ 149 w 1089"/>
                    <a:gd name="T89" fmla="*/ 432 h 769"/>
                    <a:gd name="T90" fmla="*/ 166 w 1089"/>
                    <a:gd name="T91" fmla="*/ 385 h 769"/>
                    <a:gd name="T92" fmla="*/ 149 w 1089"/>
                    <a:gd name="T93" fmla="*/ 226 h 769"/>
                    <a:gd name="T94" fmla="*/ 86 w 1089"/>
                    <a:gd name="T95" fmla="*/ 193 h 769"/>
                    <a:gd name="T96" fmla="*/ 55 w 1089"/>
                    <a:gd name="T97" fmla="*/ 210 h 769"/>
                    <a:gd name="T98" fmla="*/ 0 w 1089"/>
                    <a:gd name="T99" fmla="*/ 226 h 76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1089" h="769">
                      <a:moveTo>
                        <a:pt x="0" y="226"/>
                      </a:moveTo>
                      <a:lnTo>
                        <a:pt x="32" y="202"/>
                      </a:lnTo>
                      <a:lnTo>
                        <a:pt x="62" y="156"/>
                      </a:lnTo>
                      <a:lnTo>
                        <a:pt x="99" y="134"/>
                      </a:lnTo>
                      <a:lnTo>
                        <a:pt x="137" y="160"/>
                      </a:lnTo>
                      <a:lnTo>
                        <a:pt x="142" y="181"/>
                      </a:lnTo>
                      <a:lnTo>
                        <a:pt x="133" y="181"/>
                      </a:lnTo>
                      <a:lnTo>
                        <a:pt x="118" y="179"/>
                      </a:lnTo>
                      <a:lnTo>
                        <a:pt x="137" y="202"/>
                      </a:lnTo>
                      <a:lnTo>
                        <a:pt x="216" y="172"/>
                      </a:lnTo>
                      <a:lnTo>
                        <a:pt x="206" y="149"/>
                      </a:lnTo>
                      <a:lnTo>
                        <a:pt x="240" y="110"/>
                      </a:lnTo>
                      <a:lnTo>
                        <a:pt x="262" y="111"/>
                      </a:lnTo>
                      <a:lnTo>
                        <a:pt x="241" y="124"/>
                      </a:lnTo>
                      <a:lnTo>
                        <a:pt x="223" y="153"/>
                      </a:lnTo>
                      <a:lnTo>
                        <a:pt x="223" y="172"/>
                      </a:lnTo>
                      <a:lnTo>
                        <a:pt x="255" y="193"/>
                      </a:lnTo>
                      <a:lnTo>
                        <a:pt x="301" y="133"/>
                      </a:lnTo>
                      <a:lnTo>
                        <a:pt x="461" y="63"/>
                      </a:lnTo>
                      <a:lnTo>
                        <a:pt x="460" y="23"/>
                      </a:lnTo>
                      <a:lnTo>
                        <a:pt x="533" y="8"/>
                      </a:lnTo>
                      <a:lnTo>
                        <a:pt x="574" y="29"/>
                      </a:lnTo>
                      <a:lnTo>
                        <a:pt x="671" y="0"/>
                      </a:lnTo>
                      <a:lnTo>
                        <a:pt x="701" y="15"/>
                      </a:lnTo>
                      <a:lnTo>
                        <a:pt x="766" y="85"/>
                      </a:lnTo>
                      <a:lnTo>
                        <a:pt x="840" y="71"/>
                      </a:lnTo>
                      <a:lnTo>
                        <a:pt x="886" y="96"/>
                      </a:lnTo>
                      <a:lnTo>
                        <a:pt x="1001" y="91"/>
                      </a:lnTo>
                      <a:lnTo>
                        <a:pt x="1088" y="118"/>
                      </a:lnTo>
                      <a:lnTo>
                        <a:pt x="1080" y="156"/>
                      </a:lnTo>
                      <a:lnTo>
                        <a:pt x="1006" y="181"/>
                      </a:lnTo>
                      <a:lnTo>
                        <a:pt x="1019" y="206"/>
                      </a:lnTo>
                      <a:lnTo>
                        <a:pt x="987" y="220"/>
                      </a:lnTo>
                      <a:lnTo>
                        <a:pt x="985" y="270"/>
                      </a:lnTo>
                      <a:lnTo>
                        <a:pt x="957" y="304"/>
                      </a:lnTo>
                      <a:lnTo>
                        <a:pt x="945" y="273"/>
                      </a:lnTo>
                      <a:lnTo>
                        <a:pt x="961" y="244"/>
                      </a:lnTo>
                      <a:lnTo>
                        <a:pt x="958" y="184"/>
                      </a:lnTo>
                      <a:lnTo>
                        <a:pt x="929" y="215"/>
                      </a:lnTo>
                      <a:lnTo>
                        <a:pt x="906" y="232"/>
                      </a:lnTo>
                      <a:lnTo>
                        <a:pt x="884" y="205"/>
                      </a:lnTo>
                      <a:lnTo>
                        <a:pt x="868" y="273"/>
                      </a:lnTo>
                      <a:lnTo>
                        <a:pt x="885" y="273"/>
                      </a:lnTo>
                      <a:lnTo>
                        <a:pt x="881" y="318"/>
                      </a:lnTo>
                      <a:lnTo>
                        <a:pt x="861" y="366"/>
                      </a:lnTo>
                      <a:lnTo>
                        <a:pt x="837" y="385"/>
                      </a:lnTo>
                      <a:lnTo>
                        <a:pt x="857" y="417"/>
                      </a:lnTo>
                      <a:lnTo>
                        <a:pt x="844" y="439"/>
                      </a:lnTo>
                      <a:lnTo>
                        <a:pt x="839" y="420"/>
                      </a:lnTo>
                      <a:lnTo>
                        <a:pt x="839" y="413"/>
                      </a:lnTo>
                      <a:lnTo>
                        <a:pt x="823" y="402"/>
                      </a:lnTo>
                      <a:lnTo>
                        <a:pt x="797" y="416"/>
                      </a:lnTo>
                      <a:lnTo>
                        <a:pt x="820" y="469"/>
                      </a:lnTo>
                      <a:lnTo>
                        <a:pt x="828" y="496"/>
                      </a:lnTo>
                      <a:lnTo>
                        <a:pt x="801" y="569"/>
                      </a:lnTo>
                      <a:lnTo>
                        <a:pt x="751" y="589"/>
                      </a:lnTo>
                      <a:lnTo>
                        <a:pt x="710" y="585"/>
                      </a:lnTo>
                      <a:lnTo>
                        <a:pt x="730" y="615"/>
                      </a:lnTo>
                      <a:lnTo>
                        <a:pt x="732" y="657"/>
                      </a:lnTo>
                      <a:lnTo>
                        <a:pt x="703" y="706"/>
                      </a:lnTo>
                      <a:lnTo>
                        <a:pt x="670" y="679"/>
                      </a:lnTo>
                      <a:lnTo>
                        <a:pt x="665" y="708"/>
                      </a:lnTo>
                      <a:lnTo>
                        <a:pt x="690" y="732"/>
                      </a:lnTo>
                      <a:lnTo>
                        <a:pt x="711" y="768"/>
                      </a:lnTo>
                      <a:lnTo>
                        <a:pt x="676" y="747"/>
                      </a:lnTo>
                      <a:lnTo>
                        <a:pt x="634" y="626"/>
                      </a:lnTo>
                      <a:lnTo>
                        <a:pt x="583" y="593"/>
                      </a:lnTo>
                      <a:lnTo>
                        <a:pt x="545" y="596"/>
                      </a:lnTo>
                      <a:lnTo>
                        <a:pt x="497" y="665"/>
                      </a:lnTo>
                      <a:lnTo>
                        <a:pt x="503" y="689"/>
                      </a:lnTo>
                      <a:lnTo>
                        <a:pt x="487" y="738"/>
                      </a:lnTo>
                      <a:lnTo>
                        <a:pt x="471" y="738"/>
                      </a:lnTo>
                      <a:lnTo>
                        <a:pt x="416" y="636"/>
                      </a:lnTo>
                      <a:lnTo>
                        <a:pt x="416" y="592"/>
                      </a:lnTo>
                      <a:lnTo>
                        <a:pt x="404" y="608"/>
                      </a:lnTo>
                      <a:lnTo>
                        <a:pt x="373" y="607"/>
                      </a:lnTo>
                      <a:lnTo>
                        <a:pt x="385" y="580"/>
                      </a:lnTo>
                      <a:lnTo>
                        <a:pt x="336" y="545"/>
                      </a:lnTo>
                      <a:lnTo>
                        <a:pt x="275" y="545"/>
                      </a:lnTo>
                      <a:lnTo>
                        <a:pt x="223" y="510"/>
                      </a:lnTo>
                      <a:lnTo>
                        <a:pt x="220" y="545"/>
                      </a:lnTo>
                      <a:lnTo>
                        <a:pt x="263" y="577"/>
                      </a:lnTo>
                      <a:lnTo>
                        <a:pt x="278" y="576"/>
                      </a:lnTo>
                      <a:lnTo>
                        <a:pt x="234" y="620"/>
                      </a:lnTo>
                      <a:lnTo>
                        <a:pt x="190" y="630"/>
                      </a:lnTo>
                      <a:lnTo>
                        <a:pt x="190" y="605"/>
                      </a:lnTo>
                      <a:lnTo>
                        <a:pt x="127" y="518"/>
                      </a:lnTo>
                      <a:lnTo>
                        <a:pt x="119" y="495"/>
                      </a:lnTo>
                      <a:lnTo>
                        <a:pt x="153" y="467"/>
                      </a:lnTo>
                      <a:lnTo>
                        <a:pt x="149" y="432"/>
                      </a:lnTo>
                      <a:lnTo>
                        <a:pt x="149" y="393"/>
                      </a:lnTo>
                      <a:lnTo>
                        <a:pt x="166" y="385"/>
                      </a:lnTo>
                      <a:lnTo>
                        <a:pt x="149" y="366"/>
                      </a:lnTo>
                      <a:lnTo>
                        <a:pt x="149" y="226"/>
                      </a:lnTo>
                      <a:lnTo>
                        <a:pt x="61" y="226"/>
                      </a:lnTo>
                      <a:lnTo>
                        <a:pt x="86" y="193"/>
                      </a:lnTo>
                      <a:lnTo>
                        <a:pt x="84" y="181"/>
                      </a:lnTo>
                      <a:lnTo>
                        <a:pt x="55" y="210"/>
                      </a:lnTo>
                      <a:lnTo>
                        <a:pt x="45" y="226"/>
                      </a:lnTo>
                      <a:lnTo>
                        <a:pt x="0" y="22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3">
                  <a:extLst>
                    <a:ext uri="{FF2B5EF4-FFF2-40B4-BE49-F238E27FC236}">
                      <a16:creationId xmlns:a16="http://schemas.microsoft.com/office/drawing/2014/main" id="{9C759029-545D-0FD1-5C26-4857ECA52EC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135" y="720"/>
                  <a:ext cx="94" cy="157"/>
                </a:xfrm>
                <a:custGeom>
                  <a:avLst/>
                  <a:gdLst>
                    <a:gd name="T0" fmla="*/ 63 w 94"/>
                    <a:gd name="T1" fmla="*/ 0 h 157"/>
                    <a:gd name="T2" fmla="*/ 63 w 94"/>
                    <a:gd name="T3" fmla="*/ 20 h 157"/>
                    <a:gd name="T4" fmla="*/ 55 w 94"/>
                    <a:gd name="T5" fmla="*/ 33 h 157"/>
                    <a:gd name="T6" fmla="*/ 57 w 94"/>
                    <a:gd name="T7" fmla="*/ 54 h 157"/>
                    <a:gd name="T8" fmla="*/ 47 w 94"/>
                    <a:gd name="T9" fmla="*/ 82 h 157"/>
                    <a:gd name="T10" fmla="*/ 31 w 94"/>
                    <a:gd name="T11" fmla="*/ 108 h 157"/>
                    <a:gd name="T12" fmla="*/ 7 w 94"/>
                    <a:gd name="T13" fmla="*/ 125 h 157"/>
                    <a:gd name="T14" fmla="*/ 0 w 94"/>
                    <a:gd name="T15" fmla="*/ 154 h 157"/>
                    <a:gd name="T16" fmla="*/ 10 w 94"/>
                    <a:gd name="T17" fmla="*/ 156 h 157"/>
                    <a:gd name="T18" fmla="*/ 10 w 94"/>
                    <a:gd name="T19" fmla="*/ 129 h 157"/>
                    <a:gd name="T20" fmla="*/ 44 w 94"/>
                    <a:gd name="T21" fmla="*/ 127 h 157"/>
                    <a:gd name="T22" fmla="*/ 69 w 94"/>
                    <a:gd name="T23" fmla="*/ 109 h 157"/>
                    <a:gd name="T24" fmla="*/ 69 w 94"/>
                    <a:gd name="T25" fmla="*/ 72 h 157"/>
                    <a:gd name="T26" fmla="*/ 77 w 94"/>
                    <a:gd name="T27" fmla="*/ 58 h 157"/>
                    <a:gd name="T28" fmla="*/ 64 w 94"/>
                    <a:gd name="T29" fmla="*/ 34 h 157"/>
                    <a:gd name="T30" fmla="*/ 82 w 94"/>
                    <a:gd name="T31" fmla="*/ 27 h 157"/>
                    <a:gd name="T32" fmla="*/ 93 w 94"/>
                    <a:gd name="T33" fmla="*/ 8 h 157"/>
                    <a:gd name="T34" fmla="*/ 69 w 94"/>
                    <a:gd name="T35" fmla="*/ 11 h 157"/>
                    <a:gd name="T36" fmla="*/ 63 w 94"/>
                    <a:gd name="T37" fmla="*/ 0 h 157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94" h="157">
                      <a:moveTo>
                        <a:pt x="63" y="0"/>
                      </a:moveTo>
                      <a:lnTo>
                        <a:pt x="63" y="20"/>
                      </a:lnTo>
                      <a:lnTo>
                        <a:pt x="55" y="33"/>
                      </a:lnTo>
                      <a:lnTo>
                        <a:pt x="57" y="54"/>
                      </a:lnTo>
                      <a:lnTo>
                        <a:pt x="47" y="82"/>
                      </a:lnTo>
                      <a:lnTo>
                        <a:pt x="31" y="108"/>
                      </a:lnTo>
                      <a:lnTo>
                        <a:pt x="7" y="125"/>
                      </a:lnTo>
                      <a:lnTo>
                        <a:pt x="0" y="154"/>
                      </a:lnTo>
                      <a:lnTo>
                        <a:pt x="10" y="156"/>
                      </a:lnTo>
                      <a:lnTo>
                        <a:pt x="10" y="129"/>
                      </a:lnTo>
                      <a:lnTo>
                        <a:pt x="44" y="127"/>
                      </a:lnTo>
                      <a:lnTo>
                        <a:pt x="69" y="109"/>
                      </a:lnTo>
                      <a:lnTo>
                        <a:pt x="69" y="72"/>
                      </a:lnTo>
                      <a:lnTo>
                        <a:pt x="77" y="58"/>
                      </a:lnTo>
                      <a:lnTo>
                        <a:pt x="64" y="34"/>
                      </a:lnTo>
                      <a:lnTo>
                        <a:pt x="82" y="27"/>
                      </a:lnTo>
                      <a:lnTo>
                        <a:pt x="93" y="8"/>
                      </a:lnTo>
                      <a:lnTo>
                        <a:pt x="69" y="11"/>
                      </a:lnTo>
                      <a:lnTo>
                        <a:pt x="63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 24">
                  <a:extLst>
                    <a:ext uri="{FF2B5EF4-FFF2-40B4-BE49-F238E27FC236}">
                      <a16:creationId xmlns:a16="http://schemas.microsoft.com/office/drawing/2014/main" id="{F5A51E63-E3DC-8F21-5B4B-2ECD5154E8E8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780" y="1139"/>
                  <a:ext cx="19" cy="36"/>
                </a:xfrm>
                <a:custGeom>
                  <a:avLst/>
                  <a:gdLst>
                    <a:gd name="T0" fmla="*/ 9 w 19"/>
                    <a:gd name="T1" fmla="*/ 0 h 36"/>
                    <a:gd name="T2" fmla="*/ 0 w 19"/>
                    <a:gd name="T3" fmla="*/ 16 h 36"/>
                    <a:gd name="T4" fmla="*/ 6 w 19"/>
                    <a:gd name="T5" fmla="*/ 35 h 36"/>
                    <a:gd name="T6" fmla="*/ 18 w 19"/>
                    <a:gd name="T7" fmla="*/ 21 h 36"/>
                    <a:gd name="T8" fmla="*/ 9 w 19"/>
                    <a:gd name="T9" fmla="*/ 0 h 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" h="36">
                      <a:moveTo>
                        <a:pt x="9" y="0"/>
                      </a:moveTo>
                      <a:lnTo>
                        <a:pt x="0" y="16"/>
                      </a:lnTo>
                      <a:lnTo>
                        <a:pt x="6" y="35"/>
                      </a:lnTo>
                      <a:lnTo>
                        <a:pt x="18" y="21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5">
                  <a:extLst>
                    <a:ext uri="{FF2B5EF4-FFF2-40B4-BE49-F238E27FC236}">
                      <a16:creationId xmlns:a16="http://schemas.microsoft.com/office/drawing/2014/main" id="{3349E840-3418-781A-4CA4-556736D4A160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923" y="1177"/>
                  <a:ext cx="220" cy="94"/>
                </a:xfrm>
                <a:custGeom>
                  <a:avLst/>
                  <a:gdLst>
                    <a:gd name="T0" fmla="*/ 0 w 220"/>
                    <a:gd name="T1" fmla="*/ 0 h 94"/>
                    <a:gd name="T2" fmla="*/ 33 w 220"/>
                    <a:gd name="T3" fmla="*/ 7 h 94"/>
                    <a:gd name="T4" fmla="*/ 82 w 220"/>
                    <a:gd name="T5" fmla="*/ 41 h 94"/>
                    <a:gd name="T6" fmla="*/ 75 w 220"/>
                    <a:gd name="T7" fmla="*/ 60 h 94"/>
                    <a:gd name="T8" fmla="*/ 115 w 220"/>
                    <a:gd name="T9" fmla="*/ 77 h 94"/>
                    <a:gd name="T10" fmla="*/ 219 w 220"/>
                    <a:gd name="T11" fmla="*/ 77 h 94"/>
                    <a:gd name="T12" fmla="*/ 106 w 220"/>
                    <a:gd name="T13" fmla="*/ 93 h 94"/>
                    <a:gd name="T14" fmla="*/ 75 w 220"/>
                    <a:gd name="T15" fmla="*/ 60 h 94"/>
                    <a:gd name="T16" fmla="*/ 46 w 220"/>
                    <a:gd name="T17" fmla="*/ 54 h 94"/>
                    <a:gd name="T18" fmla="*/ 0 w 220"/>
                    <a:gd name="T19" fmla="*/ 0 h 9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20" h="94">
                      <a:moveTo>
                        <a:pt x="0" y="0"/>
                      </a:moveTo>
                      <a:lnTo>
                        <a:pt x="33" y="7"/>
                      </a:lnTo>
                      <a:lnTo>
                        <a:pt x="82" y="41"/>
                      </a:lnTo>
                      <a:lnTo>
                        <a:pt x="75" y="60"/>
                      </a:lnTo>
                      <a:lnTo>
                        <a:pt x="115" y="77"/>
                      </a:lnTo>
                      <a:lnTo>
                        <a:pt x="219" y="77"/>
                      </a:lnTo>
                      <a:lnTo>
                        <a:pt x="106" y="93"/>
                      </a:lnTo>
                      <a:lnTo>
                        <a:pt x="75" y="60"/>
                      </a:lnTo>
                      <a:lnTo>
                        <a:pt x="46" y="5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Freeform 26">
                  <a:extLst>
                    <a:ext uri="{FF2B5EF4-FFF2-40B4-BE49-F238E27FC236}">
                      <a16:creationId xmlns:a16="http://schemas.microsoft.com/office/drawing/2014/main" id="{7F61EDE5-74F8-11CE-CC77-F6F3FDFC2F99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098" y="1255"/>
                  <a:ext cx="236" cy="221"/>
                </a:xfrm>
                <a:custGeom>
                  <a:avLst/>
                  <a:gdLst>
                    <a:gd name="T0" fmla="*/ 190 w 236"/>
                    <a:gd name="T1" fmla="*/ 216 h 221"/>
                    <a:gd name="T2" fmla="*/ 179 w 236"/>
                    <a:gd name="T3" fmla="*/ 212 h 221"/>
                    <a:gd name="T4" fmla="*/ 154 w 236"/>
                    <a:gd name="T5" fmla="*/ 187 h 221"/>
                    <a:gd name="T6" fmla="*/ 130 w 236"/>
                    <a:gd name="T7" fmla="*/ 182 h 221"/>
                    <a:gd name="T8" fmla="*/ 124 w 236"/>
                    <a:gd name="T9" fmla="*/ 167 h 221"/>
                    <a:gd name="T10" fmla="*/ 110 w 236"/>
                    <a:gd name="T11" fmla="*/ 155 h 221"/>
                    <a:gd name="T12" fmla="*/ 87 w 236"/>
                    <a:gd name="T13" fmla="*/ 155 h 221"/>
                    <a:gd name="T14" fmla="*/ 62 w 236"/>
                    <a:gd name="T15" fmla="*/ 165 h 221"/>
                    <a:gd name="T16" fmla="*/ 40 w 236"/>
                    <a:gd name="T17" fmla="*/ 169 h 221"/>
                    <a:gd name="T18" fmla="*/ 15 w 236"/>
                    <a:gd name="T19" fmla="*/ 169 h 221"/>
                    <a:gd name="T20" fmla="*/ 14 w 236"/>
                    <a:gd name="T21" fmla="*/ 152 h 221"/>
                    <a:gd name="T22" fmla="*/ 5 w 236"/>
                    <a:gd name="T23" fmla="*/ 127 h 221"/>
                    <a:gd name="T24" fmla="*/ 3 w 236"/>
                    <a:gd name="T25" fmla="*/ 114 h 221"/>
                    <a:gd name="T26" fmla="*/ 3 w 236"/>
                    <a:gd name="T27" fmla="*/ 79 h 221"/>
                    <a:gd name="T28" fmla="*/ 44 w 236"/>
                    <a:gd name="T29" fmla="*/ 60 h 221"/>
                    <a:gd name="T30" fmla="*/ 48 w 236"/>
                    <a:gd name="T31" fmla="*/ 41 h 221"/>
                    <a:gd name="T32" fmla="*/ 57 w 236"/>
                    <a:gd name="T33" fmla="*/ 43 h 221"/>
                    <a:gd name="T34" fmla="*/ 77 w 236"/>
                    <a:gd name="T35" fmla="*/ 22 h 221"/>
                    <a:gd name="T36" fmla="*/ 98 w 236"/>
                    <a:gd name="T37" fmla="*/ 25 h 221"/>
                    <a:gd name="T38" fmla="*/ 113 w 236"/>
                    <a:gd name="T39" fmla="*/ 10 h 221"/>
                    <a:gd name="T40" fmla="*/ 125 w 236"/>
                    <a:gd name="T41" fmla="*/ 8 h 221"/>
                    <a:gd name="T42" fmla="*/ 145 w 236"/>
                    <a:gd name="T43" fmla="*/ 34 h 221"/>
                    <a:gd name="T44" fmla="*/ 163 w 236"/>
                    <a:gd name="T45" fmla="*/ 43 h 221"/>
                    <a:gd name="T46" fmla="*/ 165 w 236"/>
                    <a:gd name="T47" fmla="*/ 16 h 221"/>
                    <a:gd name="T48" fmla="*/ 172 w 236"/>
                    <a:gd name="T49" fmla="*/ 0 h 221"/>
                    <a:gd name="T50" fmla="*/ 185 w 236"/>
                    <a:gd name="T51" fmla="*/ 22 h 221"/>
                    <a:gd name="T52" fmla="*/ 196 w 236"/>
                    <a:gd name="T53" fmla="*/ 60 h 221"/>
                    <a:gd name="T54" fmla="*/ 219 w 236"/>
                    <a:gd name="T55" fmla="*/ 83 h 221"/>
                    <a:gd name="T56" fmla="*/ 232 w 236"/>
                    <a:gd name="T57" fmla="*/ 101 h 221"/>
                    <a:gd name="T58" fmla="*/ 235 w 236"/>
                    <a:gd name="T59" fmla="*/ 133 h 221"/>
                    <a:gd name="T60" fmla="*/ 221 w 236"/>
                    <a:gd name="T61" fmla="*/ 169 h 221"/>
                    <a:gd name="T62" fmla="*/ 217 w 236"/>
                    <a:gd name="T63" fmla="*/ 202 h 221"/>
                    <a:gd name="T64" fmla="*/ 196 w 236"/>
                    <a:gd name="T65" fmla="*/ 215 h 22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236" h="221">
                      <a:moveTo>
                        <a:pt x="196" y="215"/>
                      </a:moveTo>
                      <a:lnTo>
                        <a:pt x="190" y="216"/>
                      </a:lnTo>
                      <a:lnTo>
                        <a:pt x="185" y="220"/>
                      </a:lnTo>
                      <a:lnTo>
                        <a:pt x="179" y="212"/>
                      </a:lnTo>
                      <a:lnTo>
                        <a:pt x="158" y="202"/>
                      </a:lnTo>
                      <a:lnTo>
                        <a:pt x="154" y="187"/>
                      </a:lnTo>
                      <a:lnTo>
                        <a:pt x="147" y="182"/>
                      </a:lnTo>
                      <a:lnTo>
                        <a:pt x="130" y="182"/>
                      </a:lnTo>
                      <a:lnTo>
                        <a:pt x="130" y="170"/>
                      </a:lnTo>
                      <a:lnTo>
                        <a:pt x="124" y="167"/>
                      </a:lnTo>
                      <a:lnTo>
                        <a:pt x="123" y="157"/>
                      </a:lnTo>
                      <a:lnTo>
                        <a:pt x="110" y="155"/>
                      </a:lnTo>
                      <a:lnTo>
                        <a:pt x="98" y="152"/>
                      </a:lnTo>
                      <a:lnTo>
                        <a:pt x="87" y="155"/>
                      </a:lnTo>
                      <a:lnTo>
                        <a:pt x="87" y="157"/>
                      </a:lnTo>
                      <a:lnTo>
                        <a:pt x="62" y="165"/>
                      </a:lnTo>
                      <a:lnTo>
                        <a:pt x="62" y="169"/>
                      </a:lnTo>
                      <a:lnTo>
                        <a:pt x="40" y="169"/>
                      </a:lnTo>
                      <a:lnTo>
                        <a:pt x="28" y="176"/>
                      </a:lnTo>
                      <a:lnTo>
                        <a:pt x="15" y="169"/>
                      </a:lnTo>
                      <a:lnTo>
                        <a:pt x="14" y="167"/>
                      </a:lnTo>
                      <a:lnTo>
                        <a:pt x="14" y="152"/>
                      </a:lnTo>
                      <a:lnTo>
                        <a:pt x="10" y="139"/>
                      </a:lnTo>
                      <a:lnTo>
                        <a:pt x="5" y="127"/>
                      </a:lnTo>
                      <a:lnTo>
                        <a:pt x="8" y="118"/>
                      </a:lnTo>
                      <a:lnTo>
                        <a:pt x="3" y="114"/>
                      </a:lnTo>
                      <a:lnTo>
                        <a:pt x="0" y="93"/>
                      </a:lnTo>
                      <a:lnTo>
                        <a:pt x="3" y="79"/>
                      </a:lnTo>
                      <a:lnTo>
                        <a:pt x="16" y="68"/>
                      </a:lnTo>
                      <a:lnTo>
                        <a:pt x="44" y="60"/>
                      </a:lnTo>
                      <a:lnTo>
                        <a:pt x="51" y="51"/>
                      </a:lnTo>
                      <a:lnTo>
                        <a:pt x="48" y="41"/>
                      </a:lnTo>
                      <a:lnTo>
                        <a:pt x="55" y="38"/>
                      </a:lnTo>
                      <a:lnTo>
                        <a:pt x="57" y="43"/>
                      </a:lnTo>
                      <a:lnTo>
                        <a:pt x="60" y="35"/>
                      </a:lnTo>
                      <a:lnTo>
                        <a:pt x="77" y="22"/>
                      </a:lnTo>
                      <a:lnTo>
                        <a:pt x="87" y="28"/>
                      </a:lnTo>
                      <a:lnTo>
                        <a:pt x="98" y="25"/>
                      </a:lnTo>
                      <a:lnTo>
                        <a:pt x="102" y="13"/>
                      </a:lnTo>
                      <a:lnTo>
                        <a:pt x="113" y="10"/>
                      </a:lnTo>
                      <a:lnTo>
                        <a:pt x="110" y="2"/>
                      </a:lnTo>
                      <a:lnTo>
                        <a:pt x="125" y="8"/>
                      </a:lnTo>
                      <a:lnTo>
                        <a:pt x="138" y="5"/>
                      </a:lnTo>
                      <a:lnTo>
                        <a:pt x="145" y="34"/>
                      </a:lnTo>
                      <a:lnTo>
                        <a:pt x="154" y="43"/>
                      </a:lnTo>
                      <a:lnTo>
                        <a:pt x="163" y="43"/>
                      </a:lnTo>
                      <a:lnTo>
                        <a:pt x="167" y="25"/>
                      </a:lnTo>
                      <a:lnTo>
                        <a:pt x="165" y="16"/>
                      </a:lnTo>
                      <a:lnTo>
                        <a:pt x="167" y="2"/>
                      </a:lnTo>
                      <a:lnTo>
                        <a:pt x="172" y="0"/>
                      </a:lnTo>
                      <a:lnTo>
                        <a:pt x="179" y="18"/>
                      </a:lnTo>
                      <a:lnTo>
                        <a:pt x="185" y="22"/>
                      </a:lnTo>
                      <a:lnTo>
                        <a:pt x="189" y="38"/>
                      </a:lnTo>
                      <a:lnTo>
                        <a:pt x="196" y="60"/>
                      </a:lnTo>
                      <a:lnTo>
                        <a:pt x="206" y="66"/>
                      </a:lnTo>
                      <a:lnTo>
                        <a:pt x="219" y="83"/>
                      </a:lnTo>
                      <a:lnTo>
                        <a:pt x="221" y="91"/>
                      </a:lnTo>
                      <a:lnTo>
                        <a:pt x="232" y="101"/>
                      </a:lnTo>
                      <a:lnTo>
                        <a:pt x="235" y="119"/>
                      </a:lnTo>
                      <a:lnTo>
                        <a:pt x="235" y="133"/>
                      </a:lnTo>
                      <a:lnTo>
                        <a:pt x="232" y="155"/>
                      </a:lnTo>
                      <a:lnTo>
                        <a:pt x="221" y="169"/>
                      </a:lnTo>
                      <a:lnTo>
                        <a:pt x="217" y="187"/>
                      </a:lnTo>
                      <a:lnTo>
                        <a:pt x="217" y="202"/>
                      </a:lnTo>
                      <a:lnTo>
                        <a:pt x="206" y="205"/>
                      </a:lnTo>
                      <a:lnTo>
                        <a:pt x="196" y="21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27">
                  <a:extLst>
                    <a:ext uri="{FF2B5EF4-FFF2-40B4-BE49-F238E27FC236}">
                      <a16:creationId xmlns:a16="http://schemas.microsoft.com/office/drawing/2014/main" id="{768CBBAD-C663-CE81-7E17-261F617A26CF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286" y="1488"/>
                  <a:ext cx="18" cy="27"/>
                </a:xfrm>
                <a:custGeom>
                  <a:avLst/>
                  <a:gdLst>
                    <a:gd name="T0" fmla="*/ 9 w 18"/>
                    <a:gd name="T1" fmla="*/ 23 h 27"/>
                    <a:gd name="T2" fmla="*/ 3 w 18"/>
                    <a:gd name="T3" fmla="*/ 19 h 27"/>
                    <a:gd name="T4" fmla="*/ 3 w 18"/>
                    <a:gd name="T5" fmla="*/ 15 h 27"/>
                    <a:gd name="T6" fmla="*/ 3 w 18"/>
                    <a:gd name="T7" fmla="*/ 11 h 27"/>
                    <a:gd name="T8" fmla="*/ 2 w 18"/>
                    <a:gd name="T9" fmla="*/ 7 h 27"/>
                    <a:gd name="T10" fmla="*/ 0 w 18"/>
                    <a:gd name="T11" fmla="*/ 0 h 27"/>
                    <a:gd name="T12" fmla="*/ 3 w 18"/>
                    <a:gd name="T13" fmla="*/ 0 h 27"/>
                    <a:gd name="T14" fmla="*/ 9 w 18"/>
                    <a:gd name="T15" fmla="*/ 4 h 27"/>
                    <a:gd name="T16" fmla="*/ 12 w 18"/>
                    <a:gd name="T17" fmla="*/ 3 h 27"/>
                    <a:gd name="T18" fmla="*/ 13 w 18"/>
                    <a:gd name="T19" fmla="*/ 3 h 27"/>
                    <a:gd name="T20" fmla="*/ 17 w 18"/>
                    <a:gd name="T21" fmla="*/ 0 h 27"/>
                    <a:gd name="T22" fmla="*/ 17 w 18"/>
                    <a:gd name="T23" fmla="*/ 11 h 27"/>
                    <a:gd name="T24" fmla="*/ 15 w 18"/>
                    <a:gd name="T25" fmla="*/ 15 h 27"/>
                    <a:gd name="T26" fmla="*/ 13 w 18"/>
                    <a:gd name="T27" fmla="*/ 19 h 27"/>
                    <a:gd name="T28" fmla="*/ 13 w 18"/>
                    <a:gd name="T29" fmla="*/ 22 h 27"/>
                    <a:gd name="T30" fmla="*/ 12 w 18"/>
                    <a:gd name="T31" fmla="*/ 23 h 27"/>
                    <a:gd name="T32" fmla="*/ 12 w 18"/>
                    <a:gd name="T33" fmla="*/ 26 h 27"/>
                    <a:gd name="T34" fmla="*/ 9 w 18"/>
                    <a:gd name="T35" fmla="*/ 23 h 27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8" h="27">
                      <a:moveTo>
                        <a:pt x="9" y="23"/>
                      </a:moveTo>
                      <a:lnTo>
                        <a:pt x="3" y="19"/>
                      </a:lnTo>
                      <a:lnTo>
                        <a:pt x="3" y="15"/>
                      </a:lnTo>
                      <a:lnTo>
                        <a:pt x="3" y="11"/>
                      </a:lnTo>
                      <a:lnTo>
                        <a:pt x="2" y="7"/>
                      </a:ln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9" y="4"/>
                      </a:lnTo>
                      <a:lnTo>
                        <a:pt x="12" y="3"/>
                      </a:lnTo>
                      <a:lnTo>
                        <a:pt x="13" y="3"/>
                      </a:lnTo>
                      <a:lnTo>
                        <a:pt x="17" y="0"/>
                      </a:lnTo>
                      <a:lnTo>
                        <a:pt x="17" y="11"/>
                      </a:lnTo>
                      <a:lnTo>
                        <a:pt x="15" y="15"/>
                      </a:lnTo>
                      <a:lnTo>
                        <a:pt x="13" y="19"/>
                      </a:lnTo>
                      <a:lnTo>
                        <a:pt x="13" y="22"/>
                      </a:lnTo>
                      <a:lnTo>
                        <a:pt x="12" y="23"/>
                      </a:lnTo>
                      <a:lnTo>
                        <a:pt x="12" y="26"/>
                      </a:lnTo>
                      <a:lnTo>
                        <a:pt x="9" y="23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28">
                  <a:extLst>
                    <a:ext uri="{FF2B5EF4-FFF2-40B4-BE49-F238E27FC236}">
                      <a16:creationId xmlns:a16="http://schemas.microsoft.com/office/drawing/2014/main" id="{792DA694-04AE-16AC-ED09-9CCA9BE09FA4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463" y="1235"/>
                  <a:ext cx="26" cy="106"/>
                </a:xfrm>
                <a:custGeom>
                  <a:avLst/>
                  <a:gdLst>
                    <a:gd name="T0" fmla="*/ 3 w 26"/>
                    <a:gd name="T1" fmla="*/ 37 h 106"/>
                    <a:gd name="T2" fmla="*/ 13 w 26"/>
                    <a:gd name="T3" fmla="*/ 28 h 106"/>
                    <a:gd name="T4" fmla="*/ 20 w 26"/>
                    <a:gd name="T5" fmla="*/ 0 h 106"/>
                    <a:gd name="T6" fmla="*/ 25 w 26"/>
                    <a:gd name="T7" fmla="*/ 42 h 106"/>
                    <a:gd name="T8" fmla="*/ 17 w 26"/>
                    <a:gd name="T9" fmla="*/ 94 h 106"/>
                    <a:gd name="T10" fmla="*/ 0 w 26"/>
                    <a:gd name="T11" fmla="*/ 105 h 106"/>
                    <a:gd name="T12" fmla="*/ 0 w 26"/>
                    <a:gd name="T13" fmla="*/ 80 h 106"/>
                    <a:gd name="T14" fmla="*/ 5 w 26"/>
                    <a:gd name="T15" fmla="*/ 64 h 106"/>
                    <a:gd name="T16" fmla="*/ 3 w 26"/>
                    <a:gd name="T17" fmla="*/ 37 h 10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6" h="106">
                      <a:moveTo>
                        <a:pt x="3" y="37"/>
                      </a:moveTo>
                      <a:lnTo>
                        <a:pt x="13" y="28"/>
                      </a:lnTo>
                      <a:lnTo>
                        <a:pt x="20" y="0"/>
                      </a:lnTo>
                      <a:lnTo>
                        <a:pt x="25" y="42"/>
                      </a:lnTo>
                      <a:lnTo>
                        <a:pt x="17" y="94"/>
                      </a:lnTo>
                      <a:lnTo>
                        <a:pt x="0" y="105"/>
                      </a:lnTo>
                      <a:lnTo>
                        <a:pt x="0" y="80"/>
                      </a:lnTo>
                      <a:lnTo>
                        <a:pt x="5" y="64"/>
                      </a:lnTo>
                      <a:lnTo>
                        <a:pt x="3" y="37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3104" name="Rectangle 3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3429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105" name="Rectangle 3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4648200"/>
            <a:ext cx="6400800" cy="1752600"/>
          </a:xfrm>
        </p:spPr>
        <p:txBody>
          <a:bodyPr anchor="ctr"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2" name="Rectangle 34">
            <a:extLst>
              <a:ext uri="{FF2B5EF4-FFF2-40B4-BE49-F238E27FC236}">
                <a16:creationId xmlns:a16="http://schemas.microsoft.com/office/drawing/2014/main" id="{126B9031-4FC8-870E-71F5-B0C8E2809D8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" name="Rectangle 35">
            <a:extLst>
              <a:ext uri="{FF2B5EF4-FFF2-40B4-BE49-F238E27FC236}">
                <a16:creationId xmlns:a16="http://schemas.microsoft.com/office/drawing/2014/main" id="{6E554628-F177-1557-71BA-840A772DDA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US"/>
              <a:t>Liang, Introduction to Java Programming, Ninth Edition, (c) 2013 Pearson Education, Inc. All rights reserved. </a:t>
            </a:r>
          </a:p>
        </p:txBody>
      </p:sp>
      <p:sp>
        <p:nvSpPr>
          <p:cNvPr id="34" name="Rectangle 36">
            <a:extLst>
              <a:ext uri="{FF2B5EF4-FFF2-40B4-BE49-F238E27FC236}">
                <a16:creationId xmlns:a16="http://schemas.microsoft.com/office/drawing/2014/main" id="{F6FCBDFA-D027-5C85-13DD-80F0E883A0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4453797-B3A9-47DA-AF06-1564B7A3F0B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662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8D6F913C-BF9F-62DD-0746-03A9B1E1EF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A9B27530-B416-C900-4B48-DE6139B59B0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432A80-80B3-4232-B364-AC82A9F23ED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1849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DB1123D8-CCF0-01D6-234C-010ED62A40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6D74423A-C05C-ABA0-FB55-9052F622016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84A2FF-0779-489D-8FCC-9D3E7E05674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0345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184EE5A4-EB14-AE7E-5D74-C2CF2F732A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E8E09C7A-FA25-4150-0D4F-4E2952420E4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E98996-A3A5-440E-A16A-BBB0AF4D9ED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8801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2">
            <a:extLst>
              <a:ext uri="{FF2B5EF4-FFF2-40B4-BE49-F238E27FC236}">
                <a16:creationId xmlns:a16="http://schemas.microsoft.com/office/drawing/2014/main" id="{1038913F-E954-2DFB-976E-83BD255956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4">
            <a:extLst>
              <a:ext uri="{FF2B5EF4-FFF2-40B4-BE49-F238E27FC236}">
                <a16:creationId xmlns:a16="http://schemas.microsoft.com/office/drawing/2014/main" id="{AC9F7820-6169-CA61-D520-0F45B59C59A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07579E-B50B-4EDF-80A1-B0F5039334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550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90627755-A2FD-7D9E-6B24-4D0A37336E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4">
            <a:extLst>
              <a:ext uri="{FF2B5EF4-FFF2-40B4-BE49-F238E27FC236}">
                <a16:creationId xmlns:a16="http://schemas.microsoft.com/office/drawing/2014/main" id="{B2C906CB-52F0-002B-8B2D-E0AC1E10740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0CFEE9-7754-401B-8154-25275B069A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4629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2">
            <a:extLst>
              <a:ext uri="{FF2B5EF4-FFF2-40B4-BE49-F238E27FC236}">
                <a16:creationId xmlns:a16="http://schemas.microsoft.com/office/drawing/2014/main" id="{C67DA331-D541-2E72-0CCA-C2C5CC6DB9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4">
            <a:extLst>
              <a:ext uri="{FF2B5EF4-FFF2-40B4-BE49-F238E27FC236}">
                <a16:creationId xmlns:a16="http://schemas.microsoft.com/office/drawing/2014/main" id="{4A940635-ED82-67F5-5282-0AA897AAA9E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5CB408-4C51-4A49-8A08-E0332777617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5193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D31CDDAC-D237-37FA-2E52-68FE63D969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C4E9AB3C-F8B4-3C5D-5725-5D8B68B9EC4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72867D-AF5E-4014-99F4-0CFB984684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1338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50BA6342-7FD8-6D74-B2A9-7C9DED8192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6837CDE3-F6BB-8383-811D-605157D5358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50D297-3B3F-40CE-BA07-1E4342A102A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0628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09D35CC3-ED24-F68B-DC71-62FB00C65C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5EBD3C3A-031D-C91D-DBA5-26FDAB31AAB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309C4B-DEBE-47B8-A1FB-46D2E2E8FB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2405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8575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575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D28F8247-81D3-109E-1C78-8624353992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55B18F13-1364-EC84-48E3-627AAE33D27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3B772B-A38F-488A-B285-7868B04B4A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9215781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9">
            <a:extLst>
              <a:ext uri="{FF2B5EF4-FFF2-40B4-BE49-F238E27FC236}">
                <a16:creationId xmlns:a16="http://schemas.microsoft.com/office/drawing/2014/main" id="{D1294D08-478B-6E4B-C4CB-1F3E46426245}"/>
              </a:ext>
            </a:extLst>
          </p:cNvPr>
          <p:cNvGrpSpPr>
            <a:grpSpLocks/>
          </p:cNvGrpSpPr>
          <p:nvPr/>
        </p:nvGrpSpPr>
        <p:grpSpPr bwMode="auto">
          <a:xfrm>
            <a:off x="0" y="4367213"/>
            <a:ext cx="9131300" cy="2478087"/>
            <a:chOff x="0" y="2751"/>
            <a:chExt cx="5752" cy="1561"/>
          </a:xfrm>
        </p:grpSpPr>
        <p:sp>
          <p:nvSpPr>
            <p:cNvPr id="1032" name="Rectangle 2">
              <a:extLst>
                <a:ext uri="{FF2B5EF4-FFF2-40B4-BE49-F238E27FC236}">
                  <a16:creationId xmlns:a16="http://schemas.microsoft.com/office/drawing/2014/main" id="{86E40000-0A58-8AB7-DB2B-A3C773A2E93B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4080"/>
              <a:ext cx="5752" cy="232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grpSp>
          <p:nvGrpSpPr>
            <p:cNvPr id="1033" name="Group 28">
              <a:extLst>
                <a:ext uri="{FF2B5EF4-FFF2-40B4-BE49-F238E27FC236}">
                  <a16:creationId xmlns:a16="http://schemas.microsoft.com/office/drawing/2014/main" id="{B206E67A-35CE-D62E-5C34-A4630CD9EB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8" y="2751"/>
              <a:ext cx="1190" cy="1426"/>
              <a:chOff x="4458" y="2751"/>
              <a:chExt cx="1190" cy="1426"/>
            </a:xfrm>
          </p:grpSpPr>
          <p:sp>
            <p:nvSpPr>
              <p:cNvPr id="1034" name="Freeform 3">
                <a:extLst>
                  <a:ext uri="{FF2B5EF4-FFF2-40B4-BE49-F238E27FC236}">
                    <a16:creationId xmlns:a16="http://schemas.microsoft.com/office/drawing/2014/main" id="{D33963D1-F4EC-D5FA-0F27-487BD254D8CD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614" y="2790"/>
                <a:ext cx="1034" cy="1273"/>
              </a:xfrm>
              <a:custGeom>
                <a:avLst/>
                <a:gdLst>
                  <a:gd name="T0" fmla="*/ 646 w 1034"/>
                  <a:gd name="T1" fmla="*/ 23 h 1273"/>
                  <a:gd name="T2" fmla="*/ 765 w 1034"/>
                  <a:gd name="T3" fmla="*/ 92 h 1273"/>
                  <a:gd name="T4" fmla="*/ 866 w 1034"/>
                  <a:gd name="T5" fmla="*/ 184 h 1273"/>
                  <a:gd name="T6" fmla="*/ 944 w 1034"/>
                  <a:gd name="T7" fmla="*/ 294 h 1273"/>
                  <a:gd name="T8" fmla="*/ 1000 w 1034"/>
                  <a:gd name="T9" fmla="*/ 417 h 1273"/>
                  <a:gd name="T10" fmla="*/ 1030 w 1034"/>
                  <a:gd name="T11" fmla="*/ 550 h 1273"/>
                  <a:gd name="T12" fmla="*/ 1030 w 1034"/>
                  <a:gd name="T13" fmla="*/ 688 h 1273"/>
                  <a:gd name="T14" fmla="*/ 1000 w 1034"/>
                  <a:gd name="T15" fmla="*/ 821 h 1273"/>
                  <a:gd name="T16" fmla="*/ 944 w 1034"/>
                  <a:gd name="T17" fmla="*/ 944 h 1273"/>
                  <a:gd name="T18" fmla="*/ 866 w 1034"/>
                  <a:gd name="T19" fmla="*/ 1055 h 1273"/>
                  <a:gd name="T20" fmla="*/ 765 w 1034"/>
                  <a:gd name="T21" fmla="*/ 1148 h 1273"/>
                  <a:gd name="T22" fmla="*/ 646 w 1034"/>
                  <a:gd name="T23" fmla="*/ 1215 h 1273"/>
                  <a:gd name="T24" fmla="*/ 517 w 1034"/>
                  <a:gd name="T25" fmla="*/ 1257 h 1273"/>
                  <a:gd name="T26" fmla="*/ 382 w 1034"/>
                  <a:gd name="T27" fmla="*/ 1272 h 1273"/>
                  <a:gd name="T28" fmla="*/ 246 w 1034"/>
                  <a:gd name="T29" fmla="*/ 1257 h 1273"/>
                  <a:gd name="T30" fmla="*/ 118 w 1034"/>
                  <a:gd name="T31" fmla="*/ 1215 h 1273"/>
                  <a:gd name="T32" fmla="*/ 0 w 1034"/>
                  <a:gd name="T33" fmla="*/ 1148 h 1273"/>
                  <a:gd name="T34" fmla="*/ 89 w 1034"/>
                  <a:gd name="T35" fmla="*/ 1129 h 1273"/>
                  <a:gd name="T36" fmla="*/ 201 w 1034"/>
                  <a:gd name="T37" fmla="*/ 1179 h 1273"/>
                  <a:gd name="T38" fmla="*/ 320 w 1034"/>
                  <a:gd name="T39" fmla="*/ 1204 h 1273"/>
                  <a:gd name="T40" fmla="*/ 443 w 1034"/>
                  <a:gd name="T41" fmla="*/ 1204 h 1273"/>
                  <a:gd name="T42" fmla="*/ 563 w 1034"/>
                  <a:gd name="T43" fmla="*/ 1179 h 1273"/>
                  <a:gd name="T44" fmla="*/ 675 w 1034"/>
                  <a:gd name="T45" fmla="*/ 1129 h 1273"/>
                  <a:gd name="T46" fmla="*/ 775 w 1034"/>
                  <a:gd name="T47" fmla="*/ 1057 h 1273"/>
                  <a:gd name="T48" fmla="*/ 857 w 1034"/>
                  <a:gd name="T49" fmla="*/ 965 h 1273"/>
                  <a:gd name="T50" fmla="*/ 919 w 1034"/>
                  <a:gd name="T51" fmla="*/ 858 h 1273"/>
                  <a:gd name="T52" fmla="*/ 956 w 1034"/>
                  <a:gd name="T53" fmla="*/ 742 h 1273"/>
                  <a:gd name="T54" fmla="*/ 969 w 1034"/>
                  <a:gd name="T55" fmla="*/ 619 h 1273"/>
                  <a:gd name="T56" fmla="*/ 956 w 1034"/>
                  <a:gd name="T57" fmla="*/ 496 h 1273"/>
                  <a:gd name="T58" fmla="*/ 919 w 1034"/>
                  <a:gd name="T59" fmla="*/ 381 h 1273"/>
                  <a:gd name="T60" fmla="*/ 857 w 1034"/>
                  <a:gd name="T61" fmla="*/ 273 h 1273"/>
                  <a:gd name="T62" fmla="*/ 775 w 1034"/>
                  <a:gd name="T63" fmla="*/ 182 h 1273"/>
                  <a:gd name="T64" fmla="*/ 675 w 1034"/>
                  <a:gd name="T65" fmla="*/ 110 h 1273"/>
                  <a:gd name="T66" fmla="*/ 563 w 1034"/>
                  <a:gd name="T67" fmla="*/ 61 h 1273"/>
                  <a:gd name="T68" fmla="*/ 582 w 1034"/>
                  <a:gd name="T69" fmla="*/ 0 h 1273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034" h="1273">
                    <a:moveTo>
                      <a:pt x="582" y="0"/>
                    </a:moveTo>
                    <a:lnTo>
                      <a:pt x="646" y="23"/>
                    </a:lnTo>
                    <a:lnTo>
                      <a:pt x="707" y="56"/>
                    </a:lnTo>
                    <a:lnTo>
                      <a:pt x="765" y="92"/>
                    </a:lnTo>
                    <a:lnTo>
                      <a:pt x="818" y="134"/>
                    </a:lnTo>
                    <a:lnTo>
                      <a:pt x="866" y="184"/>
                    </a:lnTo>
                    <a:lnTo>
                      <a:pt x="908" y="237"/>
                    </a:lnTo>
                    <a:lnTo>
                      <a:pt x="944" y="294"/>
                    </a:lnTo>
                    <a:lnTo>
                      <a:pt x="977" y="353"/>
                    </a:lnTo>
                    <a:lnTo>
                      <a:pt x="1000" y="417"/>
                    </a:lnTo>
                    <a:lnTo>
                      <a:pt x="1018" y="483"/>
                    </a:lnTo>
                    <a:lnTo>
                      <a:pt x="1030" y="550"/>
                    </a:lnTo>
                    <a:lnTo>
                      <a:pt x="1033" y="619"/>
                    </a:lnTo>
                    <a:lnTo>
                      <a:pt x="1030" y="688"/>
                    </a:lnTo>
                    <a:lnTo>
                      <a:pt x="1018" y="756"/>
                    </a:lnTo>
                    <a:lnTo>
                      <a:pt x="1000" y="821"/>
                    </a:lnTo>
                    <a:lnTo>
                      <a:pt x="977" y="884"/>
                    </a:lnTo>
                    <a:lnTo>
                      <a:pt x="944" y="944"/>
                    </a:lnTo>
                    <a:lnTo>
                      <a:pt x="908" y="1003"/>
                    </a:lnTo>
                    <a:lnTo>
                      <a:pt x="866" y="1055"/>
                    </a:lnTo>
                    <a:lnTo>
                      <a:pt x="818" y="1105"/>
                    </a:lnTo>
                    <a:lnTo>
                      <a:pt x="765" y="1148"/>
                    </a:lnTo>
                    <a:lnTo>
                      <a:pt x="707" y="1183"/>
                    </a:lnTo>
                    <a:lnTo>
                      <a:pt x="646" y="1215"/>
                    </a:lnTo>
                    <a:lnTo>
                      <a:pt x="582" y="1239"/>
                    </a:lnTo>
                    <a:lnTo>
                      <a:pt x="517" y="1257"/>
                    </a:lnTo>
                    <a:lnTo>
                      <a:pt x="450" y="1269"/>
                    </a:lnTo>
                    <a:lnTo>
                      <a:pt x="382" y="1272"/>
                    </a:lnTo>
                    <a:lnTo>
                      <a:pt x="313" y="1269"/>
                    </a:lnTo>
                    <a:lnTo>
                      <a:pt x="246" y="1257"/>
                    </a:lnTo>
                    <a:lnTo>
                      <a:pt x="180" y="1239"/>
                    </a:lnTo>
                    <a:lnTo>
                      <a:pt x="118" y="1215"/>
                    </a:lnTo>
                    <a:lnTo>
                      <a:pt x="57" y="1183"/>
                    </a:lnTo>
                    <a:lnTo>
                      <a:pt x="0" y="1148"/>
                    </a:lnTo>
                    <a:lnTo>
                      <a:pt x="36" y="1095"/>
                    </a:lnTo>
                    <a:lnTo>
                      <a:pt x="89" y="1129"/>
                    </a:lnTo>
                    <a:lnTo>
                      <a:pt x="144" y="1156"/>
                    </a:lnTo>
                    <a:lnTo>
                      <a:pt x="201" y="1179"/>
                    </a:lnTo>
                    <a:lnTo>
                      <a:pt x="261" y="1195"/>
                    </a:lnTo>
                    <a:lnTo>
                      <a:pt x="320" y="1204"/>
                    </a:lnTo>
                    <a:lnTo>
                      <a:pt x="382" y="1208"/>
                    </a:lnTo>
                    <a:lnTo>
                      <a:pt x="443" y="1204"/>
                    </a:lnTo>
                    <a:lnTo>
                      <a:pt x="504" y="1195"/>
                    </a:lnTo>
                    <a:lnTo>
                      <a:pt x="563" y="1179"/>
                    </a:lnTo>
                    <a:lnTo>
                      <a:pt x="621" y="1156"/>
                    </a:lnTo>
                    <a:lnTo>
                      <a:pt x="675" y="1129"/>
                    </a:lnTo>
                    <a:lnTo>
                      <a:pt x="727" y="1095"/>
                    </a:lnTo>
                    <a:lnTo>
                      <a:pt x="775" y="1057"/>
                    </a:lnTo>
                    <a:lnTo>
                      <a:pt x="818" y="1013"/>
                    </a:lnTo>
                    <a:lnTo>
                      <a:pt x="857" y="965"/>
                    </a:lnTo>
                    <a:lnTo>
                      <a:pt x="890" y="913"/>
                    </a:lnTo>
                    <a:lnTo>
                      <a:pt x="919" y="858"/>
                    </a:lnTo>
                    <a:lnTo>
                      <a:pt x="941" y="802"/>
                    </a:lnTo>
                    <a:lnTo>
                      <a:pt x="956" y="742"/>
                    </a:lnTo>
                    <a:lnTo>
                      <a:pt x="965" y="680"/>
                    </a:lnTo>
                    <a:lnTo>
                      <a:pt x="969" y="619"/>
                    </a:lnTo>
                    <a:lnTo>
                      <a:pt x="965" y="557"/>
                    </a:lnTo>
                    <a:lnTo>
                      <a:pt x="956" y="496"/>
                    </a:lnTo>
                    <a:lnTo>
                      <a:pt x="941" y="437"/>
                    </a:lnTo>
                    <a:lnTo>
                      <a:pt x="919" y="381"/>
                    </a:lnTo>
                    <a:lnTo>
                      <a:pt x="890" y="325"/>
                    </a:lnTo>
                    <a:lnTo>
                      <a:pt x="857" y="273"/>
                    </a:lnTo>
                    <a:lnTo>
                      <a:pt x="818" y="225"/>
                    </a:lnTo>
                    <a:lnTo>
                      <a:pt x="775" y="182"/>
                    </a:lnTo>
                    <a:lnTo>
                      <a:pt x="727" y="144"/>
                    </a:lnTo>
                    <a:lnTo>
                      <a:pt x="675" y="110"/>
                    </a:lnTo>
                    <a:lnTo>
                      <a:pt x="621" y="81"/>
                    </a:lnTo>
                    <a:lnTo>
                      <a:pt x="563" y="61"/>
                    </a:lnTo>
                    <a:lnTo>
                      <a:pt x="565" y="56"/>
                    </a:lnTo>
                    <a:lnTo>
                      <a:pt x="582" y="0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" name="Line 4">
                <a:extLst>
                  <a:ext uri="{FF2B5EF4-FFF2-40B4-BE49-F238E27FC236}">
                    <a16:creationId xmlns:a16="http://schemas.microsoft.com/office/drawing/2014/main" id="{FEC67E99-59BA-EC4B-63E5-EF9D2719468A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4639" y="3863"/>
                <a:ext cx="103" cy="186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6" name="Line 5">
                <a:extLst>
                  <a:ext uri="{FF2B5EF4-FFF2-40B4-BE49-F238E27FC236}">
                    <a16:creationId xmlns:a16="http://schemas.microsoft.com/office/drawing/2014/main" id="{ED79422E-B1CD-E9C8-5A90-F4FF21DC6CD3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5210" y="2874"/>
                <a:ext cx="36" cy="7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6">
                <a:extLst>
                  <a:ext uri="{FF2B5EF4-FFF2-40B4-BE49-F238E27FC236}">
                    <a16:creationId xmlns:a16="http://schemas.microsoft.com/office/drawing/2014/main" id="{51AE3921-CE68-3A0C-87A3-6898300A7730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5270" y="2751"/>
                <a:ext cx="36" cy="7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Freeform 7">
                <a:extLst>
                  <a:ext uri="{FF2B5EF4-FFF2-40B4-BE49-F238E27FC236}">
                    <a16:creationId xmlns:a16="http://schemas.microsoft.com/office/drawing/2014/main" id="{492FE7AA-0C1B-87A0-E0F2-9FDD37758F6E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753" y="4067"/>
                <a:ext cx="604" cy="110"/>
              </a:xfrm>
              <a:custGeom>
                <a:avLst/>
                <a:gdLst>
                  <a:gd name="T0" fmla="*/ 2 w 604"/>
                  <a:gd name="T1" fmla="*/ 70 h 110"/>
                  <a:gd name="T2" fmla="*/ 14 w 604"/>
                  <a:gd name="T3" fmla="*/ 57 h 110"/>
                  <a:gd name="T4" fmla="*/ 31 w 604"/>
                  <a:gd name="T5" fmla="*/ 46 h 110"/>
                  <a:gd name="T6" fmla="*/ 63 w 604"/>
                  <a:gd name="T7" fmla="*/ 30 h 110"/>
                  <a:gd name="T8" fmla="*/ 100 w 604"/>
                  <a:gd name="T9" fmla="*/ 21 h 110"/>
                  <a:gd name="T10" fmla="*/ 134 w 604"/>
                  <a:gd name="T11" fmla="*/ 13 h 110"/>
                  <a:gd name="T12" fmla="*/ 181 w 604"/>
                  <a:gd name="T13" fmla="*/ 6 h 110"/>
                  <a:gd name="T14" fmla="*/ 225 w 604"/>
                  <a:gd name="T15" fmla="*/ 2 h 110"/>
                  <a:gd name="T16" fmla="*/ 277 w 604"/>
                  <a:gd name="T17" fmla="*/ 0 h 110"/>
                  <a:gd name="T18" fmla="*/ 340 w 604"/>
                  <a:gd name="T19" fmla="*/ 0 h 110"/>
                  <a:gd name="T20" fmla="*/ 407 w 604"/>
                  <a:gd name="T21" fmla="*/ 4 h 110"/>
                  <a:gd name="T22" fmla="*/ 453 w 604"/>
                  <a:gd name="T23" fmla="*/ 10 h 110"/>
                  <a:gd name="T24" fmla="*/ 502 w 604"/>
                  <a:gd name="T25" fmla="*/ 19 h 110"/>
                  <a:gd name="T26" fmla="*/ 549 w 604"/>
                  <a:gd name="T27" fmla="*/ 33 h 110"/>
                  <a:gd name="T28" fmla="*/ 573 w 604"/>
                  <a:gd name="T29" fmla="*/ 47 h 110"/>
                  <a:gd name="T30" fmla="*/ 588 w 604"/>
                  <a:gd name="T31" fmla="*/ 58 h 110"/>
                  <a:gd name="T32" fmla="*/ 603 w 604"/>
                  <a:gd name="T33" fmla="*/ 77 h 110"/>
                  <a:gd name="T34" fmla="*/ 578 w 604"/>
                  <a:gd name="T35" fmla="*/ 87 h 110"/>
                  <a:gd name="T36" fmla="*/ 536 w 604"/>
                  <a:gd name="T37" fmla="*/ 95 h 110"/>
                  <a:gd name="T38" fmla="*/ 485 w 604"/>
                  <a:gd name="T39" fmla="*/ 101 h 110"/>
                  <a:gd name="T40" fmla="*/ 436 w 604"/>
                  <a:gd name="T41" fmla="*/ 106 h 110"/>
                  <a:gd name="T42" fmla="*/ 377 w 604"/>
                  <a:gd name="T43" fmla="*/ 108 h 110"/>
                  <a:gd name="T44" fmla="*/ 313 w 604"/>
                  <a:gd name="T45" fmla="*/ 109 h 110"/>
                  <a:gd name="T46" fmla="*/ 252 w 604"/>
                  <a:gd name="T47" fmla="*/ 109 h 110"/>
                  <a:gd name="T48" fmla="*/ 188 w 604"/>
                  <a:gd name="T49" fmla="*/ 108 h 110"/>
                  <a:gd name="T50" fmla="*/ 117 w 604"/>
                  <a:gd name="T51" fmla="*/ 102 h 110"/>
                  <a:gd name="T52" fmla="*/ 61 w 604"/>
                  <a:gd name="T53" fmla="*/ 96 h 110"/>
                  <a:gd name="T54" fmla="*/ 14 w 604"/>
                  <a:gd name="T55" fmla="*/ 86 h 110"/>
                  <a:gd name="T56" fmla="*/ 0 w 604"/>
                  <a:gd name="T57" fmla="*/ 78 h 110"/>
                  <a:gd name="T58" fmla="*/ 2 w 604"/>
                  <a:gd name="T59" fmla="*/ 70 h 11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604" h="110">
                    <a:moveTo>
                      <a:pt x="2" y="70"/>
                    </a:moveTo>
                    <a:lnTo>
                      <a:pt x="14" y="57"/>
                    </a:lnTo>
                    <a:lnTo>
                      <a:pt x="31" y="46"/>
                    </a:lnTo>
                    <a:lnTo>
                      <a:pt x="63" y="30"/>
                    </a:lnTo>
                    <a:lnTo>
                      <a:pt x="100" y="21"/>
                    </a:lnTo>
                    <a:lnTo>
                      <a:pt x="134" y="13"/>
                    </a:lnTo>
                    <a:lnTo>
                      <a:pt x="181" y="6"/>
                    </a:lnTo>
                    <a:lnTo>
                      <a:pt x="225" y="2"/>
                    </a:lnTo>
                    <a:lnTo>
                      <a:pt x="277" y="0"/>
                    </a:lnTo>
                    <a:lnTo>
                      <a:pt x="340" y="0"/>
                    </a:lnTo>
                    <a:lnTo>
                      <a:pt x="407" y="4"/>
                    </a:lnTo>
                    <a:lnTo>
                      <a:pt x="453" y="10"/>
                    </a:lnTo>
                    <a:lnTo>
                      <a:pt x="502" y="19"/>
                    </a:lnTo>
                    <a:lnTo>
                      <a:pt x="549" y="33"/>
                    </a:lnTo>
                    <a:lnTo>
                      <a:pt x="573" y="47"/>
                    </a:lnTo>
                    <a:lnTo>
                      <a:pt x="588" y="58"/>
                    </a:lnTo>
                    <a:lnTo>
                      <a:pt x="603" y="77"/>
                    </a:lnTo>
                    <a:lnTo>
                      <a:pt x="578" y="87"/>
                    </a:lnTo>
                    <a:lnTo>
                      <a:pt x="536" y="95"/>
                    </a:lnTo>
                    <a:lnTo>
                      <a:pt x="485" y="101"/>
                    </a:lnTo>
                    <a:lnTo>
                      <a:pt x="436" y="106"/>
                    </a:lnTo>
                    <a:lnTo>
                      <a:pt x="377" y="108"/>
                    </a:lnTo>
                    <a:lnTo>
                      <a:pt x="313" y="109"/>
                    </a:lnTo>
                    <a:lnTo>
                      <a:pt x="252" y="109"/>
                    </a:lnTo>
                    <a:lnTo>
                      <a:pt x="188" y="108"/>
                    </a:lnTo>
                    <a:lnTo>
                      <a:pt x="117" y="102"/>
                    </a:lnTo>
                    <a:lnTo>
                      <a:pt x="61" y="96"/>
                    </a:lnTo>
                    <a:lnTo>
                      <a:pt x="14" y="86"/>
                    </a:lnTo>
                    <a:lnTo>
                      <a:pt x="0" y="78"/>
                    </a:lnTo>
                    <a:lnTo>
                      <a:pt x="2" y="70"/>
                    </a:lnTo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" name="Oval 8">
                <a:extLst>
                  <a:ext uri="{FF2B5EF4-FFF2-40B4-BE49-F238E27FC236}">
                    <a16:creationId xmlns:a16="http://schemas.microsoft.com/office/drawing/2014/main" id="{B675226F-D8E7-8C91-8660-7169CFBB1C1B}"/>
                  </a:ext>
                </a:extLst>
              </p:cNvPr>
              <p:cNvSpPr>
                <a:spLocks noChangeArrowheads="1"/>
              </p:cNvSpPr>
              <p:nvPr/>
            </p:nvSpPr>
            <p:spPr bwMode="grayWhite">
              <a:xfrm>
                <a:off x="4458" y="2879"/>
                <a:ext cx="1074" cy="1073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1040" name="Group 27">
                <a:extLst>
                  <a:ext uri="{FF2B5EF4-FFF2-40B4-BE49-F238E27FC236}">
                    <a16:creationId xmlns:a16="http://schemas.microsoft.com/office/drawing/2014/main" id="{ED925ADD-DC04-DDA5-0BB9-3014E65CD6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58" y="2991"/>
                <a:ext cx="999" cy="797"/>
                <a:chOff x="4458" y="2991"/>
                <a:chExt cx="999" cy="797"/>
              </a:xfrm>
            </p:grpSpPr>
            <p:sp>
              <p:nvSpPr>
                <p:cNvPr id="1041" name="Freeform 9">
                  <a:extLst>
                    <a:ext uri="{FF2B5EF4-FFF2-40B4-BE49-F238E27FC236}">
                      <a16:creationId xmlns:a16="http://schemas.microsoft.com/office/drawing/2014/main" id="{92E6A535-CB58-584F-9B6C-B29086C07436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99" y="3283"/>
                  <a:ext cx="1" cy="17"/>
                </a:xfrm>
                <a:custGeom>
                  <a:avLst/>
                  <a:gdLst>
                    <a:gd name="T0" fmla="*/ 0 w 1"/>
                    <a:gd name="T1" fmla="*/ 0 h 17"/>
                    <a:gd name="T2" fmla="*/ 0 w 1"/>
                    <a:gd name="T3" fmla="*/ 16 h 17"/>
                    <a:gd name="T4" fmla="*/ 0 w 1"/>
                    <a:gd name="T5" fmla="*/ 16 h 17"/>
                    <a:gd name="T6" fmla="*/ 0 w 1"/>
                    <a:gd name="T7" fmla="*/ 6 h 17"/>
                    <a:gd name="T8" fmla="*/ 0 w 1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" h="17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" name="Freeform 10">
                  <a:extLst>
                    <a:ext uri="{FF2B5EF4-FFF2-40B4-BE49-F238E27FC236}">
                      <a16:creationId xmlns:a16="http://schemas.microsoft.com/office/drawing/2014/main" id="{73C75B46-0EE7-226C-64A7-F10B7E8551CA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616" y="33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" name="Freeform 11">
                  <a:extLst>
                    <a:ext uri="{FF2B5EF4-FFF2-40B4-BE49-F238E27FC236}">
                      <a16:creationId xmlns:a16="http://schemas.microsoft.com/office/drawing/2014/main" id="{B017E629-BDEE-FBEF-B709-CC8DDA1674E2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674" y="3275"/>
                  <a:ext cx="37" cy="35"/>
                </a:xfrm>
                <a:custGeom>
                  <a:avLst/>
                  <a:gdLst>
                    <a:gd name="T0" fmla="*/ 36 w 37"/>
                    <a:gd name="T1" fmla="*/ 0 h 35"/>
                    <a:gd name="T2" fmla="*/ 22 w 37"/>
                    <a:gd name="T3" fmla="*/ 0 h 35"/>
                    <a:gd name="T4" fmla="*/ 14 w 37"/>
                    <a:gd name="T5" fmla="*/ 9 h 35"/>
                    <a:gd name="T6" fmla="*/ 9 w 37"/>
                    <a:gd name="T7" fmla="*/ 9 h 35"/>
                    <a:gd name="T8" fmla="*/ 5 w 37"/>
                    <a:gd name="T9" fmla="*/ 13 h 35"/>
                    <a:gd name="T10" fmla="*/ 0 w 37"/>
                    <a:gd name="T11" fmla="*/ 13 h 35"/>
                    <a:gd name="T12" fmla="*/ 0 w 37"/>
                    <a:gd name="T13" fmla="*/ 25 h 35"/>
                    <a:gd name="T14" fmla="*/ 8 w 37"/>
                    <a:gd name="T15" fmla="*/ 34 h 35"/>
                    <a:gd name="T16" fmla="*/ 29 w 37"/>
                    <a:gd name="T17" fmla="*/ 34 h 35"/>
                    <a:gd name="T18" fmla="*/ 36 w 37"/>
                    <a:gd name="T19" fmla="*/ 25 h 35"/>
                    <a:gd name="T20" fmla="*/ 36 w 37"/>
                    <a:gd name="T21" fmla="*/ 0 h 3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" h="35">
                      <a:moveTo>
                        <a:pt x="36" y="0"/>
                      </a:moveTo>
                      <a:lnTo>
                        <a:pt x="22" y="0"/>
                      </a:lnTo>
                      <a:lnTo>
                        <a:pt x="14" y="9"/>
                      </a:lnTo>
                      <a:lnTo>
                        <a:pt x="9" y="9"/>
                      </a:lnTo>
                      <a:lnTo>
                        <a:pt x="5" y="13"/>
                      </a:lnTo>
                      <a:lnTo>
                        <a:pt x="0" y="13"/>
                      </a:lnTo>
                      <a:lnTo>
                        <a:pt x="0" y="25"/>
                      </a:lnTo>
                      <a:lnTo>
                        <a:pt x="8" y="34"/>
                      </a:lnTo>
                      <a:lnTo>
                        <a:pt x="29" y="34"/>
                      </a:lnTo>
                      <a:lnTo>
                        <a:pt x="36" y="25"/>
                      </a:lnTo>
                      <a:lnTo>
                        <a:pt x="36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" name="Freeform 12">
                  <a:extLst>
                    <a:ext uri="{FF2B5EF4-FFF2-40B4-BE49-F238E27FC236}">
                      <a16:creationId xmlns:a16="http://schemas.microsoft.com/office/drawing/2014/main" id="{83991177-819A-F99B-BB9D-E5C1DAB4771F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458" y="3303"/>
                  <a:ext cx="324" cy="422"/>
                </a:xfrm>
                <a:custGeom>
                  <a:avLst/>
                  <a:gdLst>
                    <a:gd name="T0" fmla="*/ 76 w 324"/>
                    <a:gd name="T1" fmla="*/ 0 h 422"/>
                    <a:gd name="T2" fmla="*/ 71 w 324"/>
                    <a:gd name="T3" fmla="*/ 11 h 422"/>
                    <a:gd name="T4" fmla="*/ 45 w 324"/>
                    <a:gd name="T5" fmla="*/ 33 h 422"/>
                    <a:gd name="T6" fmla="*/ 40 w 324"/>
                    <a:gd name="T7" fmla="*/ 53 h 422"/>
                    <a:gd name="T8" fmla="*/ 21 w 324"/>
                    <a:gd name="T9" fmla="*/ 68 h 422"/>
                    <a:gd name="T10" fmla="*/ 8 w 324"/>
                    <a:gd name="T11" fmla="*/ 96 h 422"/>
                    <a:gd name="T12" fmla="*/ 8 w 324"/>
                    <a:gd name="T13" fmla="*/ 114 h 422"/>
                    <a:gd name="T14" fmla="*/ 0 w 324"/>
                    <a:gd name="T15" fmla="*/ 144 h 422"/>
                    <a:gd name="T16" fmla="*/ 11 w 324"/>
                    <a:gd name="T17" fmla="*/ 157 h 422"/>
                    <a:gd name="T18" fmla="*/ 40 w 324"/>
                    <a:gd name="T19" fmla="*/ 195 h 422"/>
                    <a:gd name="T20" fmla="*/ 48 w 324"/>
                    <a:gd name="T21" fmla="*/ 190 h 422"/>
                    <a:gd name="T22" fmla="*/ 99 w 324"/>
                    <a:gd name="T23" fmla="*/ 190 h 422"/>
                    <a:gd name="T24" fmla="*/ 123 w 324"/>
                    <a:gd name="T25" fmla="*/ 199 h 422"/>
                    <a:gd name="T26" fmla="*/ 121 w 324"/>
                    <a:gd name="T27" fmla="*/ 229 h 422"/>
                    <a:gd name="T28" fmla="*/ 138 w 324"/>
                    <a:gd name="T29" fmla="*/ 268 h 422"/>
                    <a:gd name="T30" fmla="*/ 137 w 324"/>
                    <a:gd name="T31" fmla="*/ 279 h 422"/>
                    <a:gd name="T32" fmla="*/ 144 w 324"/>
                    <a:gd name="T33" fmla="*/ 291 h 422"/>
                    <a:gd name="T34" fmla="*/ 133 w 324"/>
                    <a:gd name="T35" fmla="*/ 319 h 422"/>
                    <a:gd name="T36" fmla="*/ 146 w 324"/>
                    <a:gd name="T37" fmla="*/ 354 h 422"/>
                    <a:gd name="T38" fmla="*/ 153 w 324"/>
                    <a:gd name="T39" fmla="*/ 382 h 422"/>
                    <a:gd name="T40" fmla="*/ 162 w 324"/>
                    <a:gd name="T41" fmla="*/ 399 h 422"/>
                    <a:gd name="T42" fmla="*/ 171 w 324"/>
                    <a:gd name="T43" fmla="*/ 421 h 422"/>
                    <a:gd name="T44" fmla="*/ 188 w 324"/>
                    <a:gd name="T45" fmla="*/ 418 h 422"/>
                    <a:gd name="T46" fmla="*/ 216 w 324"/>
                    <a:gd name="T47" fmla="*/ 402 h 422"/>
                    <a:gd name="T48" fmla="*/ 229 w 324"/>
                    <a:gd name="T49" fmla="*/ 382 h 422"/>
                    <a:gd name="T50" fmla="*/ 228 w 324"/>
                    <a:gd name="T51" fmla="*/ 369 h 422"/>
                    <a:gd name="T52" fmla="*/ 245 w 324"/>
                    <a:gd name="T53" fmla="*/ 359 h 422"/>
                    <a:gd name="T54" fmla="*/ 242 w 324"/>
                    <a:gd name="T55" fmla="*/ 340 h 422"/>
                    <a:gd name="T56" fmla="*/ 267 w 324"/>
                    <a:gd name="T57" fmla="*/ 310 h 422"/>
                    <a:gd name="T58" fmla="*/ 271 w 324"/>
                    <a:gd name="T59" fmla="*/ 285 h 422"/>
                    <a:gd name="T60" fmla="*/ 264 w 324"/>
                    <a:gd name="T61" fmla="*/ 277 h 422"/>
                    <a:gd name="T62" fmla="*/ 267 w 324"/>
                    <a:gd name="T63" fmla="*/ 267 h 422"/>
                    <a:gd name="T64" fmla="*/ 261 w 324"/>
                    <a:gd name="T65" fmla="*/ 258 h 422"/>
                    <a:gd name="T66" fmla="*/ 280 w 324"/>
                    <a:gd name="T67" fmla="*/ 234 h 422"/>
                    <a:gd name="T68" fmla="*/ 280 w 324"/>
                    <a:gd name="T69" fmla="*/ 222 h 422"/>
                    <a:gd name="T70" fmla="*/ 306 w 324"/>
                    <a:gd name="T71" fmla="*/ 202 h 422"/>
                    <a:gd name="T72" fmla="*/ 323 w 324"/>
                    <a:gd name="T73" fmla="*/ 148 h 422"/>
                    <a:gd name="T74" fmla="*/ 299 w 324"/>
                    <a:gd name="T75" fmla="*/ 162 h 422"/>
                    <a:gd name="T76" fmla="*/ 278 w 324"/>
                    <a:gd name="T77" fmla="*/ 156 h 422"/>
                    <a:gd name="T78" fmla="*/ 281 w 324"/>
                    <a:gd name="T79" fmla="*/ 143 h 422"/>
                    <a:gd name="T80" fmla="*/ 260 w 324"/>
                    <a:gd name="T81" fmla="*/ 129 h 422"/>
                    <a:gd name="T82" fmla="*/ 250 w 324"/>
                    <a:gd name="T83" fmla="*/ 94 h 422"/>
                    <a:gd name="T84" fmla="*/ 230 w 324"/>
                    <a:gd name="T85" fmla="*/ 66 h 422"/>
                    <a:gd name="T86" fmla="*/ 230 w 324"/>
                    <a:gd name="T87" fmla="*/ 47 h 422"/>
                    <a:gd name="T88" fmla="*/ 219 w 324"/>
                    <a:gd name="T89" fmla="*/ 46 h 422"/>
                    <a:gd name="T90" fmla="*/ 212 w 324"/>
                    <a:gd name="T91" fmla="*/ 49 h 422"/>
                    <a:gd name="T92" fmla="*/ 182 w 324"/>
                    <a:gd name="T93" fmla="*/ 38 h 422"/>
                    <a:gd name="T94" fmla="*/ 174 w 324"/>
                    <a:gd name="T95" fmla="*/ 46 h 422"/>
                    <a:gd name="T96" fmla="*/ 167 w 324"/>
                    <a:gd name="T97" fmla="*/ 56 h 422"/>
                    <a:gd name="T98" fmla="*/ 151 w 324"/>
                    <a:gd name="T99" fmla="*/ 38 h 422"/>
                    <a:gd name="T100" fmla="*/ 135 w 324"/>
                    <a:gd name="T101" fmla="*/ 33 h 422"/>
                    <a:gd name="T102" fmla="*/ 134 w 324"/>
                    <a:gd name="T103" fmla="*/ 10 h 422"/>
                    <a:gd name="T104" fmla="*/ 111 w 324"/>
                    <a:gd name="T105" fmla="*/ 14 h 422"/>
                    <a:gd name="T106" fmla="*/ 96 w 324"/>
                    <a:gd name="T107" fmla="*/ 9 h 422"/>
                    <a:gd name="T108" fmla="*/ 76 w 324"/>
                    <a:gd name="T109" fmla="*/ 0 h 422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324" h="422">
                      <a:moveTo>
                        <a:pt x="76" y="0"/>
                      </a:moveTo>
                      <a:lnTo>
                        <a:pt x="71" y="11"/>
                      </a:lnTo>
                      <a:lnTo>
                        <a:pt x="45" y="33"/>
                      </a:lnTo>
                      <a:lnTo>
                        <a:pt x="40" y="53"/>
                      </a:lnTo>
                      <a:lnTo>
                        <a:pt x="21" y="68"/>
                      </a:lnTo>
                      <a:lnTo>
                        <a:pt x="8" y="96"/>
                      </a:lnTo>
                      <a:lnTo>
                        <a:pt x="8" y="114"/>
                      </a:lnTo>
                      <a:lnTo>
                        <a:pt x="0" y="144"/>
                      </a:lnTo>
                      <a:lnTo>
                        <a:pt x="11" y="157"/>
                      </a:lnTo>
                      <a:lnTo>
                        <a:pt x="40" y="195"/>
                      </a:lnTo>
                      <a:lnTo>
                        <a:pt x="48" y="190"/>
                      </a:lnTo>
                      <a:lnTo>
                        <a:pt x="99" y="190"/>
                      </a:lnTo>
                      <a:lnTo>
                        <a:pt x="123" y="199"/>
                      </a:lnTo>
                      <a:lnTo>
                        <a:pt x="121" y="229"/>
                      </a:lnTo>
                      <a:lnTo>
                        <a:pt x="138" y="268"/>
                      </a:lnTo>
                      <a:lnTo>
                        <a:pt x="137" y="279"/>
                      </a:lnTo>
                      <a:lnTo>
                        <a:pt x="144" y="291"/>
                      </a:lnTo>
                      <a:lnTo>
                        <a:pt x="133" y="319"/>
                      </a:lnTo>
                      <a:lnTo>
                        <a:pt x="146" y="354"/>
                      </a:lnTo>
                      <a:lnTo>
                        <a:pt x="153" y="382"/>
                      </a:lnTo>
                      <a:lnTo>
                        <a:pt x="162" y="399"/>
                      </a:lnTo>
                      <a:lnTo>
                        <a:pt x="171" y="421"/>
                      </a:lnTo>
                      <a:lnTo>
                        <a:pt x="188" y="418"/>
                      </a:lnTo>
                      <a:lnTo>
                        <a:pt x="216" y="402"/>
                      </a:lnTo>
                      <a:lnTo>
                        <a:pt x="229" y="382"/>
                      </a:lnTo>
                      <a:lnTo>
                        <a:pt x="228" y="369"/>
                      </a:lnTo>
                      <a:lnTo>
                        <a:pt x="245" y="359"/>
                      </a:lnTo>
                      <a:lnTo>
                        <a:pt x="242" y="340"/>
                      </a:lnTo>
                      <a:lnTo>
                        <a:pt x="267" y="310"/>
                      </a:lnTo>
                      <a:lnTo>
                        <a:pt x="271" y="285"/>
                      </a:lnTo>
                      <a:lnTo>
                        <a:pt x="264" y="277"/>
                      </a:lnTo>
                      <a:lnTo>
                        <a:pt x="267" y="267"/>
                      </a:lnTo>
                      <a:lnTo>
                        <a:pt x="261" y="258"/>
                      </a:lnTo>
                      <a:lnTo>
                        <a:pt x="280" y="234"/>
                      </a:lnTo>
                      <a:lnTo>
                        <a:pt x="280" y="222"/>
                      </a:lnTo>
                      <a:lnTo>
                        <a:pt x="306" y="202"/>
                      </a:lnTo>
                      <a:lnTo>
                        <a:pt x="323" y="148"/>
                      </a:lnTo>
                      <a:lnTo>
                        <a:pt x="299" y="162"/>
                      </a:lnTo>
                      <a:lnTo>
                        <a:pt x="278" y="156"/>
                      </a:lnTo>
                      <a:lnTo>
                        <a:pt x="281" y="143"/>
                      </a:lnTo>
                      <a:lnTo>
                        <a:pt x="260" y="129"/>
                      </a:lnTo>
                      <a:lnTo>
                        <a:pt x="250" y="94"/>
                      </a:lnTo>
                      <a:lnTo>
                        <a:pt x="230" y="66"/>
                      </a:lnTo>
                      <a:lnTo>
                        <a:pt x="230" y="47"/>
                      </a:lnTo>
                      <a:lnTo>
                        <a:pt x="219" y="46"/>
                      </a:lnTo>
                      <a:lnTo>
                        <a:pt x="212" y="49"/>
                      </a:lnTo>
                      <a:lnTo>
                        <a:pt x="182" y="38"/>
                      </a:lnTo>
                      <a:lnTo>
                        <a:pt x="174" y="46"/>
                      </a:lnTo>
                      <a:lnTo>
                        <a:pt x="167" y="56"/>
                      </a:lnTo>
                      <a:lnTo>
                        <a:pt x="151" y="38"/>
                      </a:lnTo>
                      <a:lnTo>
                        <a:pt x="135" y="33"/>
                      </a:lnTo>
                      <a:lnTo>
                        <a:pt x="134" y="10"/>
                      </a:lnTo>
                      <a:lnTo>
                        <a:pt x="111" y="14"/>
                      </a:lnTo>
                      <a:lnTo>
                        <a:pt x="96" y="9"/>
                      </a:lnTo>
                      <a:lnTo>
                        <a:pt x="76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" name="Freeform 13">
                  <a:extLst>
                    <a:ext uri="{FF2B5EF4-FFF2-40B4-BE49-F238E27FC236}">
                      <a16:creationId xmlns:a16="http://schemas.microsoft.com/office/drawing/2014/main" id="{1961EED7-19D1-8475-87DF-BB61A6D091E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205" y="3408"/>
                  <a:ext cx="17" cy="21"/>
                </a:xfrm>
                <a:custGeom>
                  <a:avLst/>
                  <a:gdLst>
                    <a:gd name="T0" fmla="*/ 7 w 17"/>
                    <a:gd name="T1" fmla="*/ 0 h 21"/>
                    <a:gd name="T2" fmla="*/ 9 w 17"/>
                    <a:gd name="T3" fmla="*/ 5 h 21"/>
                    <a:gd name="T4" fmla="*/ 7 w 17"/>
                    <a:gd name="T5" fmla="*/ 10 h 21"/>
                    <a:gd name="T6" fmla="*/ 7 w 17"/>
                    <a:gd name="T7" fmla="*/ 14 h 21"/>
                    <a:gd name="T8" fmla="*/ 16 w 17"/>
                    <a:gd name="T9" fmla="*/ 17 h 21"/>
                    <a:gd name="T10" fmla="*/ 16 w 17"/>
                    <a:gd name="T11" fmla="*/ 20 h 21"/>
                    <a:gd name="T12" fmla="*/ 9 w 17"/>
                    <a:gd name="T13" fmla="*/ 17 h 21"/>
                    <a:gd name="T14" fmla="*/ 3 w 17"/>
                    <a:gd name="T15" fmla="*/ 20 h 21"/>
                    <a:gd name="T16" fmla="*/ 0 w 17"/>
                    <a:gd name="T17" fmla="*/ 17 h 21"/>
                    <a:gd name="T18" fmla="*/ 3 w 17"/>
                    <a:gd name="T19" fmla="*/ 14 h 21"/>
                    <a:gd name="T20" fmla="*/ 0 w 17"/>
                    <a:gd name="T21" fmla="*/ 10 h 21"/>
                    <a:gd name="T22" fmla="*/ 3 w 17"/>
                    <a:gd name="T23" fmla="*/ 2 h 21"/>
                    <a:gd name="T24" fmla="*/ 7 w 17"/>
                    <a:gd name="T25" fmla="*/ 0 h 2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" h="21">
                      <a:moveTo>
                        <a:pt x="7" y="0"/>
                      </a:moveTo>
                      <a:lnTo>
                        <a:pt x="9" y="5"/>
                      </a:lnTo>
                      <a:lnTo>
                        <a:pt x="7" y="10"/>
                      </a:lnTo>
                      <a:lnTo>
                        <a:pt x="7" y="14"/>
                      </a:lnTo>
                      <a:lnTo>
                        <a:pt x="16" y="17"/>
                      </a:lnTo>
                      <a:lnTo>
                        <a:pt x="16" y="20"/>
                      </a:lnTo>
                      <a:lnTo>
                        <a:pt x="9" y="17"/>
                      </a:lnTo>
                      <a:lnTo>
                        <a:pt x="3" y="20"/>
                      </a:lnTo>
                      <a:lnTo>
                        <a:pt x="0" y="17"/>
                      </a:lnTo>
                      <a:lnTo>
                        <a:pt x="3" y="14"/>
                      </a:lnTo>
                      <a:lnTo>
                        <a:pt x="0" y="10"/>
                      </a:lnTo>
                      <a:lnTo>
                        <a:pt x="3" y="2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" name="Freeform 14">
                  <a:extLst>
                    <a:ext uri="{FF2B5EF4-FFF2-40B4-BE49-F238E27FC236}">
                      <a16:creationId xmlns:a16="http://schemas.microsoft.com/office/drawing/2014/main" id="{A36A899F-D3E5-E5EF-F018-C098420B0A13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144" y="3496"/>
                  <a:ext cx="49" cy="70"/>
                </a:xfrm>
                <a:custGeom>
                  <a:avLst/>
                  <a:gdLst>
                    <a:gd name="T0" fmla="*/ 0 w 49"/>
                    <a:gd name="T1" fmla="*/ 34 h 70"/>
                    <a:gd name="T2" fmla="*/ 17 w 49"/>
                    <a:gd name="T3" fmla="*/ 34 h 70"/>
                    <a:gd name="T4" fmla="*/ 37 w 49"/>
                    <a:gd name="T5" fmla="*/ 0 h 70"/>
                    <a:gd name="T6" fmla="*/ 48 w 49"/>
                    <a:gd name="T7" fmla="*/ 20 h 70"/>
                    <a:gd name="T8" fmla="*/ 39 w 49"/>
                    <a:gd name="T9" fmla="*/ 69 h 70"/>
                    <a:gd name="T10" fmla="*/ 3 w 49"/>
                    <a:gd name="T11" fmla="*/ 57 h 70"/>
                    <a:gd name="T12" fmla="*/ 0 w 49"/>
                    <a:gd name="T13" fmla="*/ 34 h 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9" h="70">
                      <a:moveTo>
                        <a:pt x="0" y="34"/>
                      </a:moveTo>
                      <a:lnTo>
                        <a:pt x="17" y="34"/>
                      </a:lnTo>
                      <a:lnTo>
                        <a:pt x="37" y="0"/>
                      </a:lnTo>
                      <a:lnTo>
                        <a:pt x="48" y="20"/>
                      </a:lnTo>
                      <a:lnTo>
                        <a:pt x="39" y="69"/>
                      </a:lnTo>
                      <a:lnTo>
                        <a:pt x="3" y="57"/>
                      </a:lnTo>
                      <a:lnTo>
                        <a:pt x="0" y="34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7" name="Freeform 15">
                  <a:extLst>
                    <a:ext uri="{FF2B5EF4-FFF2-40B4-BE49-F238E27FC236}">
                      <a16:creationId xmlns:a16="http://schemas.microsoft.com/office/drawing/2014/main" id="{A6593422-5682-054A-A71F-9AC7A2FAF6F5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241" y="3523"/>
                  <a:ext cx="84" cy="67"/>
                </a:xfrm>
                <a:custGeom>
                  <a:avLst/>
                  <a:gdLst>
                    <a:gd name="T0" fmla="*/ 5 w 84"/>
                    <a:gd name="T1" fmla="*/ 15 h 67"/>
                    <a:gd name="T2" fmla="*/ 0 w 84"/>
                    <a:gd name="T3" fmla="*/ 0 h 67"/>
                    <a:gd name="T4" fmla="*/ 27 w 84"/>
                    <a:gd name="T5" fmla="*/ 6 h 67"/>
                    <a:gd name="T6" fmla="*/ 67 w 84"/>
                    <a:gd name="T7" fmla="*/ 22 h 67"/>
                    <a:gd name="T8" fmla="*/ 67 w 84"/>
                    <a:gd name="T9" fmla="*/ 34 h 67"/>
                    <a:gd name="T10" fmla="*/ 83 w 84"/>
                    <a:gd name="T11" fmla="*/ 66 h 67"/>
                    <a:gd name="T12" fmla="*/ 52 w 84"/>
                    <a:gd name="T13" fmla="*/ 36 h 67"/>
                    <a:gd name="T14" fmla="*/ 31 w 84"/>
                    <a:gd name="T15" fmla="*/ 38 h 67"/>
                    <a:gd name="T16" fmla="*/ 5 w 84"/>
                    <a:gd name="T17" fmla="*/ 15 h 6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84" h="67">
                      <a:moveTo>
                        <a:pt x="5" y="15"/>
                      </a:moveTo>
                      <a:lnTo>
                        <a:pt x="0" y="0"/>
                      </a:lnTo>
                      <a:lnTo>
                        <a:pt x="27" y="6"/>
                      </a:lnTo>
                      <a:lnTo>
                        <a:pt x="67" y="22"/>
                      </a:lnTo>
                      <a:lnTo>
                        <a:pt x="67" y="34"/>
                      </a:lnTo>
                      <a:lnTo>
                        <a:pt x="83" y="66"/>
                      </a:lnTo>
                      <a:lnTo>
                        <a:pt x="52" y="36"/>
                      </a:lnTo>
                      <a:lnTo>
                        <a:pt x="31" y="38"/>
                      </a:lnTo>
                      <a:lnTo>
                        <a:pt x="5" y="1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8" name="Freeform 16">
                  <a:extLst>
                    <a:ext uri="{FF2B5EF4-FFF2-40B4-BE49-F238E27FC236}">
                      <a16:creationId xmlns:a16="http://schemas.microsoft.com/office/drawing/2014/main" id="{59AEA2E1-6229-E883-1586-610404A6DC73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400" y="3660"/>
                  <a:ext cx="57" cy="73"/>
                </a:xfrm>
                <a:custGeom>
                  <a:avLst/>
                  <a:gdLst>
                    <a:gd name="T0" fmla="*/ 34 w 57"/>
                    <a:gd name="T1" fmla="*/ 0 h 73"/>
                    <a:gd name="T2" fmla="*/ 56 w 57"/>
                    <a:gd name="T3" fmla="*/ 21 h 73"/>
                    <a:gd name="T4" fmla="*/ 11 w 57"/>
                    <a:gd name="T5" fmla="*/ 72 h 73"/>
                    <a:gd name="T6" fmla="*/ 0 w 57"/>
                    <a:gd name="T7" fmla="*/ 60 h 73"/>
                    <a:gd name="T8" fmla="*/ 32 w 57"/>
                    <a:gd name="T9" fmla="*/ 28 h 73"/>
                    <a:gd name="T10" fmla="*/ 34 w 57"/>
                    <a:gd name="T11" fmla="*/ 0 h 7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7" h="73">
                      <a:moveTo>
                        <a:pt x="34" y="0"/>
                      </a:moveTo>
                      <a:lnTo>
                        <a:pt x="56" y="21"/>
                      </a:lnTo>
                      <a:lnTo>
                        <a:pt x="11" y="72"/>
                      </a:lnTo>
                      <a:lnTo>
                        <a:pt x="0" y="60"/>
                      </a:lnTo>
                      <a:lnTo>
                        <a:pt x="32" y="28"/>
                      </a:lnTo>
                      <a:lnTo>
                        <a:pt x="34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9" name="Freeform 17">
                  <a:extLst>
                    <a:ext uri="{FF2B5EF4-FFF2-40B4-BE49-F238E27FC236}">
                      <a16:creationId xmlns:a16="http://schemas.microsoft.com/office/drawing/2014/main" id="{16BEBCDD-79B7-D4AD-1544-AFCF6105E768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58" y="3167"/>
                  <a:ext cx="29" cy="48"/>
                </a:xfrm>
                <a:custGeom>
                  <a:avLst/>
                  <a:gdLst>
                    <a:gd name="T0" fmla="*/ 28 w 29"/>
                    <a:gd name="T1" fmla="*/ 36 h 48"/>
                    <a:gd name="T2" fmla="*/ 20 w 29"/>
                    <a:gd name="T3" fmla="*/ 31 h 48"/>
                    <a:gd name="T4" fmla="*/ 20 w 29"/>
                    <a:gd name="T5" fmla="*/ 10 h 48"/>
                    <a:gd name="T6" fmla="*/ 24 w 29"/>
                    <a:gd name="T7" fmla="*/ 5 h 48"/>
                    <a:gd name="T8" fmla="*/ 17 w 29"/>
                    <a:gd name="T9" fmla="*/ 5 h 48"/>
                    <a:gd name="T10" fmla="*/ 21 w 29"/>
                    <a:gd name="T11" fmla="*/ 0 h 48"/>
                    <a:gd name="T12" fmla="*/ 16 w 29"/>
                    <a:gd name="T13" fmla="*/ 0 h 48"/>
                    <a:gd name="T14" fmla="*/ 10 w 29"/>
                    <a:gd name="T15" fmla="*/ 6 h 48"/>
                    <a:gd name="T16" fmla="*/ 10 w 29"/>
                    <a:gd name="T17" fmla="*/ 19 h 48"/>
                    <a:gd name="T18" fmla="*/ 13 w 29"/>
                    <a:gd name="T19" fmla="*/ 22 h 48"/>
                    <a:gd name="T20" fmla="*/ 13 w 29"/>
                    <a:gd name="T21" fmla="*/ 28 h 48"/>
                    <a:gd name="T22" fmla="*/ 11 w 29"/>
                    <a:gd name="T23" fmla="*/ 28 h 48"/>
                    <a:gd name="T24" fmla="*/ 6 w 29"/>
                    <a:gd name="T25" fmla="*/ 33 h 48"/>
                    <a:gd name="T26" fmla="*/ 6 w 29"/>
                    <a:gd name="T27" fmla="*/ 38 h 48"/>
                    <a:gd name="T28" fmla="*/ 0 w 29"/>
                    <a:gd name="T29" fmla="*/ 47 h 48"/>
                    <a:gd name="T30" fmla="*/ 21 w 29"/>
                    <a:gd name="T31" fmla="*/ 47 h 48"/>
                    <a:gd name="T32" fmla="*/ 28 w 29"/>
                    <a:gd name="T33" fmla="*/ 36 h 4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29" h="48">
                      <a:moveTo>
                        <a:pt x="28" y="36"/>
                      </a:moveTo>
                      <a:lnTo>
                        <a:pt x="20" y="31"/>
                      </a:lnTo>
                      <a:lnTo>
                        <a:pt x="20" y="10"/>
                      </a:lnTo>
                      <a:lnTo>
                        <a:pt x="24" y="5"/>
                      </a:lnTo>
                      <a:lnTo>
                        <a:pt x="17" y="5"/>
                      </a:lnTo>
                      <a:lnTo>
                        <a:pt x="21" y="0"/>
                      </a:lnTo>
                      <a:lnTo>
                        <a:pt x="16" y="0"/>
                      </a:lnTo>
                      <a:lnTo>
                        <a:pt x="10" y="6"/>
                      </a:lnTo>
                      <a:lnTo>
                        <a:pt x="10" y="19"/>
                      </a:lnTo>
                      <a:lnTo>
                        <a:pt x="13" y="22"/>
                      </a:lnTo>
                      <a:lnTo>
                        <a:pt x="13" y="28"/>
                      </a:lnTo>
                      <a:lnTo>
                        <a:pt x="11" y="28"/>
                      </a:lnTo>
                      <a:lnTo>
                        <a:pt x="6" y="33"/>
                      </a:lnTo>
                      <a:lnTo>
                        <a:pt x="6" y="38"/>
                      </a:lnTo>
                      <a:lnTo>
                        <a:pt x="0" y="47"/>
                      </a:lnTo>
                      <a:lnTo>
                        <a:pt x="21" y="47"/>
                      </a:lnTo>
                      <a:lnTo>
                        <a:pt x="28" y="3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0" name="Freeform 18">
                  <a:extLst>
                    <a:ext uri="{FF2B5EF4-FFF2-40B4-BE49-F238E27FC236}">
                      <a16:creationId xmlns:a16="http://schemas.microsoft.com/office/drawing/2014/main" id="{D277CAFD-7DF0-EFFA-3F37-B80EE309F20F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49" y="3183"/>
                  <a:ext cx="17" cy="17"/>
                </a:xfrm>
                <a:custGeom>
                  <a:avLst/>
                  <a:gdLst>
                    <a:gd name="T0" fmla="*/ 13 w 17"/>
                    <a:gd name="T1" fmla="*/ 5 h 17"/>
                    <a:gd name="T2" fmla="*/ 16 w 17"/>
                    <a:gd name="T3" fmla="*/ 5 h 17"/>
                    <a:gd name="T4" fmla="*/ 16 w 17"/>
                    <a:gd name="T5" fmla="*/ 0 h 17"/>
                    <a:gd name="T6" fmla="*/ 10 w 17"/>
                    <a:gd name="T7" fmla="*/ 0 h 17"/>
                    <a:gd name="T8" fmla="*/ 0 w 17"/>
                    <a:gd name="T9" fmla="*/ 10 h 17"/>
                    <a:gd name="T10" fmla="*/ 0 w 17"/>
                    <a:gd name="T11" fmla="*/ 16 h 17"/>
                    <a:gd name="T12" fmla="*/ 9 w 17"/>
                    <a:gd name="T13" fmla="*/ 16 h 17"/>
                    <a:gd name="T14" fmla="*/ 13 w 17"/>
                    <a:gd name="T15" fmla="*/ 11 h 17"/>
                    <a:gd name="T16" fmla="*/ 13 w 17"/>
                    <a:gd name="T17" fmla="*/ 5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7" h="17">
                      <a:moveTo>
                        <a:pt x="13" y="5"/>
                      </a:moveTo>
                      <a:lnTo>
                        <a:pt x="16" y="5"/>
                      </a:lnTo>
                      <a:lnTo>
                        <a:pt x="16" y="0"/>
                      </a:lnTo>
                      <a:lnTo>
                        <a:pt x="10" y="0"/>
                      </a:lnTo>
                      <a:lnTo>
                        <a:pt x="0" y="10"/>
                      </a:lnTo>
                      <a:lnTo>
                        <a:pt x="0" y="16"/>
                      </a:lnTo>
                      <a:lnTo>
                        <a:pt x="9" y="16"/>
                      </a:lnTo>
                      <a:lnTo>
                        <a:pt x="13" y="11"/>
                      </a:lnTo>
                      <a:lnTo>
                        <a:pt x="13" y="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1" name="Freeform 19">
                  <a:extLst>
                    <a:ext uri="{FF2B5EF4-FFF2-40B4-BE49-F238E27FC236}">
                      <a16:creationId xmlns:a16="http://schemas.microsoft.com/office/drawing/2014/main" id="{3A36C534-4C87-5951-C605-2C95390432BF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27" y="3155"/>
                  <a:ext cx="184" cy="155"/>
                </a:xfrm>
                <a:custGeom>
                  <a:avLst/>
                  <a:gdLst>
                    <a:gd name="T0" fmla="*/ 120 w 184"/>
                    <a:gd name="T1" fmla="*/ 10 h 155"/>
                    <a:gd name="T2" fmla="*/ 144 w 184"/>
                    <a:gd name="T3" fmla="*/ 14 h 155"/>
                    <a:gd name="T4" fmla="*/ 129 w 184"/>
                    <a:gd name="T5" fmla="*/ 20 h 155"/>
                    <a:gd name="T6" fmla="*/ 123 w 184"/>
                    <a:gd name="T7" fmla="*/ 29 h 155"/>
                    <a:gd name="T8" fmla="*/ 114 w 184"/>
                    <a:gd name="T9" fmla="*/ 50 h 155"/>
                    <a:gd name="T10" fmla="*/ 100 w 184"/>
                    <a:gd name="T11" fmla="*/ 51 h 155"/>
                    <a:gd name="T12" fmla="*/ 88 w 184"/>
                    <a:gd name="T13" fmla="*/ 49 h 155"/>
                    <a:gd name="T14" fmla="*/ 94 w 184"/>
                    <a:gd name="T15" fmla="*/ 39 h 155"/>
                    <a:gd name="T16" fmla="*/ 88 w 184"/>
                    <a:gd name="T17" fmla="*/ 26 h 155"/>
                    <a:gd name="T18" fmla="*/ 81 w 184"/>
                    <a:gd name="T19" fmla="*/ 49 h 155"/>
                    <a:gd name="T20" fmla="*/ 62 w 184"/>
                    <a:gd name="T21" fmla="*/ 60 h 155"/>
                    <a:gd name="T22" fmla="*/ 52 w 184"/>
                    <a:gd name="T23" fmla="*/ 67 h 155"/>
                    <a:gd name="T24" fmla="*/ 38 w 184"/>
                    <a:gd name="T25" fmla="*/ 77 h 155"/>
                    <a:gd name="T26" fmla="*/ 30 w 184"/>
                    <a:gd name="T27" fmla="*/ 102 h 155"/>
                    <a:gd name="T28" fmla="*/ 5 w 184"/>
                    <a:gd name="T29" fmla="*/ 93 h 155"/>
                    <a:gd name="T30" fmla="*/ 0 w 184"/>
                    <a:gd name="T31" fmla="*/ 111 h 155"/>
                    <a:gd name="T32" fmla="*/ 10 w 184"/>
                    <a:gd name="T33" fmla="*/ 138 h 155"/>
                    <a:gd name="T34" fmla="*/ 50 w 184"/>
                    <a:gd name="T35" fmla="*/ 109 h 155"/>
                    <a:gd name="T36" fmla="*/ 75 w 184"/>
                    <a:gd name="T37" fmla="*/ 103 h 155"/>
                    <a:gd name="T38" fmla="*/ 79 w 184"/>
                    <a:gd name="T39" fmla="*/ 115 h 155"/>
                    <a:gd name="T40" fmla="*/ 99 w 184"/>
                    <a:gd name="T41" fmla="*/ 143 h 155"/>
                    <a:gd name="T42" fmla="*/ 101 w 184"/>
                    <a:gd name="T43" fmla="*/ 135 h 155"/>
                    <a:gd name="T44" fmla="*/ 107 w 184"/>
                    <a:gd name="T45" fmla="*/ 135 h 155"/>
                    <a:gd name="T46" fmla="*/ 88 w 184"/>
                    <a:gd name="T47" fmla="*/ 108 h 155"/>
                    <a:gd name="T48" fmla="*/ 94 w 184"/>
                    <a:gd name="T49" fmla="*/ 99 h 155"/>
                    <a:gd name="T50" fmla="*/ 114 w 184"/>
                    <a:gd name="T51" fmla="*/ 127 h 155"/>
                    <a:gd name="T52" fmla="*/ 123 w 184"/>
                    <a:gd name="T53" fmla="*/ 144 h 155"/>
                    <a:gd name="T54" fmla="*/ 127 w 184"/>
                    <a:gd name="T55" fmla="*/ 154 h 155"/>
                    <a:gd name="T56" fmla="*/ 131 w 184"/>
                    <a:gd name="T57" fmla="*/ 136 h 155"/>
                    <a:gd name="T58" fmla="*/ 144 w 184"/>
                    <a:gd name="T59" fmla="*/ 130 h 155"/>
                    <a:gd name="T60" fmla="*/ 153 w 184"/>
                    <a:gd name="T61" fmla="*/ 126 h 155"/>
                    <a:gd name="T62" fmla="*/ 150 w 184"/>
                    <a:gd name="T63" fmla="*/ 113 h 155"/>
                    <a:gd name="T64" fmla="*/ 157 w 184"/>
                    <a:gd name="T65" fmla="*/ 90 h 155"/>
                    <a:gd name="T66" fmla="*/ 166 w 184"/>
                    <a:gd name="T67" fmla="*/ 93 h 155"/>
                    <a:gd name="T68" fmla="*/ 169 w 184"/>
                    <a:gd name="T69" fmla="*/ 103 h 155"/>
                    <a:gd name="T70" fmla="*/ 177 w 184"/>
                    <a:gd name="T71" fmla="*/ 98 h 155"/>
                    <a:gd name="T72" fmla="*/ 175 w 184"/>
                    <a:gd name="T73" fmla="*/ 95 h 155"/>
                    <a:gd name="T74" fmla="*/ 180 w 184"/>
                    <a:gd name="T75" fmla="*/ 81 h 155"/>
                    <a:gd name="T76" fmla="*/ 183 w 184"/>
                    <a:gd name="T77" fmla="*/ 98 h 155"/>
                    <a:gd name="T78" fmla="*/ 120 w 184"/>
                    <a:gd name="T79" fmla="*/ 0 h 155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184" h="155">
                      <a:moveTo>
                        <a:pt x="120" y="0"/>
                      </a:moveTo>
                      <a:lnTo>
                        <a:pt x="120" y="10"/>
                      </a:lnTo>
                      <a:lnTo>
                        <a:pt x="124" y="14"/>
                      </a:lnTo>
                      <a:lnTo>
                        <a:pt x="144" y="14"/>
                      </a:lnTo>
                      <a:lnTo>
                        <a:pt x="144" y="20"/>
                      </a:lnTo>
                      <a:lnTo>
                        <a:pt x="129" y="20"/>
                      </a:lnTo>
                      <a:lnTo>
                        <a:pt x="129" y="37"/>
                      </a:lnTo>
                      <a:lnTo>
                        <a:pt x="123" y="29"/>
                      </a:lnTo>
                      <a:lnTo>
                        <a:pt x="123" y="40"/>
                      </a:lnTo>
                      <a:lnTo>
                        <a:pt x="114" y="50"/>
                      </a:lnTo>
                      <a:lnTo>
                        <a:pt x="109" y="44"/>
                      </a:lnTo>
                      <a:lnTo>
                        <a:pt x="100" y="51"/>
                      </a:lnTo>
                      <a:lnTo>
                        <a:pt x="99" y="49"/>
                      </a:lnTo>
                      <a:lnTo>
                        <a:pt x="88" y="49"/>
                      </a:lnTo>
                      <a:lnTo>
                        <a:pt x="94" y="42"/>
                      </a:lnTo>
                      <a:lnTo>
                        <a:pt x="94" y="39"/>
                      </a:lnTo>
                      <a:lnTo>
                        <a:pt x="88" y="34"/>
                      </a:lnTo>
                      <a:lnTo>
                        <a:pt x="88" y="26"/>
                      </a:lnTo>
                      <a:lnTo>
                        <a:pt x="81" y="34"/>
                      </a:lnTo>
                      <a:lnTo>
                        <a:pt x="81" y="49"/>
                      </a:lnTo>
                      <a:lnTo>
                        <a:pt x="73" y="49"/>
                      </a:lnTo>
                      <a:lnTo>
                        <a:pt x="62" y="60"/>
                      </a:lnTo>
                      <a:lnTo>
                        <a:pt x="58" y="60"/>
                      </a:lnTo>
                      <a:lnTo>
                        <a:pt x="52" y="67"/>
                      </a:lnTo>
                      <a:lnTo>
                        <a:pt x="30" y="67"/>
                      </a:lnTo>
                      <a:lnTo>
                        <a:pt x="38" y="77"/>
                      </a:lnTo>
                      <a:lnTo>
                        <a:pt x="38" y="93"/>
                      </a:lnTo>
                      <a:lnTo>
                        <a:pt x="30" y="102"/>
                      </a:lnTo>
                      <a:lnTo>
                        <a:pt x="22" y="93"/>
                      </a:lnTo>
                      <a:lnTo>
                        <a:pt x="5" y="93"/>
                      </a:lnTo>
                      <a:lnTo>
                        <a:pt x="5" y="104"/>
                      </a:lnTo>
                      <a:lnTo>
                        <a:pt x="0" y="111"/>
                      </a:lnTo>
                      <a:lnTo>
                        <a:pt x="0" y="126"/>
                      </a:lnTo>
                      <a:lnTo>
                        <a:pt x="10" y="138"/>
                      </a:lnTo>
                      <a:lnTo>
                        <a:pt x="26" y="138"/>
                      </a:lnTo>
                      <a:lnTo>
                        <a:pt x="50" y="109"/>
                      </a:lnTo>
                      <a:lnTo>
                        <a:pt x="72" y="109"/>
                      </a:lnTo>
                      <a:lnTo>
                        <a:pt x="75" y="103"/>
                      </a:lnTo>
                      <a:lnTo>
                        <a:pt x="80" y="109"/>
                      </a:lnTo>
                      <a:lnTo>
                        <a:pt x="79" y="115"/>
                      </a:lnTo>
                      <a:lnTo>
                        <a:pt x="99" y="135"/>
                      </a:lnTo>
                      <a:lnTo>
                        <a:pt x="99" y="143"/>
                      </a:lnTo>
                      <a:lnTo>
                        <a:pt x="104" y="140"/>
                      </a:lnTo>
                      <a:lnTo>
                        <a:pt x="101" y="135"/>
                      </a:lnTo>
                      <a:lnTo>
                        <a:pt x="104" y="132"/>
                      </a:lnTo>
                      <a:lnTo>
                        <a:pt x="107" y="135"/>
                      </a:lnTo>
                      <a:lnTo>
                        <a:pt x="109" y="134"/>
                      </a:lnTo>
                      <a:lnTo>
                        <a:pt x="88" y="108"/>
                      </a:lnTo>
                      <a:lnTo>
                        <a:pt x="88" y="99"/>
                      </a:lnTo>
                      <a:lnTo>
                        <a:pt x="94" y="99"/>
                      </a:lnTo>
                      <a:lnTo>
                        <a:pt x="94" y="104"/>
                      </a:lnTo>
                      <a:lnTo>
                        <a:pt x="114" y="127"/>
                      </a:lnTo>
                      <a:lnTo>
                        <a:pt x="114" y="134"/>
                      </a:lnTo>
                      <a:lnTo>
                        <a:pt x="123" y="144"/>
                      </a:lnTo>
                      <a:lnTo>
                        <a:pt x="121" y="146"/>
                      </a:lnTo>
                      <a:lnTo>
                        <a:pt x="127" y="154"/>
                      </a:lnTo>
                      <a:lnTo>
                        <a:pt x="137" y="143"/>
                      </a:lnTo>
                      <a:lnTo>
                        <a:pt x="131" y="136"/>
                      </a:lnTo>
                      <a:lnTo>
                        <a:pt x="137" y="130"/>
                      </a:lnTo>
                      <a:lnTo>
                        <a:pt x="144" y="130"/>
                      </a:lnTo>
                      <a:lnTo>
                        <a:pt x="148" y="126"/>
                      </a:lnTo>
                      <a:lnTo>
                        <a:pt x="153" y="126"/>
                      </a:lnTo>
                      <a:lnTo>
                        <a:pt x="147" y="117"/>
                      </a:lnTo>
                      <a:lnTo>
                        <a:pt x="150" y="113"/>
                      </a:lnTo>
                      <a:lnTo>
                        <a:pt x="150" y="98"/>
                      </a:lnTo>
                      <a:lnTo>
                        <a:pt x="157" y="90"/>
                      </a:lnTo>
                      <a:lnTo>
                        <a:pt x="160" y="93"/>
                      </a:lnTo>
                      <a:lnTo>
                        <a:pt x="166" y="93"/>
                      </a:lnTo>
                      <a:lnTo>
                        <a:pt x="163" y="97"/>
                      </a:lnTo>
                      <a:lnTo>
                        <a:pt x="169" y="103"/>
                      </a:lnTo>
                      <a:lnTo>
                        <a:pt x="172" y="98"/>
                      </a:lnTo>
                      <a:lnTo>
                        <a:pt x="177" y="98"/>
                      </a:lnTo>
                      <a:lnTo>
                        <a:pt x="177" y="95"/>
                      </a:lnTo>
                      <a:lnTo>
                        <a:pt x="175" y="95"/>
                      </a:lnTo>
                      <a:lnTo>
                        <a:pt x="171" y="93"/>
                      </a:lnTo>
                      <a:lnTo>
                        <a:pt x="180" y="81"/>
                      </a:lnTo>
                      <a:lnTo>
                        <a:pt x="180" y="98"/>
                      </a:lnTo>
                      <a:lnTo>
                        <a:pt x="183" y="98"/>
                      </a:lnTo>
                      <a:lnTo>
                        <a:pt x="183" y="0"/>
                      </a:lnTo>
                      <a:lnTo>
                        <a:pt x="12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2" name="Freeform 20">
                  <a:extLst>
                    <a:ext uri="{FF2B5EF4-FFF2-40B4-BE49-F238E27FC236}">
                      <a16:creationId xmlns:a16="http://schemas.microsoft.com/office/drawing/2014/main" id="{C40A586B-4364-AB7C-9D08-94F3218EF81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605" y="2991"/>
                  <a:ext cx="782" cy="553"/>
                </a:xfrm>
                <a:custGeom>
                  <a:avLst/>
                  <a:gdLst>
                    <a:gd name="T0" fmla="*/ 22 w 782"/>
                    <a:gd name="T1" fmla="*/ 145 h 553"/>
                    <a:gd name="T2" fmla="*/ 71 w 782"/>
                    <a:gd name="T3" fmla="*/ 96 h 553"/>
                    <a:gd name="T4" fmla="*/ 101 w 782"/>
                    <a:gd name="T5" fmla="*/ 130 h 553"/>
                    <a:gd name="T6" fmla="*/ 84 w 782"/>
                    <a:gd name="T7" fmla="*/ 128 h 553"/>
                    <a:gd name="T8" fmla="*/ 155 w 782"/>
                    <a:gd name="T9" fmla="*/ 123 h 553"/>
                    <a:gd name="T10" fmla="*/ 172 w 782"/>
                    <a:gd name="T11" fmla="*/ 79 h 553"/>
                    <a:gd name="T12" fmla="*/ 172 w 782"/>
                    <a:gd name="T13" fmla="*/ 89 h 553"/>
                    <a:gd name="T14" fmla="*/ 160 w 782"/>
                    <a:gd name="T15" fmla="*/ 123 h 553"/>
                    <a:gd name="T16" fmla="*/ 216 w 782"/>
                    <a:gd name="T17" fmla="*/ 95 h 553"/>
                    <a:gd name="T18" fmla="*/ 330 w 782"/>
                    <a:gd name="T19" fmla="*/ 16 h 553"/>
                    <a:gd name="T20" fmla="*/ 412 w 782"/>
                    <a:gd name="T21" fmla="*/ 20 h 553"/>
                    <a:gd name="T22" fmla="*/ 503 w 782"/>
                    <a:gd name="T23" fmla="*/ 10 h 553"/>
                    <a:gd name="T24" fmla="*/ 602 w 782"/>
                    <a:gd name="T25" fmla="*/ 51 h 553"/>
                    <a:gd name="T26" fmla="*/ 718 w 782"/>
                    <a:gd name="T27" fmla="*/ 65 h 553"/>
                    <a:gd name="T28" fmla="*/ 775 w 782"/>
                    <a:gd name="T29" fmla="*/ 112 h 553"/>
                    <a:gd name="T30" fmla="*/ 731 w 782"/>
                    <a:gd name="T31" fmla="*/ 148 h 553"/>
                    <a:gd name="T32" fmla="*/ 707 w 782"/>
                    <a:gd name="T33" fmla="*/ 194 h 553"/>
                    <a:gd name="T34" fmla="*/ 678 w 782"/>
                    <a:gd name="T35" fmla="*/ 196 h 553"/>
                    <a:gd name="T36" fmla="*/ 687 w 782"/>
                    <a:gd name="T37" fmla="*/ 132 h 553"/>
                    <a:gd name="T38" fmla="*/ 650 w 782"/>
                    <a:gd name="T39" fmla="*/ 166 h 553"/>
                    <a:gd name="T40" fmla="*/ 623 w 782"/>
                    <a:gd name="T41" fmla="*/ 196 h 553"/>
                    <a:gd name="T42" fmla="*/ 632 w 782"/>
                    <a:gd name="T43" fmla="*/ 228 h 553"/>
                    <a:gd name="T44" fmla="*/ 600 w 782"/>
                    <a:gd name="T45" fmla="*/ 276 h 553"/>
                    <a:gd name="T46" fmla="*/ 605 w 782"/>
                    <a:gd name="T47" fmla="*/ 315 h 553"/>
                    <a:gd name="T48" fmla="*/ 602 w 782"/>
                    <a:gd name="T49" fmla="*/ 296 h 553"/>
                    <a:gd name="T50" fmla="*/ 572 w 782"/>
                    <a:gd name="T51" fmla="*/ 299 h 553"/>
                    <a:gd name="T52" fmla="*/ 594 w 782"/>
                    <a:gd name="T53" fmla="*/ 356 h 553"/>
                    <a:gd name="T54" fmla="*/ 539 w 782"/>
                    <a:gd name="T55" fmla="*/ 423 h 553"/>
                    <a:gd name="T56" fmla="*/ 524 w 782"/>
                    <a:gd name="T57" fmla="*/ 442 h 553"/>
                    <a:gd name="T58" fmla="*/ 504 w 782"/>
                    <a:gd name="T59" fmla="*/ 507 h 553"/>
                    <a:gd name="T60" fmla="*/ 477 w 782"/>
                    <a:gd name="T61" fmla="*/ 508 h 553"/>
                    <a:gd name="T62" fmla="*/ 510 w 782"/>
                    <a:gd name="T63" fmla="*/ 552 h 553"/>
                    <a:gd name="T64" fmla="*/ 455 w 782"/>
                    <a:gd name="T65" fmla="*/ 449 h 553"/>
                    <a:gd name="T66" fmla="*/ 391 w 782"/>
                    <a:gd name="T67" fmla="*/ 428 h 553"/>
                    <a:gd name="T68" fmla="*/ 361 w 782"/>
                    <a:gd name="T69" fmla="*/ 495 h 553"/>
                    <a:gd name="T70" fmla="*/ 338 w 782"/>
                    <a:gd name="T71" fmla="*/ 530 h 553"/>
                    <a:gd name="T72" fmla="*/ 298 w 782"/>
                    <a:gd name="T73" fmla="*/ 425 h 553"/>
                    <a:gd name="T74" fmla="*/ 267 w 782"/>
                    <a:gd name="T75" fmla="*/ 436 h 553"/>
                    <a:gd name="T76" fmla="*/ 241 w 782"/>
                    <a:gd name="T77" fmla="*/ 391 h 553"/>
                    <a:gd name="T78" fmla="*/ 160 w 782"/>
                    <a:gd name="T79" fmla="*/ 366 h 553"/>
                    <a:gd name="T80" fmla="*/ 188 w 782"/>
                    <a:gd name="T81" fmla="*/ 414 h 553"/>
                    <a:gd name="T82" fmla="*/ 167 w 782"/>
                    <a:gd name="T83" fmla="*/ 445 h 553"/>
                    <a:gd name="T84" fmla="*/ 136 w 782"/>
                    <a:gd name="T85" fmla="*/ 434 h 553"/>
                    <a:gd name="T86" fmla="*/ 85 w 782"/>
                    <a:gd name="T87" fmla="*/ 355 h 553"/>
                    <a:gd name="T88" fmla="*/ 106 w 782"/>
                    <a:gd name="T89" fmla="*/ 310 h 553"/>
                    <a:gd name="T90" fmla="*/ 119 w 782"/>
                    <a:gd name="T91" fmla="*/ 276 h 553"/>
                    <a:gd name="T92" fmla="*/ 106 w 782"/>
                    <a:gd name="T93" fmla="*/ 162 h 553"/>
                    <a:gd name="T94" fmla="*/ 61 w 782"/>
                    <a:gd name="T95" fmla="*/ 138 h 553"/>
                    <a:gd name="T96" fmla="*/ 39 w 782"/>
                    <a:gd name="T97" fmla="*/ 150 h 553"/>
                    <a:gd name="T98" fmla="*/ 0 w 782"/>
                    <a:gd name="T99" fmla="*/ 162 h 553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782" h="553">
                      <a:moveTo>
                        <a:pt x="0" y="162"/>
                      </a:moveTo>
                      <a:lnTo>
                        <a:pt x="22" y="145"/>
                      </a:lnTo>
                      <a:lnTo>
                        <a:pt x="44" y="112"/>
                      </a:lnTo>
                      <a:lnTo>
                        <a:pt x="71" y="96"/>
                      </a:lnTo>
                      <a:lnTo>
                        <a:pt x="98" y="115"/>
                      </a:lnTo>
                      <a:lnTo>
                        <a:pt x="101" y="130"/>
                      </a:lnTo>
                      <a:lnTo>
                        <a:pt x="95" y="130"/>
                      </a:lnTo>
                      <a:lnTo>
                        <a:pt x="84" y="128"/>
                      </a:lnTo>
                      <a:lnTo>
                        <a:pt x="98" y="145"/>
                      </a:lnTo>
                      <a:lnTo>
                        <a:pt x="155" y="123"/>
                      </a:lnTo>
                      <a:lnTo>
                        <a:pt x="147" y="107"/>
                      </a:lnTo>
                      <a:lnTo>
                        <a:pt x="172" y="79"/>
                      </a:lnTo>
                      <a:lnTo>
                        <a:pt x="188" y="79"/>
                      </a:lnTo>
                      <a:lnTo>
                        <a:pt x="172" y="89"/>
                      </a:lnTo>
                      <a:lnTo>
                        <a:pt x="160" y="109"/>
                      </a:lnTo>
                      <a:lnTo>
                        <a:pt x="160" y="123"/>
                      </a:lnTo>
                      <a:lnTo>
                        <a:pt x="183" y="138"/>
                      </a:lnTo>
                      <a:lnTo>
                        <a:pt x="216" y="95"/>
                      </a:lnTo>
                      <a:lnTo>
                        <a:pt x="330" y="45"/>
                      </a:lnTo>
                      <a:lnTo>
                        <a:pt x="330" y="16"/>
                      </a:lnTo>
                      <a:lnTo>
                        <a:pt x="382" y="5"/>
                      </a:lnTo>
                      <a:lnTo>
                        <a:pt x="412" y="20"/>
                      </a:lnTo>
                      <a:lnTo>
                        <a:pt x="481" y="0"/>
                      </a:lnTo>
                      <a:lnTo>
                        <a:pt x="503" y="10"/>
                      </a:lnTo>
                      <a:lnTo>
                        <a:pt x="549" y="61"/>
                      </a:lnTo>
                      <a:lnTo>
                        <a:pt x="602" y="51"/>
                      </a:lnTo>
                      <a:lnTo>
                        <a:pt x="635" y="69"/>
                      </a:lnTo>
                      <a:lnTo>
                        <a:pt x="718" y="65"/>
                      </a:lnTo>
                      <a:lnTo>
                        <a:pt x="781" y="84"/>
                      </a:lnTo>
                      <a:lnTo>
                        <a:pt x="775" y="112"/>
                      </a:lnTo>
                      <a:lnTo>
                        <a:pt x="722" y="130"/>
                      </a:lnTo>
                      <a:lnTo>
                        <a:pt x="731" y="148"/>
                      </a:lnTo>
                      <a:lnTo>
                        <a:pt x="708" y="158"/>
                      </a:lnTo>
                      <a:lnTo>
                        <a:pt x="707" y="194"/>
                      </a:lnTo>
                      <a:lnTo>
                        <a:pt x="686" y="218"/>
                      </a:lnTo>
                      <a:lnTo>
                        <a:pt x="678" y="196"/>
                      </a:lnTo>
                      <a:lnTo>
                        <a:pt x="689" y="175"/>
                      </a:lnTo>
                      <a:lnTo>
                        <a:pt x="687" y="132"/>
                      </a:lnTo>
                      <a:lnTo>
                        <a:pt x="666" y="154"/>
                      </a:lnTo>
                      <a:lnTo>
                        <a:pt x="650" y="166"/>
                      </a:lnTo>
                      <a:lnTo>
                        <a:pt x="634" y="147"/>
                      </a:lnTo>
                      <a:lnTo>
                        <a:pt x="623" y="196"/>
                      </a:lnTo>
                      <a:lnTo>
                        <a:pt x="635" y="196"/>
                      </a:lnTo>
                      <a:lnTo>
                        <a:pt x="632" y="228"/>
                      </a:lnTo>
                      <a:lnTo>
                        <a:pt x="618" y="263"/>
                      </a:lnTo>
                      <a:lnTo>
                        <a:pt x="600" y="276"/>
                      </a:lnTo>
                      <a:lnTo>
                        <a:pt x="615" y="299"/>
                      </a:lnTo>
                      <a:lnTo>
                        <a:pt x="605" y="315"/>
                      </a:lnTo>
                      <a:lnTo>
                        <a:pt x="602" y="301"/>
                      </a:lnTo>
                      <a:lnTo>
                        <a:pt x="602" y="296"/>
                      </a:lnTo>
                      <a:lnTo>
                        <a:pt x="590" y="288"/>
                      </a:lnTo>
                      <a:lnTo>
                        <a:pt x="572" y="299"/>
                      </a:lnTo>
                      <a:lnTo>
                        <a:pt x="588" y="337"/>
                      </a:lnTo>
                      <a:lnTo>
                        <a:pt x="594" y="356"/>
                      </a:lnTo>
                      <a:lnTo>
                        <a:pt x="574" y="408"/>
                      </a:lnTo>
                      <a:lnTo>
                        <a:pt x="539" y="423"/>
                      </a:lnTo>
                      <a:lnTo>
                        <a:pt x="509" y="420"/>
                      </a:lnTo>
                      <a:lnTo>
                        <a:pt x="524" y="442"/>
                      </a:lnTo>
                      <a:lnTo>
                        <a:pt x="525" y="472"/>
                      </a:lnTo>
                      <a:lnTo>
                        <a:pt x="504" y="507"/>
                      </a:lnTo>
                      <a:lnTo>
                        <a:pt x="480" y="488"/>
                      </a:lnTo>
                      <a:lnTo>
                        <a:pt x="477" y="508"/>
                      </a:lnTo>
                      <a:lnTo>
                        <a:pt x="495" y="526"/>
                      </a:lnTo>
                      <a:lnTo>
                        <a:pt x="510" y="552"/>
                      </a:lnTo>
                      <a:lnTo>
                        <a:pt x="485" y="536"/>
                      </a:lnTo>
                      <a:lnTo>
                        <a:pt x="455" y="449"/>
                      </a:lnTo>
                      <a:lnTo>
                        <a:pt x="418" y="426"/>
                      </a:lnTo>
                      <a:lnTo>
                        <a:pt x="391" y="428"/>
                      </a:lnTo>
                      <a:lnTo>
                        <a:pt x="356" y="477"/>
                      </a:lnTo>
                      <a:lnTo>
                        <a:pt x="361" y="495"/>
                      </a:lnTo>
                      <a:lnTo>
                        <a:pt x="349" y="530"/>
                      </a:lnTo>
                      <a:lnTo>
                        <a:pt x="338" y="530"/>
                      </a:lnTo>
                      <a:lnTo>
                        <a:pt x="298" y="457"/>
                      </a:lnTo>
                      <a:lnTo>
                        <a:pt x="298" y="425"/>
                      </a:lnTo>
                      <a:lnTo>
                        <a:pt x="290" y="437"/>
                      </a:lnTo>
                      <a:lnTo>
                        <a:pt x="267" y="436"/>
                      </a:lnTo>
                      <a:lnTo>
                        <a:pt x="276" y="416"/>
                      </a:lnTo>
                      <a:lnTo>
                        <a:pt x="241" y="391"/>
                      </a:lnTo>
                      <a:lnTo>
                        <a:pt x="197" y="391"/>
                      </a:lnTo>
                      <a:lnTo>
                        <a:pt x="160" y="366"/>
                      </a:lnTo>
                      <a:lnTo>
                        <a:pt x="157" y="391"/>
                      </a:lnTo>
                      <a:lnTo>
                        <a:pt x="188" y="414"/>
                      </a:lnTo>
                      <a:lnTo>
                        <a:pt x="199" y="414"/>
                      </a:lnTo>
                      <a:lnTo>
                        <a:pt x="167" y="445"/>
                      </a:lnTo>
                      <a:lnTo>
                        <a:pt x="136" y="452"/>
                      </a:lnTo>
                      <a:lnTo>
                        <a:pt x="136" y="434"/>
                      </a:lnTo>
                      <a:lnTo>
                        <a:pt x="91" y="372"/>
                      </a:lnTo>
                      <a:lnTo>
                        <a:pt x="85" y="355"/>
                      </a:lnTo>
                      <a:lnTo>
                        <a:pt x="109" y="335"/>
                      </a:lnTo>
                      <a:lnTo>
                        <a:pt x="106" y="310"/>
                      </a:lnTo>
                      <a:lnTo>
                        <a:pt x="106" y="282"/>
                      </a:lnTo>
                      <a:lnTo>
                        <a:pt x="119" y="276"/>
                      </a:lnTo>
                      <a:lnTo>
                        <a:pt x="106" y="263"/>
                      </a:lnTo>
                      <a:lnTo>
                        <a:pt x="106" y="162"/>
                      </a:lnTo>
                      <a:lnTo>
                        <a:pt x="43" y="162"/>
                      </a:lnTo>
                      <a:lnTo>
                        <a:pt x="61" y="138"/>
                      </a:lnTo>
                      <a:lnTo>
                        <a:pt x="60" y="130"/>
                      </a:lnTo>
                      <a:lnTo>
                        <a:pt x="39" y="150"/>
                      </a:lnTo>
                      <a:lnTo>
                        <a:pt x="32" y="162"/>
                      </a:lnTo>
                      <a:lnTo>
                        <a:pt x="0" y="162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3" name="Freeform 21">
                  <a:extLst>
                    <a:ext uri="{FF2B5EF4-FFF2-40B4-BE49-F238E27FC236}">
                      <a16:creationId xmlns:a16="http://schemas.microsoft.com/office/drawing/2014/main" id="{5A8A62CA-6869-CCB3-6E07-9A532D740996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221" y="3217"/>
                  <a:ext cx="68" cy="113"/>
                </a:xfrm>
                <a:custGeom>
                  <a:avLst/>
                  <a:gdLst>
                    <a:gd name="T0" fmla="*/ 45 w 68"/>
                    <a:gd name="T1" fmla="*/ 0 h 113"/>
                    <a:gd name="T2" fmla="*/ 45 w 68"/>
                    <a:gd name="T3" fmla="*/ 14 h 113"/>
                    <a:gd name="T4" fmla="*/ 39 w 68"/>
                    <a:gd name="T5" fmla="*/ 23 h 113"/>
                    <a:gd name="T6" fmla="*/ 41 w 68"/>
                    <a:gd name="T7" fmla="*/ 38 h 113"/>
                    <a:gd name="T8" fmla="*/ 33 w 68"/>
                    <a:gd name="T9" fmla="*/ 58 h 113"/>
                    <a:gd name="T10" fmla="*/ 22 w 68"/>
                    <a:gd name="T11" fmla="*/ 77 h 113"/>
                    <a:gd name="T12" fmla="*/ 5 w 68"/>
                    <a:gd name="T13" fmla="*/ 89 h 113"/>
                    <a:gd name="T14" fmla="*/ 0 w 68"/>
                    <a:gd name="T15" fmla="*/ 110 h 113"/>
                    <a:gd name="T16" fmla="*/ 7 w 68"/>
                    <a:gd name="T17" fmla="*/ 112 h 113"/>
                    <a:gd name="T18" fmla="*/ 7 w 68"/>
                    <a:gd name="T19" fmla="*/ 92 h 113"/>
                    <a:gd name="T20" fmla="*/ 31 w 68"/>
                    <a:gd name="T21" fmla="*/ 91 h 113"/>
                    <a:gd name="T22" fmla="*/ 49 w 68"/>
                    <a:gd name="T23" fmla="*/ 78 h 113"/>
                    <a:gd name="T24" fmla="*/ 49 w 68"/>
                    <a:gd name="T25" fmla="*/ 51 h 113"/>
                    <a:gd name="T26" fmla="*/ 55 w 68"/>
                    <a:gd name="T27" fmla="*/ 41 h 113"/>
                    <a:gd name="T28" fmla="*/ 46 w 68"/>
                    <a:gd name="T29" fmla="*/ 24 h 113"/>
                    <a:gd name="T30" fmla="*/ 59 w 68"/>
                    <a:gd name="T31" fmla="*/ 19 h 113"/>
                    <a:gd name="T32" fmla="*/ 67 w 68"/>
                    <a:gd name="T33" fmla="*/ 5 h 113"/>
                    <a:gd name="T34" fmla="*/ 49 w 68"/>
                    <a:gd name="T35" fmla="*/ 7 h 113"/>
                    <a:gd name="T36" fmla="*/ 45 w 68"/>
                    <a:gd name="T37" fmla="*/ 0 h 11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68" h="113">
                      <a:moveTo>
                        <a:pt x="45" y="0"/>
                      </a:moveTo>
                      <a:lnTo>
                        <a:pt x="45" y="14"/>
                      </a:lnTo>
                      <a:lnTo>
                        <a:pt x="39" y="23"/>
                      </a:lnTo>
                      <a:lnTo>
                        <a:pt x="41" y="38"/>
                      </a:lnTo>
                      <a:lnTo>
                        <a:pt x="33" y="58"/>
                      </a:lnTo>
                      <a:lnTo>
                        <a:pt x="22" y="77"/>
                      </a:lnTo>
                      <a:lnTo>
                        <a:pt x="5" y="89"/>
                      </a:lnTo>
                      <a:lnTo>
                        <a:pt x="0" y="110"/>
                      </a:lnTo>
                      <a:lnTo>
                        <a:pt x="7" y="112"/>
                      </a:lnTo>
                      <a:lnTo>
                        <a:pt x="7" y="92"/>
                      </a:lnTo>
                      <a:lnTo>
                        <a:pt x="31" y="91"/>
                      </a:lnTo>
                      <a:lnTo>
                        <a:pt x="49" y="78"/>
                      </a:lnTo>
                      <a:lnTo>
                        <a:pt x="49" y="51"/>
                      </a:lnTo>
                      <a:lnTo>
                        <a:pt x="55" y="41"/>
                      </a:lnTo>
                      <a:lnTo>
                        <a:pt x="46" y="24"/>
                      </a:lnTo>
                      <a:lnTo>
                        <a:pt x="59" y="19"/>
                      </a:lnTo>
                      <a:lnTo>
                        <a:pt x="67" y="5"/>
                      </a:lnTo>
                      <a:lnTo>
                        <a:pt x="49" y="7"/>
                      </a:lnTo>
                      <a:lnTo>
                        <a:pt x="45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4" name="Freeform 22">
                  <a:extLst>
                    <a:ext uri="{FF2B5EF4-FFF2-40B4-BE49-F238E27FC236}">
                      <a16:creationId xmlns:a16="http://schemas.microsoft.com/office/drawing/2014/main" id="{DAB7EE77-FE0C-CB93-3BB6-62B17460A7B2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967" y="3518"/>
                  <a:ext cx="17" cy="26"/>
                </a:xfrm>
                <a:custGeom>
                  <a:avLst/>
                  <a:gdLst>
                    <a:gd name="T0" fmla="*/ 8 w 17"/>
                    <a:gd name="T1" fmla="*/ 0 h 26"/>
                    <a:gd name="T2" fmla="*/ 0 w 17"/>
                    <a:gd name="T3" fmla="*/ 11 h 26"/>
                    <a:gd name="T4" fmla="*/ 5 w 17"/>
                    <a:gd name="T5" fmla="*/ 25 h 26"/>
                    <a:gd name="T6" fmla="*/ 16 w 17"/>
                    <a:gd name="T7" fmla="*/ 15 h 26"/>
                    <a:gd name="T8" fmla="*/ 8 w 17"/>
                    <a:gd name="T9" fmla="*/ 0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" h="26">
                      <a:moveTo>
                        <a:pt x="8" y="0"/>
                      </a:moveTo>
                      <a:lnTo>
                        <a:pt x="0" y="11"/>
                      </a:lnTo>
                      <a:lnTo>
                        <a:pt x="5" y="25"/>
                      </a:lnTo>
                      <a:lnTo>
                        <a:pt x="16" y="15"/>
                      </a:lnTo>
                      <a:lnTo>
                        <a:pt x="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5" name="Freeform 23">
                  <a:extLst>
                    <a:ext uri="{FF2B5EF4-FFF2-40B4-BE49-F238E27FC236}">
                      <a16:creationId xmlns:a16="http://schemas.microsoft.com/office/drawing/2014/main" id="{09A98F48-E46B-819C-1B8E-F7243A5004F3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069" y="3545"/>
                  <a:ext cx="158" cy="68"/>
                </a:xfrm>
                <a:custGeom>
                  <a:avLst/>
                  <a:gdLst>
                    <a:gd name="T0" fmla="*/ 0 w 158"/>
                    <a:gd name="T1" fmla="*/ 0 h 68"/>
                    <a:gd name="T2" fmla="*/ 23 w 158"/>
                    <a:gd name="T3" fmla="*/ 5 h 68"/>
                    <a:gd name="T4" fmla="*/ 58 w 158"/>
                    <a:gd name="T5" fmla="*/ 29 h 68"/>
                    <a:gd name="T6" fmla="*/ 53 w 158"/>
                    <a:gd name="T7" fmla="*/ 43 h 68"/>
                    <a:gd name="T8" fmla="*/ 82 w 158"/>
                    <a:gd name="T9" fmla="*/ 55 h 68"/>
                    <a:gd name="T10" fmla="*/ 157 w 158"/>
                    <a:gd name="T11" fmla="*/ 55 h 68"/>
                    <a:gd name="T12" fmla="*/ 75 w 158"/>
                    <a:gd name="T13" fmla="*/ 67 h 68"/>
                    <a:gd name="T14" fmla="*/ 53 w 158"/>
                    <a:gd name="T15" fmla="*/ 43 h 68"/>
                    <a:gd name="T16" fmla="*/ 32 w 158"/>
                    <a:gd name="T17" fmla="*/ 38 h 68"/>
                    <a:gd name="T18" fmla="*/ 0 w 158"/>
                    <a:gd name="T19" fmla="*/ 0 h 6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58" h="68">
                      <a:moveTo>
                        <a:pt x="0" y="0"/>
                      </a:moveTo>
                      <a:lnTo>
                        <a:pt x="23" y="5"/>
                      </a:lnTo>
                      <a:lnTo>
                        <a:pt x="58" y="29"/>
                      </a:lnTo>
                      <a:lnTo>
                        <a:pt x="53" y="43"/>
                      </a:lnTo>
                      <a:lnTo>
                        <a:pt x="82" y="55"/>
                      </a:lnTo>
                      <a:lnTo>
                        <a:pt x="157" y="55"/>
                      </a:lnTo>
                      <a:lnTo>
                        <a:pt x="75" y="67"/>
                      </a:lnTo>
                      <a:lnTo>
                        <a:pt x="53" y="43"/>
                      </a:lnTo>
                      <a:lnTo>
                        <a:pt x="32" y="3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" name="Freeform 24">
                  <a:extLst>
                    <a:ext uri="{FF2B5EF4-FFF2-40B4-BE49-F238E27FC236}">
                      <a16:creationId xmlns:a16="http://schemas.microsoft.com/office/drawing/2014/main" id="{2A7D0664-E44F-9DDC-C9AD-039BF9981EA3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195" y="3601"/>
                  <a:ext cx="169" cy="159"/>
                </a:xfrm>
                <a:custGeom>
                  <a:avLst/>
                  <a:gdLst>
                    <a:gd name="T0" fmla="*/ 135 w 169"/>
                    <a:gd name="T1" fmla="*/ 155 h 159"/>
                    <a:gd name="T2" fmla="*/ 127 w 169"/>
                    <a:gd name="T3" fmla="*/ 152 h 159"/>
                    <a:gd name="T4" fmla="*/ 110 w 169"/>
                    <a:gd name="T5" fmla="*/ 134 h 159"/>
                    <a:gd name="T6" fmla="*/ 92 w 169"/>
                    <a:gd name="T7" fmla="*/ 130 h 159"/>
                    <a:gd name="T8" fmla="*/ 88 w 169"/>
                    <a:gd name="T9" fmla="*/ 119 h 159"/>
                    <a:gd name="T10" fmla="*/ 78 w 169"/>
                    <a:gd name="T11" fmla="*/ 111 h 159"/>
                    <a:gd name="T12" fmla="*/ 62 w 169"/>
                    <a:gd name="T13" fmla="*/ 111 h 159"/>
                    <a:gd name="T14" fmla="*/ 44 w 169"/>
                    <a:gd name="T15" fmla="*/ 118 h 159"/>
                    <a:gd name="T16" fmla="*/ 28 w 169"/>
                    <a:gd name="T17" fmla="*/ 121 h 159"/>
                    <a:gd name="T18" fmla="*/ 10 w 169"/>
                    <a:gd name="T19" fmla="*/ 121 h 159"/>
                    <a:gd name="T20" fmla="*/ 10 w 169"/>
                    <a:gd name="T21" fmla="*/ 109 h 159"/>
                    <a:gd name="T22" fmla="*/ 3 w 169"/>
                    <a:gd name="T23" fmla="*/ 91 h 159"/>
                    <a:gd name="T24" fmla="*/ 2 w 169"/>
                    <a:gd name="T25" fmla="*/ 81 h 159"/>
                    <a:gd name="T26" fmla="*/ 2 w 169"/>
                    <a:gd name="T27" fmla="*/ 56 h 159"/>
                    <a:gd name="T28" fmla="*/ 31 w 169"/>
                    <a:gd name="T29" fmla="*/ 43 h 159"/>
                    <a:gd name="T30" fmla="*/ 34 w 169"/>
                    <a:gd name="T31" fmla="*/ 29 h 159"/>
                    <a:gd name="T32" fmla="*/ 40 w 169"/>
                    <a:gd name="T33" fmla="*/ 30 h 159"/>
                    <a:gd name="T34" fmla="*/ 55 w 169"/>
                    <a:gd name="T35" fmla="*/ 15 h 159"/>
                    <a:gd name="T36" fmla="*/ 70 w 169"/>
                    <a:gd name="T37" fmla="*/ 17 h 159"/>
                    <a:gd name="T38" fmla="*/ 80 w 169"/>
                    <a:gd name="T39" fmla="*/ 7 h 159"/>
                    <a:gd name="T40" fmla="*/ 89 w 169"/>
                    <a:gd name="T41" fmla="*/ 5 h 159"/>
                    <a:gd name="T42" fmla="*/ 103 w 169"/>
                    <a:gd name="T43" fmla="*/ 24 h 159"/>
                    <a:gd name="T44" fmla="*/ 116 w 169"/>
                    <a:gd name="T45" fmla="*/ 30 h 159"/>
                    <a:gd name="T46" fmla="*/ 117 w 169"/>
                    <a:gd name="T47" fmla="*/ 11 h 159"/>
                    <a:gd name="T48" fmla="*/ 122 w 169"/>
                    <a:gd name="T49" fmla="*/ 0 h 159"/>
                    <a:gd name="T50" fmla="*/ 132 w 169"/>
                    <a:gd name="T51" fmla="*/ 15 h 159"/>
                    <a:gd name="T52" fmla="*/ 140 w 169"/>
                    <a:gd name="T53" fmla="*/ 43 h 159"/>
                    <a:gd name="T54" fmla="*/ 156 w 169"/>
                    <a:gd name="T55" fmla="*/ 59 h 159"/>
                    <a:gd name="T56" fmla="*/ 165 w 169"/>
                    <a:gd name="T57" fmla="*/ 72 h 159"/>
                    <a:gd name="T58" fmla="*/ 168 w 169"/>
                    <a:gd name="T59" fmla="*/ 95 h 159"/>
                    <a:gd name="T60" fmla="*/ 157 w 169"/>
                    <a:gd name="T61" fmla="*/ 121 h 159"/>
                    <a:gd name="T62" fmla="*/ 155 w 169"/>
                    <a:gd name="T63" fmla="*/ 145 h 159"/>
                    <a:gd name="T64" fmla="*/ 140 w 169"/>
                    <a:gd name="T65" fmla="*/ 154 h 159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169" h="159">
                      <a:moveTo>
                        <a:pt x="140" y="154"/>
                      </a:moveTo>
                      <a:lnTo>
                        <a:pt x="135" y="155"/>
                      </a:lnTo>
                      <a:lnTo>
                        <a:pt x="132" y="158"/>
                      </a:lnTo>
                      <a:lnTo>
                        <a:pt x="127" y="152"/>
                      </a:lnTo>
                      <a:lnTo>
                        <a:pt x="112" y="145"/>
                      </a:lnTo>
                      <a:lnTo>
                        <a:pt x="110" y="134"/>
                      </a:lnTo>
                      <a:lnTo>
                        <a:pt x="105" y="130"/>
                      </a:lnTo>
                      <a:lnTo>
                        <a:pt x="92" y="130"/>
                      </a:lnTo>
                      <a:lnTo>
                        <a:pt x="92" y="122"/>
                      </a:lnTo>
                      <a:lnTo>
                        <a:pt x="88" y="119"/>
                      </a:lnTo>
                      <a:lnTo>
                        <a:pt x="87" y="112"/>
                      </a:lnTo>
                      <a:lnTo>
                        <a:pt x="78" y="111"/>
                      </a:lnTo>
                      <a:lnTo>
                        <a:pt x="70" y="109"/>
                      </a:lnTo>
                      <a:lnTo>
                        <a:pt x="62" y="111"/>
                      </a:lnTo>
                      <a:lnTo>
                        <a:pt x="62" y="112"/>
                      </a:lnTo>
                      <a:lnTo>
                        <a:pt x="44" y="118"/>
                      </a:lnTo>
                      <a:lnTo>
                        <a:pt x="44" y="121"/>
                      </a:lnTo>
                      <a:lnTo>
                        <a:pt x="28" y="121"/>
                      </a:lnTo>
                      <a:lnTo>
                        <a:pt x="20" y="126"/>
                      </a:lnTo>
                      <a:lnTo>
                        <a:pt x="10" y="121"/>
                      </a:lnTo>
                      <a:lnTo>
                        <a:pt x="10" y="119"/>
                      </a:lnTo>
                      <a:lnTo>
                        <a:pt x="10" y="109"/>
                      </a:lnTo>
                      <a:lnTo>
                        <a:pt x="7" y="99"/>
                      </a:lnTo>
                      <a:lnTo>
                        <a:pt x="3" y="91"/>
                      </a:lnTo>
                      <a:lnTo>
                        <a:pt x="5" y="84"/>
                      </a:lnTo>
                      <a:lnTo>
                        <a:pt x="2" y="81"/>
                      </a:lnTo>
                      <a:lnTo>
                        <a:pt x="0" y="66"/>
                      </a:lnTo>
                      <a:lnTo>
                        <a:pt x="2" y="56"/>
                      </a:lnTo>
                      <a:lnTo>
                        <a:pt x="11" y="48"/>
                      </a:lnTo>
                      <a:lnTo>
                        <a:pt x="31" y="43"/>
                      </a:lnTo>
                      <a:lnTo>
                        <a:pt x="36" y="36"/>
                      </a:lnTo>
                      <a:lnTo>
                        <a:pt x="34" y="29"/>
                      </a:lnTo>
                      <a:lnTo>
                        <a:pt x="39" y="27"/>
                      </a:lnTo>
                      <a:lnTo>
                        <a:pt x="40" y="30"/>
                      </a:lnTo>
                      <a:lnTo>
                        <a:pt x="42" y="25"/>
                      </a:lnTo>
                      <a:lnTo>
                        <a:pt x="55" y="15"/>
                      </a:lnTo>
                      <a:lnTo>
                        <a:pt x="62" y="20"/>
                      </a:lnTo>
                      <a:lnTo>
                        <a:pt x="70" y="17"/>
                      </a:lnTo>
                      <a:lnTo>
                        <a:pt x="72" y="9"/>
                      </a:lnTo>
                      <a:lnTo>
                        <a:pt x="80" y="7"/>
                      </a:lnTo>
                      <a:lnTo>
                        <a:pt x="78" y="1"/>
                      </a:lnTo>
                      <a:lnTo>
                        <a:pt x="89" y="5"/>
                      </a:lnTo>
                      <a:lnTo>
                        <a:pt x="98" y="3"/>
                      </a:lnTo>
                      <a:lnTo>
                        <a:pt x="103" y="24"/>
                      </a:lnTo>
                      <a:lnTo>
                        <a:pt x="110" y="30"/>
                      </a:lnTo>
                      <a:lnTo>
                        <a:pt x="116" y="30"/>
                      </a:lnTo>
                      <a:lnTo>
                        <a:pt x="119" y="17"/>
                      </a:lnTo>
                      <a:lnTo>
                        <a:pt x="117" y="11"/>
                      </a:lnTo>
                      <a:lnTo>
                        <a:pt x="119" y="1"/>
                      </a:lnTo>
                      <a:lnTo>
                        <a:pt x="122" y="0"/>
                      </a:lnTo>
                      <a:lnTo>
                        <a:pt x="127" y="12"/>
                      </a:lnTo>
                      <a:lnTo>
                        <a:pt x="132" y="15"/>
                      </a:lnTo>
                      <a:lnTo>
                        <a:pt x="135" y="27"/>
                      </a:lnTo>
                      <a:lnTo>
                        <a:pt x="140" y="43"/>
                      </a:lnTo>
                      <a:lnTo>
                        <a:pt x="147" y="47"/>
                      </a:lnTo>
                      <a:lnTo>
                        <a:pt x="156" y="59"/>
                      </a:lnTo>
                      <a:lnTo>
                        <a:pt x="157" y="65"/>
                      </a:lnTo>
                      <a:lnTo>
                        <a:pt x="165" y="72"/>
                      </a:lnTo>
                      <a:lnTo>
                        <a:pt x="168" y="85"/>
                      </a:lnTo>
                      <a:lnTo>
                        <a:pt x="168" y="95"/>
                      </a:lnTo>
                      <a:lnTo>
                        <a:pt x="165" y="111"/>
                      </a:lnTo>
                      <a:lnTo>
                        <a:pt x="157" y="121"/>
                      </a:lnTo>
                      <a:lnTo>
                        <a:pt x="155" y="134"/>
                      </a:lnTo>
                      <a:lnTo>
                        <a:pt x="155" y="145"/>
                      </a:lnTo>
                      <a:lnTo>
                        <a:pt x="147" y="147"/>
                      </a:lnTo>
                      <a:lnTo>
                        <a:pt x="140" y="154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7" name="Freeform 25">
                  <a:extLst>
                    <a:ext uri="{FF2B5EF4-FFF2-40B4-BE49-F238E27FC236}">
                      <a16:creationId xmlns:a16="http://schemas.microsoft.com/office/drawing/2014/main" id="{15A999A0-0609-151F-72CE-937FF229FD10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330" y="3768"/>
                  <a:ext cx="17" cy="20"/>
                </a:xfrm>
                <a:custGeom>
                  <a:avLst/>
                  <a:gdLst>
                    <a:gd name="T0" fmla="*/ 8 w 17"/>
                    <a:gd name="T1" fmla="*/ 16 h 20"/>
                    <a:gd name="T2" fmla="*/ 2 w 17"/>
                    <a:gd name="T3" fmla="*/ 13 h 20"/>
                    <a:gd name="T4" fmla="*/ 2 w 17"/>
                    <a:gd name="T5" fmla="*/ 10 h 20"/>
                    <a:gd name="T6" fmla="*/ 2 w 17"/>
                    <a:gd name="T7" fmla="*/ 8 h 20"/>
                    <a:gd name="T8" fmla="*/ 1 w 17"/>
                    <a:gd name="T9" fmla="*/ 5 h 20"/>
                    <a:gd name="T10" fmla="*/ 0 w 17"/>
                    <a:gd name="T11" fmla="*/ 0 h 20"/>
                    <a:gd name="T12" fmla="*/ 2 w 17"/>
                    <a:gd name="T13" fmla="*/ 0 h 20"/>
                    <a:gd name="T14" fmla="*/ 8 w 17"/>
                    <a:gd name="T15" fmla="*/ 2 h 20"/>
                    <a:gd name="T16" fmla="*/ 11 w 17"/>
                    <a:gd name="T17" fmla="*/ 2 h 20"/>
                    <a:gd name="T18" fmla="*/ 12 w 17"/>
                    <a:gd name="T19" fmla="*/ 2 h 20"/>
                    <a:gd name="T20" fmla="*/ 16 w 17"/>
                    <a:gd name="T21" fmla="*/ 0 h 20"/>
                    <a:gd name="T22" fmla="*/ 16 w 17"/>
                    <a:gd name="T23" fmla="*/ 8 h 20"/>
                    <a:gd name="T24" fmla="*/ 14 w 17"/>
                    <a:gd name="T25" fmla="*/ 10 h 20"/>
                    <a:gd name="T26" fmla="*/ 12 w 17"/>
                    <a:gd name="T27" fmla="*/ 13 h 20"/>
                    <a:gd name="T28" fmla="*/ 12 w 17"/>
                    <a:gd name="T29" fmla="*/ 16 h 20"/>
                    <a:gd name="T30" fmla="*/ 11 w 17"/>
                    <a:gd name="T31" fmla="*/ 16 h 20"/>
                    <a:gd name="T32" fmla="*/ 11 w 17"/>
                    <a:gd name="T33" fmla="*/ 19 h 20"/>
                    <a:gd name="T34" fmla="*/ 8 w 17"/>
                    <a:gd name="T35" fmla="*/ 16 h 2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7" h="20">
                      <a:moveTo>
                        <a:pt x="8" y="16"/>
                      </a:moveTo>
                      <a:lnTo>
                        <a:pt x="2" y="13"/>
                      </a:lnTo>
                      <a:lnTo>
                        <a:pt x="2" y="10"/>
                      </a:lnTo>
                      <a:lnTo>
                        <a:pt x="2" y="8"/>
                      </a:lnTo>
                      <a:lnTo>
                        <a:pt x="1" y="5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8" y="2"/>
                      </a:lnTo>
                      <a:lnTo>
                        <a:pt x="11" y="2"/>
                      </a:lnTo>
                      <a:lnTo>
                        <a:pt x="12" y="2"/>
                      </a:lnTo>
                      <a:lnTo>
                        <a:pt x="16" y="0"/>
                      </a:lnTo>
                      <a:lnTo>
                        <a:pt x="16" y="8"/>
                      </a:lnTo>
                      <a:lnTo>
                        <a:pt x="14" y="10"/>
                      </a:lnTo>
                      <a:lnTo>
                        <a:pt x="12" y="13"/>
                      </a:lnTo>
                      <a:lnTo>
                        <a:pt x="12" y="16"/>
                      </a:lnTo>
                      <a:lnTo>
                        <a:pt x="11" y="16"/>
                      </a:lnTo>
                      <a:lnTo>
                        <a:pt x="11" y="19"/>
                      </a:lnTo>
                      <a:lnTo>
                        <a:pt x="8" y="1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" name="Freeform 26">
                  <a:extLst>
                    <a:ext uri="{FF2B5EF4-FFF2-40B4-BE49-F238E27FC236}">
                      <a16:creationId xmlns:a16="http://schemas.microsoft.com/office/drawing/2014/main" id="{7A93F1BA-6471-C9B9-8C2B-C6821F1B9CE4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739" y="3587"/>
                  <a:ext cx="19" cy="76"/>
                </a:xfrm>
                <a:custGeom>
                  <a:avLst/>
                  <a:gdLst>
                    <a:gd name="T0" fmla="*/ 2 w 19"/>
                    <a:gd name="T1" fmla="*/ 26 h 76"/>
                    <a:gd name="T2" fmla="*/ 9 w 19"/>
                    <a:gd name="T3" fmla="*/ 20 h 76"/>
                    <a:gd name="T4" fmla="*/ 14 w 19"/>
                    <a:gd name="T5" fmla="*/ 0 h 76"/>
                    <a:gd name="T6" fmla="*/ 18 w 19"/>
                    <a:gd name="T7" fmla="*/ 30 h 76"/>
                    <a:gd name="T8" fmla="*/ 12 w 19"/>
                    <a:gd name="T9" fmla="*/ 67 h 76"/>
                    <a:gd name="T10" fmla="*/ 0 w 19"/>
                    <a:gd name="T11" fmla="*/ 75 h 76"/>
                    <a:gd name="T12" fmla="*/ 0 w 19"/>
                    <a:gd name="T13" fmla="*/ 57 h 76"/>
                    <a:gd name="T14" fmla="*/ 3 w 19"/>
                    <a:gd name="T15" fmla="*/ 45 h 76"/>
                    <a:gd name="T16" fmla="*/ 2 w 19"/>
                    <a:gd name="T17" fmla="*/ 26 h 7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9" h="76">
                      <a:moveTo>
                        <a:pt x="2" y="26"/>
                      </a:moveTo>
                      <a:lnTo>
                        <a:pt x="9" y="20"/>
                      </a:lnTo>
                      <a:lnTo>
                        <a:pt x="14" y="0"/>
                      </a:lnTo>
                      <a:lnTo>
                        <a:pt x="18" y="30"/>
                      </a:lnTo>
                      <a:lnTo>
                        <a:pt x="12" y="67"/>
                      </a:lnTo>
                      <a:lnTo>
                        <a:pt x="0" y="75"/>
                      </a:lnTo>
                      <a:lnTo>
                        <a:pt x="0" y="57"/>
                      </a:lnTo>
                      <a:lnTo>
                        <a:pt x="3" y="45"/>
                      </a:lnTo>
                      <a:lnTo>
                        <a:pt x="2" y="2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027" name="Rectangle 30">
            <a:extLst>
              <a:ext uri="{FF2B5EF4-FFF2-40B4-BE49-F238E27FC236}">
                <a16:creationId xmlns:a16="http://schemas.microsoft.com/office/drawing/2014/main" id="{CFCF2592-989F-6EB0-BA0A-0B2962549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8575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1">
            <a:extLst>
              <a:ext uri="{FF2B5EF4-FFF2-40B4-BE49-F238E27FC236}">
                <a16:creationId xmlns:a16="http://schemas.microsoft.com/office/drawing/2014/main" id="{7DD2953A-CDF6-2FE6-76E9-15270DBD41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5735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56" name="Rectangle 32">
            <a:extLst>
              <a:ext uri="{FF2B5EF4-FFF2-40B4-BE49-F238E27FC236}">
                <a16:creationId xmlns:a16="http://schemas.microsoft.com/office/drawing/2014/main" id="{37FD4D29-A0BB-BF02-482E-43BB6607E35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58" name="Rectangle 34">
            <a:extLst>
              <a:ext uri="{FF2B5EF4-FFF2-40B4-BE49-F238E27FC236}">
                <a16:creationId xmlns:a16="http://schemas.microsoft.com/office/drawing/2014/main" id="{CA7B157C-476E-F769-8842-47E0A2008BD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992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7BA9535-5FC7-4328-8F14-476628EB0A1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35">
            <a:extLst>
              <a:ext uri="{FF2B5EF4-FFF2-40B4-BE49-F238E27FC236}">
                <a16:creationId xmlns:a16="http://schemas.microsoft.com/office/drawing/2014/main" id="{69F70C2C-6E9B-CE72-97FB-BAC121655D2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76400" y="6438900"/>
            <a:ext cx="55816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>
                <a:latin typeface="Arial" charset="0"/>
              </a:rPr>
              <a:t>Liang, Introduction to Java Programming, Ninth Edition, (c) 2013 Pearson Education, Inc. All rights reserved.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F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 pitchFamily="2" charset="2"/>
        <a:buChar char="u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embeddings/oleObject1.bin" Type="http://schemas.openxmlformats.org/officeDocument/2006/relationships/oleObject"/><Relationship Id="rId3" Target="../media/image2.wmf" Type="http://schemas.openxmlformats.org/officeDocument/2006/relationships/image"/><Relationship Id="rId4" Target="../embeddings/oleObject2.bin" Type="http://schemas.openxmlformats.org/officeDocument/2006/relationships/oleObject"/><Relationship Id="rId5" Target="../media/image3.wm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embeddings/oleObject3.bin" Type="http://schemas.openxmlformats.org/officeDocument/2006/relationships/oleObject"/><Relationship Id="rId3" Target="../media/image4.wmf" Type="http://schemas.openxmlformats.org/officeDocument/2006/relationships/image"/><Relationship Id="rId4" Target="../embeddings/oleObject4.bin" Type="http://schemas.openxmlformats.org/officeDocument/2006/relationships/oleObject"/><Relationship Id="rId5" Target="../media/image5.wm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embeddings/oleObject5.bin" Type="http://schemas.openxmlformats.org/officeDocument/2006/relationships/oleObject"/><Relationship Id="rId3" Target="../media/image6.wmf" Type="http://schemas.openxmlformats.org/officeDocument/2006/relationships/image"/><Relationship Id="rId4" Target="../embeddings/oleObject6.bin" Type="http://schemas.openxmlformats.org/officeDocument/2006/relationships/oleObject"/><Relationship Id="rId5" Target="../media/image7.wm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embeddings/oleObject7.bin" Type="http://schemas.openxmlformats.org/officeDocument/2006/relationships/oleObject"/><Relationship Id="rId3" Target="../media/image8.wmf" Type="http://schemas.openxmlformats.org/officeDocument/2006/relationships/image"/><Relationship Id="rId4" Target="../embeddings/oleObject8.bin" Type="http://schemas.openxmlformats.org/officeDocument/2006/relationships/oleObject"/><Relationship Id="rId5" Target="../media/image9.wm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10.png" Type="http://schemas.openxmlformats.org/officeDocument/2006/relationships/image"/><Relationship Id="rId3" Target="html/TestAVLTree.bat" TargetMode="External" Type="http://schemas.openxmlformats.org/officeDocument/2006/relationships/hyperlink"/><Relationship Id="rId4" Target="html/TestAVLTree.html" TargetMode="External" Type="http://schemas.openxmlformats.org/officeDocument/2006/relationships/hyperlink"/><Relationship Id="rId5" Target="html/AVLTree.html" TargetMode="External" Type="http://schemas.openxmlformats.org/officeDocument/2006/relationships/hyperlink"/><Relationship Id="rId6" Target="http://www.cs.armstrong.edu/liang/intro10e/html/TestAVLTree.html" TargetMode="External" Type="http://schemas.openxmlformats.org/officeDocument/2006/relationships/hyperlink"/><Relationship Id="rId7" Target="http://www.cs.armstrong.edu/liang/intro10e/html/AVLTree.html" TargetMode="External" Type="http://schemas.openxmlformats.org/officeDocument/2006/relationships/hyperlink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4">
            <a:extLst>
              <a:ext uri="{FF2B5EF4-FFF2-40B4-BE49-F238E27FC236}">
                <a16:creationId xmlns:a16="http://schemas.microsoft.com/office/drawing/2014/main" id="{F8C678C2-2003-F020-A27E-73CF728EC410}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F7F27E3-DF0E-48A3-8844-6CCCF80CA15E}" type="slidenum">
              <a:rPr altLang="en-US" 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altLang="en-US" lang="en-US" sz="1400"/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D4737DDE-F391-7DBA-3CAA-6977D35F4899}"/>
              </a:ext>
            </a:extLst>
          </p:cNvPr>
          <p:cNvSpPr>
            <a:spLocks noChangeArrowheads="1" noGrp="1"/>
          </p:cNvSpPr>
          <p:nvPr>
            <p:ph type="title"/>
          </p:nvPr>
        </p:nvSpPr>
        <p:spPr>
          <a:xfrm>
            <a:off x="304800" y="1676400"/>
            <a:ext cx="8534400" cy="1524000"/>
          </a:xfrm>
        </p:spPr>
        <p:txBody>
          <a:bodyPr/>
          <a:lstStyle/>
          <a:p>
            <a:r>
              <a:rPr altLang="en-US" lang="en-US"/>
              <a:t>Chapter 26 AVL Trees</a:t>
            </a:r>
          </a:p>
        </p:txBody>
      </p:sp>
      <p:sp>
        <p:nvSpPr>
          <p:cNvPr id="3076" name="Rectangle 7">
            <a:extLst>
              <a:ext uri="{FF2B5EF4-FFF2-40B4-BE49-F238E27FC236}">
                <a16:creationId xmlns:a16="http://schemas.microsoft.com/office/drawing/2014/main" id="{A424F25B-F758-89E2-EC17-355B61236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9788" y="2319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3077" name="Rectangle 9">
            <a:extLst>
              <a:ext uri="{FF2B5EF4-FFF2-40B4-BE49-F238E27FC236}">
                <a16:creationId xmlns:a16="http://schemas.microsoft.com/office/drawing/2014/main" id="{C70A20D6-C594-DDBC-25AA-46672B4E5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9788" y="2319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4">
            <a:extLst>
              <a:ext uri="{FF2B5EF4-FFF2-40B4-BE49-F238E27FC236}">
                <a16:creationId xmlns:a16="http://schemas.microsoft.com/office/drawing/2014/main" id="{064C7815-D18E-EDFB-DCDE-FE1C3A9CCE3C}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6208994-C400-4518-B394-F06B2A65E5D8}" type="slidenum">
              <a:rPr altLang="en-US" 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altLang="en-US" lang="en-US" sz="1400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85A6BA7C-78C6-4F2A-7F34-E54FFC805F0A}"/>
              </a:ext>
            </a:extLst>
          </p:cNvPr>
          <p:cNvSpPr>
            <a:spLocks noChangeArrowheads="1" noGrp="1"/>
          </p:cNvSpPr>
          <p:nvPr>
            <p:ph type="title"/>
          </p:nvPr>
        </p:nvSpPr>
        <p:spPr>
          <a:xfrm>
            <a:off x="685800" y="152400"/>
            <a:ext cx="7772400" cy="552450"/>
          </a:xfrm>
        </p:spPr>
        <p:txBody>
          <a:bodyPr/>
          <a:lstStyle/>
          <a:p>
            <a:r>
              <a:rPr altLang="en-US" lang="en-US"/>
              <a:t>Objectives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6A1DBFC1-37F2-034E-8136-EE53831A4797}"/>
              </a:ext>
            </a:extLst>
          </p:cNvPr>
          <p:cNvSpPr>
            <a:spLocks noChangeArrowheads="1" noGrp="1"/>
          </p:cNvSpPr>
          <p:nvPr>
            <p:ph idx="1" type="body"/>
          </p:nvPr>
        </p:nvSpPr>
        <p:spPr>
          <a:xfrm>
            <a:off x="0" y="914400"/>
            <a:ext cx="9144000" cy="5638800"/>
          </a:xfrm>
        </p:spPr>
        <p:txBody>
          <a:bodyPr/>
          <a:lstStyle/>
          <a:p>
            <a:pPr indent="-284163" marL="457200">
              <a:lnSpc>
                <a:spcPct val="80000"/>
              </a:lnSpc>
            </a:pPr>
            <a:r>
              <a:rPr altLang="en-US" lang="en-US" sz="3000"/>
              <a:t>To know what an AVL tree is (§26.1).</a:t>
            </a:r>
          </a:p>
          <a:p>
            <a:pPr indent="-284163" marL="457200">
              <a:lnSpc>
                <a:spcPct val="80000"/>
              </a:lnSpc>
            </a:pPr>
            <a:r>
              <a:rPr altLang="en-US" lang="en-US" sz="3000"/>
              <a:t>To understand how to rebalance a tree using the LL rotation, LR rotation, RR rotation, and RL rotation (§26.2).</a:t>
            </a:r>
          </a:p>
          <a:p>
            <a:pPr indent="-284163" marL="457200">
              <a:lnSpc>
                <a:spcPct val="80000"/>
              </a:lnSpc>
            </a:pPr>
            <a:r>
              <a:rPr altLang="en-US" lang="en-US" sz="3000"/>
              <a:t>To know how to design the AVLTree class (§26.3).</a:t>
            </a:r>
          </a:p>
          <a:p>
            <a:pPr indent="-284163" marL="457200">
              <a:lnSpc>
                <a:spcPct val="80000"/>
              </a:lnSpc>
            </a:pPr>
            <a:r>
              <a:rPr altLang="en-US" lang="en-US" sz="3000"/>
              <a:t>To insert elements into an AVL tree (§26.4).</a:t>
            </a:r>
          </a:p>
          <a:p>
            <a:pPr indent="-284163" marL="457200">
              <a:lnSpc>
                <a:spcPct val="80000"/>
              </a:lnSpc>
            </a:pPr>
            <a:r>
              <a:rPr altLang="en-US" lang="en-US" sz="3000"/>
              <a:t>To implement node rebalancing (§26.5).</a:t>
            </a:r>
          </a:p>
          <a:p>
            <a:pPr indent="-284163" marL="457200">
              <a:lnSpc>
                <a:spcPct val="80000"/>
              </a:lnSpc>
            </a:pPr>
            <a:r>
              <a:rPr altLang="en-US" lang="en-US" sz="3000"/>
              <a:t>To delete elements from an AVL tree (§26.6).</a:t>
            </a:r>
          </a:p>
          <a:p>
            <a:pPr indent="-284163" marL="457200">
              <a:lnSpc>
                <a:spcPct val="80000"/>
              </a:lnSpc>
            </a:pPr>
            <a:r>
              <a:rPr altLang="en-US" lang="en-US" sz="3000"/>
              <a:t>To implement the AVLTree class (§26.7).</a:t>
            </a:r>
          </a:p>
          <a:p>
            <a:pPr indent="-284163" marL="457200">
              <a:lnSpc>
                <a:spcPct val="80000"/>
              </a:lnSpc>
            </a:pPr>
            <a:r>
              <a:rPr altLang="en-US" lang="en-US" sz="3000"/>
              <a:t>To test the AVLTree class (§26.8).</a:t>
            </a:r>
          </a:p>
          <a:p>
            <a:pPr indent="-284163" marL="457200">
              <a:lnSpc>
                <a:spcPct val="80000"/>
              </a:lnSpc>
            </a:pPr>
            <a:r>
              <a:rPr altLang="en-US" lang="en-US" sz="3000"/>
              <a:t>To analyze the complexity of search, insert, and delete operations in AVL trees (§26.9).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4">
            <a:extLst>
              <a:ext uri="{FF2B5EF4-FFF2-40B4-BE49-F238E27FC236}">
                <a16:creationId xmlns:a16="http://schemas.microsoft.com/office/drawing/2014/main" id="{7C777B19-22C7-7E3C-BE73-DE7FB6EB7E33}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D06170B-3E54-42BC-BE9F-73031A4BE9B8}" type="slidenum">
              <a:rPr altLang="en-US" 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altLang="en-US" lang="en-US" sz="14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EEB67271-4BD9-6301-F047-BE53496CE98C}"/>
              </a:ext>
            </a:extLst>
          </p:cNvPr>
          <p:cNvSpPr>
            <a:spLocks noChangeArrowheads="1" noGrp="1"/>
          </p:cNvSpPr>
          <p:nvPr>
            <p:ph type="title"/>
          </p:nvPr>
        </p:nvSpPr>
        <p:spPr>
          <a:xfrm>
            <a:off x="685800" y="285750"/>
            <a:ext cx="7772400" cy="704850"/>
          </a:xfrm>
        </p:spPr>
        <p:txBody>
          <a:bodyPr/>
          <a:lstStyle/>
          <a:p>
            <a:r>
              <a:rPr altLang="en-US" lang="en-US"/>
              <a:t>Why AVL Tree? </a:t>
            </a:r>
          </a:p>
        </p:txBody>
      </p:sp>
      <p:sp>
        <p:nvSpPr>
          <p:cNvPr id="5124" name="Text Box 3">
            <a:extLst>
              <a:ext uri="{FF2B5EF4-FFF2-40B4-BE49-F238E27FC236}">
                <a16:creationId xmlns:a16="http://schemas.microsoft.com/office/drawing/2014/main" id="{9594E202-D517-3B3D-377B-77370CC9D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478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5125" name="Text Box 4">
            <a:extLst>
              <a:ext uri="{FF2B5EF4-FFF2-40B4-BE49-F238E27FC236}">
                <a16:creationId xmlns:a16="http://schemas.microsoft.com/office/drawing/2014/main" id="{6B58948F-2337-B353-4A01-51FF32BE1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19200"/>
            <a:ext cx="8610600" cy="399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altLang="en-US" lang="en-US"/>
              <a:t>The search, insertion, and deletion time for a binary tree is dependent on the height of the tree. In the worst case, the height is O(n). If a tree is </a:t>
            </a:r>
            <a:r>
              <a:rPr altLang="en-US" i="1" lang="en-US"/>
              <a:t>perfectly balanced</a:t>
            </a:r>
            <a:r>
              <a:rPr altLang="en-US" lang="en-US"/>
              <a:t>, i.e., a complete binary tree, its height is . Can we maintain a perfectly balanced tree? Yes. But it will be costly to do so. The compromise is to maintain a well-balanced tree, i.e., the heights of two subtrees for every node are about the same.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4">
            <a:extLst>
              <a:ext uri="{FF2B5EF4-FFF2-40B4-BE49-F238E27FC236}">
                <a16:creationId xmlns:a16="http://schemas.microsoft.com/office/drawing/2014/main" id="{1A203750-BF7E-4D94-7D9D-AD76ABEB376B}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1553D7E-F3B2-42F9-A44A-EDFC2956F26F}" type="slidenum">
              <a:rPr altLang="en-US" 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altLang="en-US" lang="en-US" sz="14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38CC588A-CB25-EBDC-B896-5F039CE45181}"/>
              </a:ext>
            </a:extLst>
          </p:cNvPr>
          <p:cNvSpPr>
            <a:spLocks noChangeArrowheads="1" noGrp="1"/>
          </p:cNvSpPr>
          <p:nvPr>
            <p:ph type="title"/>
          </p:nvPr>
        </p:nvSpPr>
        <p:spPr>
          <a:xfrm>
            <a:off x="685800" y="285750"/>
            <a:ext cx="7772400" cy="704850"/>
          </a:xfrm>
        </p:spPr>
        <p:txBody>
          <a:bodyPr/>
          <a:lstStyle/>
          <a:p>
            <a:r>
              <a:rPr altLang="en-US" lang="en-US"/>
              <a:t>What is an AVL Tree? </a:t>
            </a:r>
          </a:p>
        </p:txBody>
      </p:sp>
      <p:sp>
        <p:nvSpPr>
          <p:cNvPr id="6148" name="Text Box 3">
            <a:extLst>
              <a:ext uri="{FF2B5EF4-FFF2-40B4-BE49-F238E27FC236}">
                <a16:creationId xmlns:a16="http://schemas.microsoft.com/office/drawing/2014/main" id="{D6F8CFD2-F484-0A75-9DA1-3CC19EA6B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478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6149" name="Text Box 4">
            <a:extLst>
              <a:ext uri="{FF2B5EF4-FFF2-40B4-BE49-F238E27FC236}">
                <a16:creationId xmlns:a16="http://schemas.microsoft.com/office/drawing/2014/main" id="{396E4D64-D6C3-5AF0-30D7-E39161F6E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19200"/>
            <a:ext cx="8610600" cy="393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altLang="en-US" lang="en-US" sz="3600"/>
              <a:t>AVL trees are well-balanced. AVL trees were invented by two Russian computer scientists G. M. Adelson-Velsky and E. M. Landis in 1962. In an AVL tree, the difference between the heights of two subtrees for every node is </a:t>
            </a:r>
            <a:r>
              <a:rPr altLang="en-US" lang="en-US" sz="3600" u="sng"/>
              <a:t>0</a:t>
            </a:r>
            <a:r>
              <a:rPr altLang="en-US" lang="en-US" sz="3600"/>
              <a:t> or </a:t>
            </a:r>
            <a:r>
              <a:rPr altLang="en-US" lang="en-US" sz="3600" u="sng"/>
              <a:t>1</a:t>
            </a:r>
            <a:r>
              <a:rPr altLang="en-US" lang="en-US" sz="3600"/>
              <a:t>. It can be shown that the maximum height of an AVL tree is O(logn).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4">
            <a:extLst>
              <a:ext uri="{FF2B5EF4-FFF2-40B4-BE49-F238E27FC236}">
                <a16:creationId xmlns:a16="http://schemas.microsoft.com/office/drawing/2014/main" id="{D6BF59F1-961C-4713-6A41-7AAE6DA7B8FE}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003900-5368-4282-AB27-CE950BE8CDC6}" type="slidenum">
              <a:rPr altLang="en-US" 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altLang="en-US" lang="en-US" sz="14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11B20DE4-D368-DE68-4ACC-A3CE26341840}"/>
              </a:ext>
            </a:extLst>
          </p:cNvPr>
          <p:cNvSpPr>
            <a:spLocks noChangeArrowheads="1" noGrp="1"/>
          </p:cNvSpPr>
          <p:nvPr>
            <p:ph type="title"/>
          </p:nvPr>
        </p:nvSpPr>
        <p:spPr>
          <a:xfrm>
            <a:off x="228600" y="152400"/>
            <a:ext cx="8686800" cy="685800"/>
          </a:xfrm>
        </p:spPr>
        <p:txBody>
          <a:bodyPr/>
          <a:lstStyle/>
          <a:p>
            <a:r>
              <a:rPr altLang="en-US" lang="en-US"/>
              <a:t>AVL Tree Animation</a:t>
            </a:r>
          </a:p>
        </p:txBody>
      </p:sp>
      <p:sp>
        <p:nvSpPr>
          <p:cNvPr id="7172" name="Text Box 3">
            <a:extLst>
              <a:ext uri="{FF2B5EF4-FFF2-40B4-BE49-F238E27FC236}">
                <a16:creationId xmlns:a16="http://schemas.microsoft.com/office/drawing/2014/main" id="{24EC615B-1FA2-5A24-4478-E201BBAFE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478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CF3EB29E-BFC2-AEF3-7F04-8B6711100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4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7174" name="Rectangle 5">
            <a:extLst>
              <a:ext uri="{FF2B5EF4-FFF2-40B4-BE49-F238E27FC236}">
                <a16:creationId xmlns:a16="http://schemas.microsoft.com/office/drawing/2014/main" id="{79B530E2-2988-C0E5-4830-DE3218BB9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38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7175" name="Text Box 6">
            <a:extLst>
              <a:ext uri="{FF2B5EF4-FFF2-40B4-BE49-F238E27FC236}">
                <a16:creationId xmlns:a16="http://schemas.microsoft.com/office/drawing/2014/main" id="{25AEB97F-58E7-72BC-A588-DDF5A8F2F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14400"/>
            <a:ext cx="8610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altLang="en-US" lang="en-US" sz="2400"/>
              <a:t>www.cs.armstrong.edu/liang/animation/web/AVLTree.html </a:t>
            </a:r>
          </a:p>
        </p:txBody>
      </p:sp>
      <p:sp>
        <p:nvSpPr>
          <p:cNvPr id="7176" name="Rectangle 7">
            <a:extLst>
              <a:ext uri="{FF2B5EF4-FFF2-40B4-BE49-F238E27FC236}">
                <a16:creationId xmlns:a16="http://schemas.microsoft.com/office/drawing/2014/main" id="{D4EEB910-04F7-225A-CB27-BC9FAC1DB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89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7177" name="Rectangle 8">
            <a:extLst>
              <a:ext uri="{FF2B5EF4-FFF2-40B4-BE49-F238E27FC236}">
                <a16:creationId xmlns:a16="http://schemas.microsoft.com/office/drawing/2014/main" id="{50DAD0B9-6F42-B93A-C3AD-35CA01F6D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89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7178" name="Rectangle 9">
            <a:extLst>
              <a:ext uri="{FF2B5EF4-FFF2-40B4-BE49-F238E27FC236}">
                <a16:creationId xmlns:a16="http://schemas.microsoft.com/office/drawing/2014/main" id="{A5D6B6F0-5F7B-8443-81D7-89BB06E69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62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7179" name="Rectangle 10">
            <a:extLst>
              <a:ext uri="{FF2B5EF4-FFF2-40B4-BE49-F238E27FC236}">
                <a16:creationId xmlns:a16="http://schemas.microsoft.com/office/drawing/2014/main" id="{0B0518FF-1E48-DF2E-AE99-3BE9F1698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62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7180" name="Rectangle 11">
            <a:extLst>
              <a:ext uri="{FF2B5EF4-FFF2-40B4-BE49-F238E27FC236}">
                <a16:creationId xmlns:a16="http://schemas.microsoft.com/office/drawing/2014/main" id="{0FF87398-5659-8487-3626-618A366F1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16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7181" name="Rectangle 12">
            <a:extLst>
              <a:ext uri="{FF2B5EF4-FFF2-40B4-BE49-F238E27FC236}">
                <a16:creationId xmlns:a16="http://schemas.microsoft.com/office/drawing/2014/main" id="{D08A4C6E-5680-19B7-FF24-6A5BAB94B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62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7182" name="Rectangle 14">
            <a:extLst>
              <a:ext uri="{FF2B5EF4-FFF2-40B4-BE49-F238E27FC236}">
                <a16:creationId xmlns:a16="http://schemas.microsoft.com/office/drawing/2014/main" id="{2CC0222F-735C-493F-2A8B-E1B5EC53D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16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7183" name="Rectangle 17">
            <a:extLst>
              <a:ext uri="{FF2B5EF4-FFF2-40B4-BE49-F238E27FC236}">
                <a16:creationId xmlns:a16="http://schemas.microsoft.com/office/drawing/2014/main" id="{827C357D-474A-B6BF-465A-584A15C24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76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pic>
        <p:nvPicPr>
          <p:cNvPr id="7184" name="Picture 19">
            <a:extLst>
              <a:ext uri="{FF2B5EF4-FFF2-40B4-BE49-F238E27FC236}">
                <a16:creationId xmlns:a16="http://schemas.microsoft.com/office/drawing/2014/main" id="{7AD6059C-59A0-050F-B320-69D78D305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rrowheads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05000"/>
            <a:ext cx="8534400" cy="415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4">
            <a:extLst>
              <a:ext uri="{FF2B5EF4-FFF2-40B4-BE49-F238E27FC236}">
                <a16:creationId xmlns:a16="http://schemas.microsoft.com/office/drawing/2014/main" id="{5E85D9B6-09B7-24EC-4EF3-8D2E32B2E7E0}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B78A00-482A-4B97-A30F-4E650EFF4E75}" type="slidenum">
              <a:rPr altLang="en-US" 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altLang="en-US" lang="en-US" sz="14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6398AC60-8BCD-F96B-1C8F-3233D5FC6E2D}"/>
              </a:ext>
            </a:extLst>
          </p:cNvPr>
          <p:cNvSpPr>
            <a:spLocks noChangeArrowheads="1" noGrp="1"/>
          </p:cNvSpPr>
          <p:nvPr>
            <p:ph type="title"/>
          </p:nvPr>
        </p:nvSpPr>
        <p:spPr>
          <a:xfrm>
            <a:off x="228600" y="285750"/>
            <a:ext cx="8686800" cy="704850"/>
          </a:xfrm>
        </p:spPr>
        <p:txBody>
          <a:bodyPr/>
          <a:lstStyle/>
          <a:p>
            <a:r>
              <a:rPr altLang="en-US" lang="en-US" sz="3600"/>
              <a:t>Balance Factor/Left-Heavy/Right-Heavy</a:t>
            </a:r>
            <a:r>
              <a:rPr altLang="en-US" lang="en-US"/>
              <a:t> </a:t>
            </a:r>
          </a:p>
        </p:txBody>
      </p:sp>
      <p:sp>
        <p:nvSpPr>
          <p:cNvPr id="8196" name="Text Box 3">
            <a:extLst>
              <a:ext uri="{FF2B5EF4-FFF2-40B4-BE49-F238E27FC236}">
                <a16:creationId xmlns:a16="http://schemas.microsoft.com/office/drawing/2014/main" id="{FF17EDA5-5324-1B91-9619-06DC64F28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478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8197" name="Rectangle 6">
            <a:extLst>
              <a:ext uri="{FF2B5EF4-FFF2-40B4-BE49-F238E27FC236}">
                <a16:creationId xmlns:a16="http://schemas.microsoft.com/office/drawing/2014/main" id="{6630FD60-7F8D-C80C-1097-910C0980F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4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8198" name="Rectangle 8">
            <a:extLst>
              <a:ext uri="{FF2B5EF4-FFF2-40B4-BE49-F238E27FC236}">
                <a16:creationId xmlns:a16="http://schemas.microsoft.com/office/drawing/2014/main" id="{498F010B-10B1-0FCC-8B69-0CB5364E2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38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8199" name="Text Box 9">
            <a:extLst>
              <a:ext uri="{FF2B5EF4-FFF2-40B4-BE49-F238E27FC236}">
                <a16:creationId xmlns:a16="http://schemas.microsoft.com/office/drawing/2014/main" id="{0E264D96-7DCA-94FA-B892-9E08FA6C4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19200"/>
            <a:ext cx="8610600" cy="397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altLang="en-US" lang="en-US" sz="2800"/>
              <a:t>The process for inserting or deleting an element in an AVL tree is the same as in a regular binary search tree. The difference is that you may have to rebalance the tree after an insertion or deletion operation. The </a:t>
            </a:r>
            <a:r>
              <a:rPr altLang="en-US" i="1" lang="en-US" sz="2800"/>
              <a:t>balance factor</a:t>
            </a:r>
            <a:r>
              <a:rPr altLang="en-US" lang="en-US" sz="2800"/>
              <a:t> of a node is the height of its right subtree minus the height of its left subtree. A node is said to be </a:t>
            </a:r>
            <a:r>
              <a:rPr altLang="en-US" i="1" lang="en-US" sz="2800"/>
              <a:t>balanced</a:t>
            </a:r>
            <a:r>
              <a:rPr altLang="en-US" lang="en-US" sz="2800"/>
              <a:t> if its balance factor is -1, 0, or 1. A node is said to be </a:t>
            </a:r>
            <a:r>
              <a:rPr altLang="en-US" i="1" lang="en-US" sz="2800"/>
              <a:t>left-heavy</a:t>
            </a:r>
            <a:r>
              <a:rPr altLang="en-US" lang="en-US" sz="2800"/>
              <a:t> if its balance factor is -1. A node is said to be </a:t>
            </a:r>
            <a:r>
              <a:rPr altLang="en-US" i="1" lang="en-US" sz="2800"/>
              <a:t>right-heavy</a:t>
            </a:r>
            <a:r>
              <a:rPr altLang="en-US" lang="en-US" sz="2800"/>
              <a:t> if its balance factor is +1.</a:t>
            </a:r>
          </a:p>
        </p:txBody>
      </p:sp>
      <p:sp>
        <p:nvSpPr>
          <p:cNvPr id="8200" name="Rectangle 11">
            <a:extLst>
              <a:ext uri="{FF2B5EF4-FFF2-40B4-BE49-F238E27FC236}">
                <a16:creationId xmlns:a16="http://schemas.microsoft.com/office/drawing/2014/main" id="{6631FC6E-6E27-708C-F9C6-C8D9DCA64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38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4">
            <a:extLst>
              <a:ext uri="{FF2B5EF4-FFF2-40B4-BE49-F238E27FC236}">
                <a16:creationId xmlns:a16="http://schemas.microsoft.com/office/drawing/2014/main" id="{2A5B327B-F314-2359-F24C-195DE7CFBEF0}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942170C-E895-4280-B12A-120AC8D3FC83}" type="slidenum">
              <a:rPr altLang="en-US" 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altLang="en-US" lang="en-US" sz="14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0F9F0196-4E8B-072C-BAAF-9780D9D88FA3}"/>
              </a:ext>
            </a:extLst>
          </p:cNvPr>
          <p:cNvSpPr>
            <a:spLocks noChangeArrowheads="1" noGrp="1"/>
          </p:cNvSpPr>
          <p:nvPr>
            <p:ph type="title"/>
          </p:nvPr>
        </p:nvSpPr>
        <p:spPr>
          <a:xfrm>
            <a:off x="228600" y="285750"/>
            <a:ext cx="8686800" cy="704850"/>
          </a:xfrm>
        </p:spPr>
        <p:txBody>
          <a:bodyPr/>
          <a:lstStyle/>
          <a:p>
            <a:r>
              <a:rPr altLang="en-US" lang="en-US" sz="3600"/>
              <a:t>Balancing Trees</a:t>
            </a:r>
            <a:r>
              <a:rPr altLang="en-US" lang="en-US"/>
              <a:t> </a:t>
            </a:r>
          </a:p>
        </p:txBody>
      </p:sp>
      <p:sp>
        <p:nvSpPr>
          <p:cNvPr id="9220" name="Text Box 3">
            <a:extLst>
              <a:ext uri="{FF2B5EF4-FFF2-40B4-BE49-F238E27FC236}">
                <a16:creationId xmlns:a16="http://schemas.microsoft.com/office/drawing/2014/main" id="{33780E1C-0BF6-F978-265F-FF38A21F3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478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9221" name="Rectangle 4">
            <a:extLst>
              <a:ext uri="{FF2B5EF4-FFF2-40B4-BE49-F238E27FC236}">
                <a16:creationId xmlns:a16="http://schemas.microsoft.com/office/drawing/2014/main" id="{D374EA30-AE87-8757-82B0-F57A498BF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4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9222" name="Rectangle 5">
            <a:extLst>
              <a:ext uri="{FF2B5EF4-FFF2-40B4-BE49-F238E27FC236}">
                <a16:creationId xmlns:a16="http://schemas.microsoft.com/office/drawing/2014/main" id="{44699F71-8CFE-2CEC-6032-B7186A84A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38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9223" name="Text Box 6">
            <a:extLst>
              <a:ext uri="{FF2B5EF4-FFF2-40B4-BE49-F238E27FC236}">
                <a16:creationId xmlns:a16="http://schemas.microsoft.com/office/drawing/2014/main" id="{9D2959C8-6809-4199-0122-A5AAE9370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19200"/>
            <a:ext cx="86106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altLang="en-US" lang="en-US" sz="2800"/>
              <a:t>If a node is not balanced after an insertion or deletion operation, you need to rebalance it. The process of rebalancing a node is called a </a:t>
            </a:r>
            <a:r>
              <a:rPr altLang="en-US" i="1" lang="en-US" sz="2800"/>
              <a:t>rotation</a:t>
            </a:r>
            <a:r>
              <a:rPr altLang="en-US" lang="en-US" sz="2800"/>
              <a:t>. There are four possible rotations.</a:t>
            </a:r>
            <a:r>
              <a:rPr altLang="en-US" lang="en-US" sz="2400"/>
              <a:t> </a:t>
            </a:r>
          </a:p>
        </p:txBody>
      </p:sp>
      <p:sp>
        <p:nvSpPr>
          <p:cNvPr id="9224" name="Rectangle 7">
            <a:extLst>
              <a:ext uri="{FF2B5EF4-FFF2-40B4-BE49-F238E27FC236}">
                <a16:creationId xmlns:a16="http://schemas.microsoft.com/office/drawing/2014/main" id="{1DD16EFA-98B6-2DB7-C483-E862C532D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38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4">
            <a:extLst>
              <a:ext uri="{FF2B5EF4-FFF2-40B4-BE49-F238E27FC236}">
                <a16:creationId xmlns:a16="http://schemas.microsoft.com/office/drawing/2014/main" id="{0E710ACB-42CB-762E-14A3-A102EA46E797}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86035A-1D1A-4F56-82FE-6D76979C3609}" type="slidenum">
              <a:rPr altLang="en-US" 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altLang="en-US" lang="en-US" sz="14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B867F979-04D7-3554-2B9D-22E7548134A4}"/>
              </a:ext>
            </a:extLst>
          </p:cNvPr>
          <p:cNvSpPr>
            <a:spLocks noChangeArrowheads="1" noGrp="1"/>
          </p:cNvSpPr>
          <p:nvPr>
            <p:ph type="title"/>
          </p:nvPr>
        </p:nvSpPr>
        <p:spPr>
          <a:xfrm>
            <a:off x="228600" y="285750"/>
            <a:ext cx="8686800" cy="704850"/>
          </a:xfrm>
        </p:spPr>
        <p:txBody>
          <a:bodyPr/>
          <a:lstStyle/>
          <a:p>
            <a:r>
              <a:rPr altLang="en-US" lang="en-US"/>
              <a:t>LL imbalance and LL rotation  </a:t>
            </a:r>
          </a:p>
        </p:txBody>
      </p:sp>
      <p:sp>
        <p:nvSpPr>
          <p:cNvPr id="10244" name="Text Box 3">
            <a:extLst>
              <a:ext uri="{FF2B5EF4-FFF2-40B4-BE49-F238E27FC236}">
                <a16:creationId xmlns:a16="http://schemas.microsoft.com/office/drawing/2014/main" id="{FE9CC9D1-BC2E-09C5-2C8C-D8C9AE889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478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0245" name="Rectangle 4">
            <a:extLst>
              <a:ext uri="{FF2B5EF4-FFF2-40B4-BE49-F238E27FC236}">
                <a16:creationId xmlns:a16="http://schemas.microsoft.com/office/drawing/2014/main" id="{0AD8A7FC-C1EF-BA2A-D7C9-8E5C51216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4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0246" name="Rectangle 5">
            <a:extLst>
              <a:ext uri="{FF2B5EF4-FFF2-40B4-BE49-F238E27FC236}">
                <a16:creationId xmlns:a16="http://schemas.microsoft.com/office/drawing/2014/main" id="{A00CFF06-B9C8-9A7F-5B6F-A26EE9CF9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38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0247" name="Text Box 6">
            <a:extLst>
              <a:ext uri="{FF2B5EF4-FFF2-40B4-BE49-F238E27FC236}">
                <a16:creationId xmlns:a16="http://schemas.microsoft.com/office/drawing/2014/main" id="{03CE0ADF-3903-1A47-2FFB-04CF5804B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19200"/>
            <a:ext cx="8610600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altLang="en-US" b="1" lang="en-US" sz="2400"/>
              <a:t>LL Rotation</a:t>
            </a:r>
            <a:r>
              <a:rPr altLang="en-US" lang="en-US" sz="2400"/>
              <a:t>: An </a:t>
            </a:r>
            <a:r>
              <a:rPr altLang="en-US" i="1" lang="en-US" sz="2400"/>
              <a:t>LL imbalance</a:t>
            </a:r>
            <a:r>
              <a:rPr altLang="en-US" lang="en-US" sz="2400"/>
              <a:t> occurs at a node A such that A has a balance factor -2 and a left child B with a balance factor -1 or 0. This type of imbalance can be fixed by performing a single right rotation at A.</a:t>
            </a:r>
          </a:p>
        </p:txBody>
      </p:sp>
      <p:sp>
        <p:nvSpPr>
          <p:cNvPr id="10248" name="Rectangle 9">
            <a:extLst>
              <a:ext uri="{FF2B5EF4-FFF2-40B4-BE49-F238E27FC236}">
                <a16:creationId xmlns:a16="http://schemas.microsoft.com/office/drawing/2014/main" id="{876E463D-3ED9-3C28-A674-796C41116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89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graphicFrame>
        <p:nvGraphicFramePr>
          <p:cNvPr id="10249" name="Object 8">
            <a:extLst>
              <a:ext uri="{FF2B5EF4-FFF2-40B4-BE49-F238E27FC236}">
                <a16:creationId xmlns:a16="http://schemas.microsoft.com/office/drawing/2014/main" id="{39E855D9-1A34-36BF-5E6A-E52554CC59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3124200"/>
          <a:ext cx="4343400" cy="314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imgH="2084619" imgW="2867303" name="Picture" progId="Word.Picture.8" r:id="rId2">
                  <p:embed/>
                </p:oleObj>
              </mc:Choice>
              <mc:Fallback>
                <p:oleObj imgH="2084619" imgW="2867303" name="Picture" progId="Word.Picture.8" r:id="rId2">
                  <p:embed/>
                  <p:pic>
                    <p:nvPicPr>
                      <p:cNvPr id="0" name="Object 8"/>
                      <p:cNvPicPr>
                        <a:picLocks noChangeArrowheads="1" noChangeAspect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124200"/>
                        <a:ext cx="4343400" cy="314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Rectangle 11">
            <a:extLst>
              <a:ext uri="{FF2B5EF4-FFF2-40B4-BE49-F238E27FC236}">
                <a16:creationId xmlns:a16="http://schemas.microsoft.com/office/drawing/2014/main" id="{B0A80442-9FCC-9974-018D-DA3B83CE9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89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graphicFrame>
        <p:nvGraphicFramePr>
          <p:cNvPr id="10251" name="Object 10">
            <a:extLst>
              <a:ext uri="{FF2B5EF4-FFF2-40B4-BE49-F238E27FC236}">
                <a16:creationId xmlns:a16="http://schemas.microsoft.com/office/drawing/2014/main" id="{4853BFA6-3034-38F2-7B11-3EC805E33D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3124200"/>
          <a:ext cx="3336925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imgH="2080260" imgW="2225040" name="Picture" progId="Word.Picture.8" r:id="rId4">
                  <p:embed/>
                </p:oleObj>
              </mc:Choice>
              <mc:Fallback>
                <p:oleObj imgH="2080260" imgW="2225040" name="Picture" progId="Word.Picture.8" r:id="rId4">
                  <p:embed/>
                  <p:pic>
                    <p:nvPicPr>
                      <p:cNvPr id="0" name="Object 10"/>
                      <p:cNvPicPr>
                        <a:picLocks noChangeArrowheads="1" noChangeAspect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124200"/>
                        <a:ext cx="3336925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4">
            <a:extLst>
              <a:ext uri="{FF2B5EF4-FFF2-40B4-BE49-F238E27FC236}">
                <a16:creationId xmlns:a16="http://schemas.microsoft.com/office/drawing/2014/main" id="{09CD3D9F-0A2D-91D7-207C-A5B702BCF65F}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466BC03-1E76-40C4-8AE5-6DBAB21F4F24}" type="slidenum">
              <a:rPr altLang="en-US" 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altLang="en-US" lang="en-US" sz="14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0CE247B2-42FD-B852-14C0-7A29C2BAFA50}"/>
              </a:ext>
            </a:extLst>
          </p:cNvPr>
          <p:cNvSpPr>
            <a:spLocks noChangeArrowheads="1" noGrp="1"/>
          </p:cNvSpPr>
          <p:nvPr>
            <p:ph type="title"/>
          </p:nvPr>
        </p:nvSpPr>
        <p:spPr>
          <a:xfrm>
            <a:off x="228600" y="285750"/>
            <a:ext cx="8686800" cy="704850"/>
          </a:xfrm>
        </p:spPr>
        <p:txBody>
          <a:bodyPr/>
          <a:lstStyle/>
          <a:p>
            <a:r>
              <a:rPr altLang="en-US" lang="en-US"/>
              <a:t>RR imbalance and RR rotation  </a:t>
            </a:r>
          </a:p>
        </p:txBody>
      </p:sp>
      <p:sp>
        <p:nvSpPr>
          <p:cNvPr id="11268" name="Text Box 3">
            <a:extLst>
              <a:ext uri="{FF2B5EF4-FFF2-40B4-BE49-F238E27FC236}">
                <a16:creationId xmlns:a16="http://schemas.microsoft.com/office/drawing/2014/main" id="{75CD4D12-5B83-AACC-81FA-92D593096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478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1269" name="Rectangle 4">
            <a:extLst>
              <a:ext uri="{FF2B5EF4-FFF2-40B4-BE49-F238E27FC236}">
                <a16:creationId xmlns:a16="http://schemas.microsoft.com/office/drawing/2014/main" id="{311C8965-0781-F702-5418-9898CE84C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4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1270" name="Rectangle 5">
            <a:extLst>
              <a:ext uri="{FF2B5EF4-FFF2-40B4-BE49-F238E27FC236}">
                <a16:creationId xmlns:a16="http://schemas.microsoft.com/office/drawing/2014/main" id="{38FF5278-685B-5EEA-3A28-3CA543F97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38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1271" name="Text Box 6">
            <a:extLst>
              <a:ext uri="{FF2B5EF4-FFF2-40B4-BE49-F238E27FC236}">
                <a16:creationId xmlns:a16="http://schemas.microsoft.com/office/drawing/2014/main" id="{3990C031-7036-FD02-4124-806F6DC95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19200"/>
            <a:ext cx="8610600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altLang="en-US" b="1" lang="en-US" sz="2400"/>
              <a:t>RR Rotation</a:t>
            </a:r>
            <a:r>
              <a:rPr altLang="en-US" lang="en-US" sz="2400"/>
              <a:t>: An </a:t>
            </a:r>
            <a:r>
              <a:rPr altLang="en-US" i="1" lang="en-US" sz="2400"/>
              <a:t>RR imbalance</a:t>
            </a:r>
            <a:r>
              <a:rPr altLang="en-US" lang="en-US" sz="2400"/>
              <a:t> occurs at a node A such that A has a balance factor +2 and a right child B with a balance factor +1 or 0. This type of imbalance can be fixed by performing a single left rotation at A.</a:t>
            </a:r>
          </a:p>
        </p:txBody>
      </p:sp>
      <p:sp>
        <p:nvSpPr>
          <p:cNvPr id="11272" name="Rectangle 7">
            <a:extLst>
              <a:ext uri="{FF2B5EF4-FFF2-40B4-BE49-F238E27FC236}">
                <a16:creationId xmlns:a16="http://schemas.microsoft.com/office/drawing/2014/main" id="{F5A36DEB-3A58-B420-8E8E-01E81B20D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89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1273" name="Rectangle 9">
            <a:extLst>
              <a:ext uri="{FF2B5EF4-FFF2-40B4-BE49-F238E27FC236}">
                <a16:creationId xmlns:a16="http://schemas.microsoft.com/office/drawing/2014/main" id="{C9E83A3D-69D6-9E03-E7FF-9572F6CA1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89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1274" name="Rectangle 12">
            <a:extLst>
              <a:ext uri="{FF2B5EF4-FFF2-40B4-BE49-F238E27FC236}">
                <a16:creationId xmlns:a16="http://schemas.microsoft.com/office/drawing/2014/main" id="{D94EDEE4-1F09-EB91-5479-1263C37EC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62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graphicFrame>
        <p:nvGraphicFramePr>
          <p:cNvPr id="11275" name="Object 11">
            <a:extLst>
              <a:ext uri="{FF2B5EF4-FFF2-40B4-BE49-F238E27FC236}">
                <a16:creationId xmlns:a16="http://schemas.microsoft.com/office/drawing/2014/main" id="{EFB9FE52-5C18-C5BA-39C6-F3D579C8A9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3048000"/>
          <a:ext cx="4572000" cy="321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imgH="2135630" imgW="3031758" name="Picture" progId="Word.Picture.8" r:id="rId2">
                  <p:embed/>
                </p:oleObj>
              </mc:Choice>
              <mc:Fallback>
                <p:oleObj imgH="2135630" imgW="3031758" name="Picture" progId="Word.Picture.8" r:id="rId2">
                  <p:embed/>
                  <p:pic>
                    <p:nvPicPr>
                      <p:cNvPr id="0" name="Object 11"/>
                      <p:cNvPicPr>
                        <a:picLocks noChangeArrowheads="1" noChangeAspect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048000"/>
                        <a:ext cx="4572000" cy="321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6" name="Rectangle 14">
            <a:extLst>
              <a:ext uri="{FF2B5EF4-FFF2-40B4-BE49-F238E27FC236}">
                <a16:creationId xmlns:a16="http://schemas.microsoft.com/office/drawing/2014/main" id="{65643061-FEC5-C6C1-3110-D8E0C7F72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62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graphicFrame>
        <p:nvGraphicFramePr>
          <p:cNvPr id="11277" name="Object 13">
            <a:extLst>
              <a:ext uri="{FF2B5EF4-FFF2-40B4-BE49-F238E27FC236}">
                <a16:creationId xmlns:a16="http://schemas.microsoft.com/office/drawing/2014/main" id="{44682E37-CC5A-E19A-9EC2-A9339448BF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3048000"/>
          <a:ext cx="3143250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imgH="2132076" imgW="2097024" name="Picture" progId="Word.Picture.8" r:id="rId4">
                  <p:embed/>
                </p:oleObj>
              </mc:Choice>
              <mc:Fallback>
                <p:oleObj imgH="2132076" imgW="2097024" name="Picture" progId="Word.Picture.8" r:id="rId4">
                  <p:embed/>
                  <p:pic>
                    <p:nvPicPr>
                      <p:cNvPr id="0" name="Object 13"/>
                      <p:cNvPicPr>
                        <a:picLocks noChangeArrowheads="1" noChangeAspect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048000"/>
                        <a:ext cx="3143250" cy="320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4">
            <a:extLst>
              <a:ext uri="{FF2B5EF4-FFF2-40B4-BE49-F238E27FC236}">
                <a16:creationId xmlns:a16="http://schemas.microsoft.com/office/drawing/2014/main" id="{3209F6C7-821B-5C2D-ECE9-CAA5BB884AD0}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7D8C1F2-D95D-4B95-BD5C-E50AA1388A56}" type="slidenum">
              <a:rPr altLang="en-US" 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altLang="en-US" lang="en-US" sz="14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E8592351-F9CE-2772-9016-7FFB17E2F870}"/>
              </a:ext>
            </a:extLst>
          </p:cNvPr>
          <p:cNvSpPr>
            <a:spLocks noChangeArrowheads="1" noGrp="1"/>
          </p:cNvSpPr>
          <p:nvPr>
            <p:ph type="title"/>
          </p:nvPr>
        </p:nvSpPr>
        <p:spPr>
          <a:xfrm>
            <a:off x="228600" y="285750"/>
            <a:ext cx="8686800" cy="552450"/>
          </a:xfrm>
        </p:spPr>
        <p:txBody>
          <a:bodyPr/>
          <a:lstStyle/>
          <a:p>
            <a:r>
              <a:rPr altLang="en-US" lang="en-US"/>
              <a:t>LR imbalance and LR rotation  </a:t>
            </a:r>
          </a:p>
        </p:txBody>
      </p:sp>
      <p:sp>
        <p:nvSpPr>
          <p:cNvPr id="12292" name="Text Box 3">
            <a:extLst>
              <a:ext uri="{FF2B5EF4-FFF2-40B4-BE49-F238E27FC236}">
                <a16:creationId xmlns:a16="http://schemas.microsoft.com/office/drawing/2014/main" id="{E0924849-16F5-44D4-7446-F83A68108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478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2293" name="Rectangle 4">
            <a:extLst>
              <a:ext uri="{FF2B5EF4-FFF2-40B4-BE49-F238E27FC236}">
                <a16:creationId xmlns:a16="http://schemas.microsoft.com/office/drawing/2014/main" id="{154566B3-7E6E-0E07-1276-F38AB0CAD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4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2294" name="Rectangle 5">
            <a:extLst>
              <a:ext uri="{FF2B5EF4-FFF2-40B4-BE49-F238E27FC236}">
                <a16:creationId xmlns:a16="http://schemas.microsoft.com/office/drawing/2014/main" id="{7D3B7958-5D2D-3449-8E5A-9C9A4C90A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38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2295" name="Text Box 6">
            <a:extLst>
              <a:ext uri="{FF2B5EF4-FFF2-40B4-BE49-F238E27FC236}">
                <a16:creationId xmlns:a16="http://schemas.microsoft.com/office/drawing/2014/main" id="{A23E0756-F7ED-0679-30C5-0DFF83774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90600"/>
            <a:ext cx="8610600" cy="193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altLang="en-US" b="1" lang="en-US" sz="2400"/>
              <a:t>LR Rotation</a:t>
            </a:r>
            <a:r>
              <a:rPr altLang="en-US" lang="en-US" sz="2400"/>
              <a:t>: An </a:t>
            </a:r>
            <a:r>
              <a:rPr altLang="en-US" i="1" lang="en-US" sz="2400"/>
              <a:t>LR imbalance</a:t>
            </a:r>
            <a:r>
              <a:rPr altLang="en-US" lang="en-US" sz="2400"/>
              <a:t> occurs at a node A such that A has a balance factor -2 and a left child B with a balance factor +1. Assume B’s right child is C. This type of imbalance can be fixed by performing a double rotation (first a single left rotation at B and then a single right rotation at A). </a:t>
            </a:r>
          </a:p>
        </p:txBody>
      </p:sp>
      <p:sp>
        <p:nvSpPr>
          <p:cNvPr id="12296" name="Rectangle 7">
            <a:extLst>
              <a:ext uri="{FF2B5EF4-FFF2-40B4-BE49-F238E27FC236}">
                <a16:creationId xmlns:a16="http://schemas.microsoft.com/office/drawing/2014/main" id="{F11348A7-AE4E-7D85-37D0-D20CA68DB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89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2297" name="Rectangle 8">
            <a:extLst>
              <a:ext uri="{FF2B5EF4-FFF2-40B4-BE49-F238E27FC236}">
                <a16:creationId xmlns:a16="http://schemas.microsoft.com/office/drawing/2014/main" id="{845BB2EB-B8F9-C5E9-18B0-BC7CD3B43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89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2298" name="Rectangle 9">
            <a:extLst>
              <a:ext uri="{FF2B5EF4-FFF2-40B4-BE49-F238E27FC236}">
                <a16:creationId xmlns:a16="http://schemas.microsoft.com/office/drawing/2014/main" id="{D6472BCF-01EE-260D-8622-3FBE42E43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62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2299" name="Rectangle 14">
            <a:extLst>
              <a:ext uri="{FF2B5EF4-FFF2-40B4-BE49-F238E27FC236}">
                <a16:creationId xmlns:a16="http://schemas.microsoft.com/office/drawing/2014/main" id="{A20FB9B8-5419-C02F-1339-BFEC2075B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62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graphicFrame>
        <p:nvGraphicFramePr>
          <p:cNvPr id="12300" name="Object 13">
            <a:extLst>
              <a:ext uri="{FF2B5EF4-FFF2-40B4-BE49-F238E27FC236}">
                <a16:creationId xmlns:a16="http://schemas.microsoft.com/office/drawing/2014/main" id="{3CF217D2-BC87-2A26-2434-297AE4145A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3276600"/>
          <a:ext cx="3962400" cy="310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imgH="2135630" imgW="2727211" name="Picture" progId="Word.Picture.8" r:id="rId2">
                  <p:embed/>
                </p:oleObj>
              </mc:Choice>
              <mc:Fallback>
                <p:oleObj imgH="2135630" imgW="2727211" name="Picture" progId="Word.Picture.8" r:id="rId2">
                  <p:embed/>
                  <p:pic>
                    <p:nvPicPr>
                      <p:cNvPr id="0" name="Object 13"/>
                      <p:cNvPicPr>
                        <a:picLocks noChangeArrowheads="1" noChangeAspect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276600"/>
                        <a:ext cx="3962400" cy="310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1" name="Rectangle 16">
            <a:extLst>
              <a:ext uri="{FF2B5EF4-FFF2-40B4-BE49-F238E27FC236}">
                <a16:creationId xmlns:a16="http://schemas.microsoft.com/office/drawing/2014/main" id="{C20577CE-33E6-5716-14A7-A0AFF58B3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16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graphicFrame>
        <p:nvGraphicFramePr>
          <p:cNvPr id="12302" name="Object 15">
            <a:extLst>
              <a:ext uri="{FF2B5EF4-FFF2-40B4-BE49-F238E27FC236}">
                <a16:creationId xmlns:a16="http://schemas.microsoft.com/office/drawing/2014/main" id="{7F7DCE6E-739F-CFF4-DF50-2CCF12ECD0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3276600"/>
          <a:ext cx="3733800" cy="309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imgH="2224710" imgW="2689143" name="Picture" progId="Word.Picture.8" r:id="rId4">
                  <p:embed/>
                </p:oleObj>
              </mc:Choice>
              <mc:Fallback>
                <p:oleObj imgH="2224710" imgW="2689143" name="Picture" progId="Word.Picture.8" r:id="rId4">
                  <p:embed/>
                  <p:pic>
                    <p:nvPicPr>
                      <p:cNvPr id="0" name="Object 15"/>
                      <p:cNvPicPr>
                        <a:picLocks noChangeArrowheads="1" noChangeAspect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276600"/>
                        <a:ext cx="3733800" cy="309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4">
            <a:extLst>
              <a:ext uri="{FF2B5EF4-FFF2-40B4-BE49-F238E27FC236}">
                <a16:creationId xmlns:a16="http://schemas.microsoft.com/office/drawing/2014/main" id="{B28E7F58-5959-8D71-28EB-0CEF71B60358}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79D001C-1185-4557-B9A1-F675BB905B97}" type="slidenum">
              <a:rPr altLang="en-US" 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altLang="en-US" lang="en-US" sz="14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AA662B45-AADD-3D47-AB32-A1186F0687A2}"/>
              </a:ext>
            </a:extLst>
          </p:cNvPr>
          <p:cNvSpPr>
            <a:spLocks noChangeArrowheads="1" noGrp="1"/>
          </p:cNvSpPr>
          <p:nvPr>
            <p:ph type="title"/>
          </p:nvPr>
        </p:nvSpPr>
        <p:spPr>
          <a:xfrm>
            <a:off x="228600" y="152400"/>
            <a:ext cx="8686800" cy="685800"/>
          </a:xfrm>
        </p:spPr>
        <p:txBody>
          <a:bodyPr/>
          <a:lstStyle/>
          <a:p>
            <a:r>
              <a:rPr altLang="en-US" lang="en-US"/>
              <a:t>RL imbalance and RL rotation  </a:t>
            </a:r>
          </a:p>
        </p:txBody>
      </p:sp>
      <p:sp>
        <p:nvSpPr>
          <p:cNvPr id="13316" name="Text Box 3">
            <a:extLst>
              <a:ext uri="{FF2B5EF4-FFF2-40B4-BE49-F238E27FC236}">
                <a16:creationId xmlns:a16="http://schemas.microsoft.com/office/drawing/2014/main" id="{3FB9F22C-D0CD-7E30-9809-AC2D10DB0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478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3317" name="Rectangle 4">
            <a:extLst>
              <a:ext uri="{FF2B5EF4-FFF2-40B4-BE49-F238E27FC236}">
                <a16:creationId xmlns:a16="http://schemas.microsoft.com/office/drawing/2014/main" id="{3AE23A0B-8AD9-E18D-F0C1-683E4F605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4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3318" name="Rectangle 5">
            <a:extLst>
              <a:ext uri="{FF2B5EF4-FFF2-40B4-BE49-F238E27FC236}">
                <a16:creationId xmlns:a16="http://schemas.microsoft.com/office/drawing/2014/main" id="{8F384A42-47F7-FB8B-4D7D-9474BE395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38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3319" name="Text Box 6">
            <a:extLst>
              <a:ext uri="{FF2B5EF4-FFF2-40B4-BE49-F238E27FC236}">
                <a16:creationId xmlns:a16="http://schemas.microsoft.com/office/drawing/2014/main" id="{1C577140-8F9F-5CA7-2462-6759E3502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14400"/>
            <a:ext cx="8610600" cy="193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altLang="en-US" b="1" lang="en-US" sz="2400"/>
              <a:t>RL Rotation</a:t>
            </a:r>
            <a:r>
              <a:rPr altLang="en-US" lang="en-US" sz="2400"/>
              <a:t>: An </a:t>
            </a:r>
            <a:r>
              <a:rPr altLang="en-US" i="1" lang="en-US" sz="2400"/>
              <a:t>RL imbalance</a:t>
            </a:r>
            <a:r>
              <a:rPr altLang="en-US" lang="en-US" sz="2400"/>
              <a:t> occurs at a node A such that A has a balance factor +2 and a right child B with a balance factor -1. Assume B’s left child is C. This type of imbalance can be fixed by performing a double rotation (first a single right rotation at B and then a single left rotation at A).</a:t>
            </a:r>
          </a:p>
        </p:txBody>
      </p:sp>
      <p:sp>
        <p:nvSpPr>
          <p:cNvPr id="13320" name="Rectangle 7">
            <a:extLst>
              <a:ext uri="{FF2B5EF4-FFF2-40B4-BE49-F238E27FC236}">
                <a16:creationId xmlns:a16="http://schemas.microsoft.com/office/drawing/2014/main" id="{287C2625-CDCF-19DE-17D7-9D7580800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89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3321" name="Rectangle 8">
            <a:extLst>
              <a:ext uri="{FF2B5EF4-FFF2-40B4-BE49-F238E27FC236}">
                <a16:creationId xmlns:a16="http://schemas.microsoft.com/office/drawing/2014/main" id="{CF35F545-4F9B-C320-C100-63D23A7FA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89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3322" name="Rectangle 9">
            <a:extLst>
              <a:ext uri="{FF2B5EF4-FFF2-40B4-BE49-F238E27FC236}">
                <a16:creationId xmlns:a16="http://schemas.microsoft.com/office/drawing/2014/main" id="{F26C5A2D-DA0B-F47B-183A-CB05CDF07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62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3323" name="Rectangle 10">
            <a:extLst>
              <a:ext uri="{FF2B5EF4-FFF2-40B4-BE49-F238E27FC236}">
                <a16:creationId xmlns:a16="http://schemas.microsoft.com/office/drawing/2014/main" id="{D4BFB050-1878-2DBE-F892-CFF3EE394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62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3324" name="Rectangle 12">
            <a:extLst>
              <a:ext uri="{FF2B5EF4-FFF2-40B4-BE49-F238E27FC236}">
                <a16:creationId xmlns:a16="http://schemas.microsoft.com/office/drawing/2014/main" id="{A352D9CA-C414-CFB5-C6BF-E4DBBEBE4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16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3325" name="Rectangle 15">
            <a:extLst>
              <a:ext uri="{FF2B5EF4-FFF2-40B4-BE49-F238E27FC236}">
                <a16:creationId xmlns:a16="http://schemas.microsoft.com/office/drawing/2014/main" id="{9894C21C-98D6-CCF7-7D4B-5B50771AA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62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graphicFrame>
        <p:nvGraphicFramePr>
          <p:cNvPr id="13326" name="Object 14">
            <a:extLst>
              <a:ext uri="{FF2B5EF4-FFF2-40B4-BE49-F238E27FC236}">
                <a16:creationId xmlns:a16="http://schemas.microsoft.com/office/drawing/2014/main" id="{E6D8DBB0-686B-6C1D-0CA0-7188340ECC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3276600"/>
          <a:ext cx="4114800" cy="315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imgH="2135630" imgW="2778223" name="Picture" progId="Word.Picture.8" r:id="rId2">
                  <p:embed/>
                </p:oleObj>
              </mc:Choice>
              <mc:Fallback>
                <p:oleObj imgH="2135630" imgW="2778223" name="Picture" progId="Word.Picture.8" r:id="rId2">
                  <p:embed/>
                  <p:pic>
                    <p:nvPicPr>
                      <p:cNvPr id="0" name="Object 14"/>
                      <p:cNvPicPr>
                        <a:picLocks noChangeArrowheads="1" noChangeAspect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276600"/>
                        <a:ext cx="4114800" cy="315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7" name="Rectangle 17">
            <a:extLst>
              <a:ext uri="{FF2B5EF4-FFF2-40B4-BE49-F238E27FC236}">
                <a16:creationId xmlns:a16="http://schemas.microsoft.com/office/drawing/2014/main" id="{DA33C103-10CB-4170-81F6-E8AF4A7CC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16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graphicFrame>
        <p:nvGraphicFramePr>
          <p:cNvPr id="13328" name="Object 16">
            <a:extLst>
              <a:ext uri="{FF2B5EF4-FFF2-40B4-BE49-F238E27FC236}">
                <a16:creationId xmlns:a16="http://schemas.microsoft.com/office/drawing/2014/main" id="{2EFB834E-F32F-A490-DCE4-D53482C6A6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3276600"/>
          <a:ext cx="3810000" cy="315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imgH="2224710" imgW="2689143" name="Picture" progId="Word.Picture.8" r:id="rId4">
                  <p:embed/>
                </p:oleObj>
              </mc:Choice>
              <mc:Fallback>
                <p:oleObj imgH="2224710" imgW="2689143" name="Picture" progId="Word.Picture.8" r:id="rId4">
                  <p:embed/>
                  <p:pic>
                    <p:nvPicPr>
                      <p:cNvPr id="0" name="Object 16"/>
                      <p:cNvPicPr>
                        <a:picLocks noChangeArrowheads="1" noChangeAspect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276600"/>
                        <a:ext cx="3810000" cy="315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3">
            <a:extLst>
              <a:ext uri="{FF2B5EF4-FFF2-40B4-BE49-F238E27FC236}">
                <a16:creationId xmlns:a16="http://schemas.microsoft.com/office/drawing/2014/main" id="{A82C3AF8-1804-6D0E-E6B7-C108FC351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rrowheads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82750"/>
            <a:ext cx="7467600" cy="482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</a:extLst>
        </p:spPr>
      </p:pic>
      <p:sp>
        <p:nvSpPr>
          <p:cNvPr id="14339" name="Slide Number Placeholder 4">
            <a:extLst>
              <a:ext uri="{FF2B5EF4-FFF2-40B4-BE49-F238E27FC236}">
                <a16:creationId xmlns:a16="http://schemas.microsoft.com/office/drawing/2014/main" id="{603C7AA0-4DE2-775D-7E50-1B9159C8B0B2}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068CE4E-C494-4170-BF10-B921BB71DE29}" type="slidenum">
              <a:rPr altLang="en-US" 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altLang="en-US" lang="en-US" sz="1400"/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BDC4FB92-3A4D-1142-29C4-4CA9510FEEB0}"/>
              </a:ext>
            </a:extLst>
          </p:cNvPr>
          <p:cNvSpPr>
            <a:spLocks noChangeArrowheads="1" noGrp="1"/>
          </p:cNvSpPr>
          <p:nvPr>
            <p:ph type="title"/>
          </p:nvPr>
        </p:nvSpPr>
        <p:spPr>
          <a:xfrm>
            <a:off x="228600" y="152400"/>
            <a:ext cx="8686800" cy="685800"/>
          </a:xfrm>
        </p:spPr>
        <p:txBody>
          <a:bodyPr/>
          <a:lstStyle/>
          <a:p>
            <a:r>
              <a:rPr altLang="en-US" lang="en-US"/>
              <a:t>Designing Classes for AVL Trees</a:t>
            </a:r>
          </a:p>
        </p:txBody>
      </p:sp>
      <p:sp>
        <p:nvSpPr>
          <p:cNvPr id="14341" name="Text Box 3">
            <a:extLst>
              <a:ext uri="{FF2B5EF4-FFF2-40B4-BE49-F238E27FC236}">
                <a16:creationId xmlns:a16="http://schemas.microsoft.com/office/drawing/2014/main" id="{5010DFBE-113A-690F-4B4A-9BA9D93A0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478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4342" name="Rectangle 4">
            <a:extLst>
              <a:ext uri="{FF2B5EF4-FFF2-40B4-BE49-F238E27FC236}">
                <a16:creationId xmlns:a16="http://schemas.microsoft.com/office/drawing/2014/main" id="{6FA97792-F6E8-04B9-1579-503DBD316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4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4343" name="Rectangle 5">
            <a:extLst>
              <a:ext uri="{FF2B5EF4-FFF2-40B4-BE49-F238E27FC236}">
                <a16:creationId xmlns:a16="http://schemas.microsoft.com/office/drawing/2014/main" id="{AE25F70A-87DF-17AF-D1D7-CEAC6FA05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38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4344" name="Text Box 6">
            <a:extLst>
              <a:ext uri="{FF2B5EF4-FFF2-40B4-BE49-F238E27FC236}">
                <a16:creationId xmlns:a16="http://schemas.microsoft.com/office/drawing/2014/main" id="{209A1496-F6A6-2E32-ADCE-73A24D64D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14400"/>
            <a:ext cx="86106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altLang="en-US" lang="en-US" sz="2400"/>
              <a:t>An AVL tree is a binary tree. So you can define the AVLTree class to extend the BST class. </a:t>
            </a:r>
          </a:p>
        </p:txBody>
      </p:sp>
      <p:sp>
        <p:nvSpPr>
          <p:cNvPr id="14345" name="Rectangle 7">
            <a:extLst>
              <a:ext uri="{FF2B5EF4-FFF2-40B4-BE49-F238E27FC236}">
                <a16:creationId xmlns:a16="http://schemas.microsoft.com/office/drawing/2014/main" id="{2E36638D-B07B-93C7-3CDD-DFAEBE350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89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4346" name="Rectangle 8">
            <a:extLst>
              <a:ext uri="{FF2B5EF4-FFF2-40B4-BE49-F238E27FC236}">
                <a16:creationId xmlns:a16="http://schemas.microsoft.com/office/drawing/2014/main" id="{20578E3E-9E31-5214-B54D-3B8CD4659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89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4347" name="Rectangle 9">
            <a:extLst>
              <a:ext uri="{FF2B5EF4-FFF2-40B4-BE49-F238E27FC236}">
                <a16:creationId xmlns:a16="http://schemas.microsoft.com/office/drawing/2014/main" id="{28F401F7-B3F5-0F75-9531-0A758A285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62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4348" name="Rectangle 10">
            <a:extLst>
              <a:ext uri="{FF2B5EF4-FFF2-40B4-BE49-F238E27FC236}">
                <a16:creationId xmlns:a16="http://schemas.microsoft.com/office/drawing/2014/main" id="{34D72DBF-4BC7-BEFA-C82F-2619AE8E1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62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4349" name="Rectangle 11">
            <a:extLst>
              <a:ext uri="{FF2B5EF4-FFF2-40B4-BE49-F238E27FC236}">
                <a16:creationId xmlns:a16="http://schemas.microsoft.com/office/drawing/2014/main" id="{08975E36-B9D7-F0CB-388B-CB236C19E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16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4350" name="Rectangle 12">
            <a:extLst>
              <a:ext uri="{FF2B5EF4-FFF2-40B4-BE49-F238E27FC236}">
                <a16:creationId xmlns:a16="http://schemas.microsoft.com/office/drawing/2014/main" id="{8A2F72D6-E08F-524C-249B-E4FA185B4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62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4351" name="Rectangle 13">
            <a:extLst>
              <a:ext uri="{FF2B5EF4-FFF2-40B4-BE49-F238E27FC236}">
                <a16:creationId xmlns:a16="http://schemas.microsoft.com/office/drawing/2014/main" id="{6BBF1BE6-0F59-53B9-79C3-5F40CA4D3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16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4352" name="Rectangle 14">
            <a:extLst>
              <a:ext uri="{FF2B5EF4-FFF2-40B4-BE49-F238E27FC236}">
                <a16:creationId xmlns:a16="http://schemas.microsoft.com/office/drawing/2014/main" id="{0E6D766A-5DEF-16D9-C623-20DC17A11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76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4353" name="AutoShape 16">
            <a:hlinkClick action="ppaction://program" highlightClick="1" r:id="rId3"/>
            <a:extLst>
              <a:ext uri="{FF2B5EF4-FFF2-40B4-BE49-F238E27FC236}">
                <a16:creationId xmlns:a16="http://schemas.microsoft.com/office/drawing/2014/main" id="{B3711DF4-DF76-2F43-0A21-06982D6EB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6425" y="5791200"/>
            <a:ext cx="2057400" cy="5334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dir="2700000" dist="17961" prst="shdw17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</a:extLst>
        </p:spPr>
        <p:txBody>
          <a:bodyPr anchor="ctr" wrap="none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altLang="en-US" lang="en-US" sz="2400"/>
              <a:t>Run</a:t>
            </a:r>
          </a:p>
        </p:txBody>
      </p:sp>
      <p:sp>
        <p:nvSpPr>
          <p:cNvPr id="536593" name="AutoShape 17">
            <a:hlinkClick action="ppaction://noaction" highlightClick="1" r:id=""/>
            <a:extLst>
              <a:ext uri="{FF2B5EF4-FFF2-40B4-BE49-F238E27FC236}">
                <a16:creationId xmlns:a16="http://schemas.microsoft.com/office/drawing/2014/main" id="{3E7AC33C-5479-49BC-2B5F-59C26CD59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6425" y="5181600"/>
            <a:ext cx="2057400" cy="5334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dir="2700000" dist="17961" prst="shdw17">
              <a:schemeClr val="tx1">
                <a:gamma/>
                <a:shade val="60000"/>
                <a:invGamma/>
              </a:schemeClr>
            </a:prstShdw>
          </a:effectLst>
        </p:spPr>
        <p:txBody>
          <a:bodyPr anchor="ctr" wrap="none"/>
          <a:lstStyle/>
          <a:p>
            <a:pPr algn="ctr">
              <a:defRPr/>
            </a:pPr>
            <a:r>
              <a:rPr lang="en-US">
                <a:solidFill>
                  <a:srgbClr val="000000"/>
                </a:solidFill>
                <a:latin charset="0" pitchFamily="18" typeface="Book Antiqua"/>
                <a:hlinkClick action="ppaction://program"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TestAVLTree</a:t>
            </a:r>
            <a:endParaRPr lang="en-US"/>
          </a:p>
        </p:txBody>
      </p:sp>
      <p:sp>
        <p:nvSpPr>
          <p:cNvPr id="536594" name="AutoShape 18">
            <a:hlinkClick action="ppaction://noaction" highlightClick="1" r:id=""/>
            <a:extLst>
              <a:ext uri="{FF2B5EF4-FFF2-40B4-BE49-F238E27FC236}">
                <a16:creationId xmlns:a16="http://schemas.microsoft.com/office/drawing/2014/main" id="{C261D254-5AD9-C223-B1C8-612A51249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3" y="1638300"/>
            <a:ext cx="2057400" cy="5334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dir="2700000" dist="17961" prst="shdw17">
              <a:schemeClr val="tx1">
                <a:gamma/>
                <a:shade val="60000"/>
                <a:invGamma/>
              </a:schemeClr>
            </a:prstShdw>
          </a:effectLst>
        </p:spPr>
        <p:txBody>
          <a:bodyPr anchor="ctr" wrap="none"/>
          <a:lstStyle/>
          <a:p>
            <a:pPr algn="ctr">
              <a:defRPr/>
            </a:pPr>
            <a:r>
              <a:rPr lang="en-US">
                <a:solidFill>
                  <a:srgbClr val="000000"/>
                </a:solidFill>
                <a:latin charset="0" pitchFamily="18" typeface="Book Antiqua"/>
                <a:hlinkClick action="ppaction://program"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AVLTree</a:t>
            </a:r>
            <a:endParaRPr lang="en-US"/>
          </a:p>
        </p:txBody>
      </p:sp>
      <p:sp>
        <p:nvSpPr>
          <p:cNvPr id="14356" name="Rectangle 20">
            <a:extLst>
              <a:ext uri="{FF2B5EF4-FFF2-40B4-BE49-F238E27FC236}">
                <a16:creationId xmlns:a16="http://schemas.microsoft.com/office/drawing/2014/main" id="{B86F5028-4583-5057-0ED4-F9B4A2B0B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76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len="sm" type="none" w="sm"/>
                <a:tailEnd len="sm" type="none" w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4357" name="AutoShape 21">
            <a:hlinkClick highlightClick="1" r:id="rId6"/>
            <a:extLst>
              <a:ext uri="{FF2B5EF4-FFF2-40B4-BE49-F238E27FC236}">
                <a16:creationId xmlns:a16="http://schemas.microsoft.com/office/drawing/2014/main" id="{00F28D46-21F1-B29A-8E2F-0EB935B10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3025" y="5181600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wrap="none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  <p:sp>
        <p:nvSpPr>
          <p:cNvPr id="14358" name="AutoShape 22">
            <a:hlinkClick highlightClick="1" r:id="rId7"/>
            <a:extLst>
              <a:ext uri="{FF2B5EF4-FFF2-40B4-BE49-F238E27FC236}">
                <a16:creationId xmlns:a16="http://schemas.microsoft.com/office/drawing/2014/main" id="{CA363625-356A-7F31-1012-FC3799256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8113" y="1562100"/>
            <a:ext cx="468312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wrap="none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charset="2" pitchFamily="2" typeface="Monotype Sorts"/>
              <a:buChar char="F"/>
              <a:defRPr sz="3200">
                <a:solidFill>
                  <a:schemeClr val="tx1"/>
                </a:solidFill>
                <a:latin charset="0" panose="02020603050405020304" pitchFamily="18" typeface="Times New Roman"/>
              </a:defRPr>
            </a:lvl1pPr>
            <a:lvl2pPr indent="-285750" marL="7429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charset="0" panose="02020603050405020304" pitchFamily="18" typeface="Times New Roman"/>
              </a:defRPr>
            </a:lvl2pPr>
            <a:lvl3pPr indent="-228600" marL="1143000">
              <a:spcBef>
                <a:spcPct val="20000"/>
              </a:spcBef>
              <a:buClr>
                <a:schemeClr val="accent2"/>
              </a:buClr>
              <a:buSzPct val="65000"/>
              <a:buFont charset="2" pitchFamily="2" typeface="Monotype Sorts"/>
              <a:buChar char="u"/>
              <a:defRPr sz="2400">
                <a:solidFill>
                  <a:schemeClr val="tx1"/>
                </a:solidFill>
                <a:latin charset="0" panose="02020603050405020304" pitchFamily="18" typeface="Times New Roman"/>
              </a:defRPr>
            </a:lvl3pPr>
            <a:lvl4pPr indent="-228600" marL="16002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4pPr>
            <a:lvl5pPr indent="-228600" marL="20574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charset="0" panose="02020603050405020304" pitchFamily="18" typeface="Times New Roman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altLang="en-US" 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national">
  <a:themeElements>
    <a:clrScheme name="International 3">
      <a:dk1>
        <a:srgbClr val="000000"/>
      </a:dk1>
      <a:lt1>
        <a:srgbClr val="FFFFFF"/>
      </a:lt1>
      <a:dk2>
        <a:srgbClr val="000000"/>
      </a:dk2>
      <a:lt2>
        <a:srgbClr val="5F5F5F"/>
      </a:lt2>
      <a:accent1>
        <a:srgbClr val="CBCBCB"/>
      </a:accent1>
      <a:accent2>
        <a:srgbClr val="969696"/>
      </a:accent2>
      <a:accent3>
        <a:srgbClr val="FFFFFF"/>
      </a:accent3>
      <a:accent4>
        <a:srgbClr val="000000"/>
      </a:accent4>
      <a:accent5>
        <a:srgbClr val="E2E2E2"/>
      </a:accent5>
      <a:accent6>
        <a:srgbClr val="878787"/>
      </a:accent6>
      <a:hlink>
        <a:srgbClr val="DDDDDD"/>
      </a:hlink>
      <a:folHlink>
        <a:srgbClr val="EAEAEA"/>
      </a:folHlink>
    </a:clrScheme>
    <a:fontScheme name="International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International 1">
        <a:dk1>
          <a:srgbClr val="000000"/>
        </a:dk1>
        <a:lt1>
          <a:srgbClr val="FFFFFF"/>
        </a:lt1>
        <a:dk2>
          <a:srgbClr val="0000FF"/>
        </a:dk2>
        <a:lt2>
          <a:srgbClr val="FFFF99"/>
        </a:lt2>
        <a:accent1>
          <a:srgbClr val="009966"/>
        </a:accent1>
        <a:accent2>
          <a:srgbClr val="00CCCC"/>
        </a:accent2>
        <a:accent3>
          <a:srgbClr val="AAAAFF"/>
        </a:accent3>
        <a:accent4>
          <a:srgbClr val="DADADA"/>
        </a:accent4>
        <a:accent5>
          <a:srgbClr val="AACAB8"/>
        </a:accent5>
        <a:accent6>
          <a:srgbClr val="00B9B9"/>
        </a:accent6>
        <a:hlink>
          <a:srgbClr val="000080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national 2">
        <a:dk1>
          <a:srgbClr val="000000"/>
        </a:dk1>
        <a:lt1>
          <a:srgbClr val="FFFFFF"/>
        </a:lt1>
        <a:dk2>
          <a:srgbClr val="000080"/>
        </a:dk2>
        <a:lt2>
          <a:srgbClr val="003399"/>
        </a:lt2>
        <a:accent1>
          <a:srgbClr val="9999FF"/>
        </a:accent1>
        <a:accent2>
          <a:srgbClr val="FF99FF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E78AE7"/>
        </a:accent6>
        <a:hlink>
          <a:srgbClr val="85AD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ational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BCBCB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878787"/>
        </a:accent6>
        <a:hlink>
          <a:srgbClr val="DDDDD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C:\MSOffice\Templates\Presentation Designs\International.pot</Template>
  <TotalTime>19019</TotalTime>
  <Words>758</Words>
  <Application>Microsoft Office PowerPoint</Application>
  <PresentationFormat>On-screen Show (4:3)</PresentationFormat>
  <Paragraphs>46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Times New Roman</vt:lpstr>
      <vt:lpstr>Arial</vt:lpstr>
      <vt:lpstr>Monotype Sorts</vt:lpstr>
      <vt:lpstr>Book Antiqua</vt:lpstr>
      <vt:lpstr>International</vt:lpstr>
      <vt:lpstr>Microsoft Word Picture</vt:lpstr>
      <vt:lpstr>Chapter 26 AVL Trees</vt:lpstr>
      <vt:lpstr>Objectives</vt:lpstr>
      <vt:lpstr>Why AVL Tree? </vt:lpstr>
      <vt:lpstr>What is an AVL Tree? </vt:lpstr>
      <vt:lpstr>AVL Tree Animation</vt:lpstr>
      <vt:lpstr>Balance Factor/Left-Heavy/Right-Heavy </vt:lpstr>
      <vt:lpstr>Balancing Trees </vt:lpstr>
      <vt:lpstr>LL imbalance and LL rotation  </vt:lpstr>
      <vt:lpstr>RR imbalance and RR rotation  </vt:lpstr>
      <vt:lpstr>LR imbalance and LR rotation  </vt:lpstr>
      <vt:lpstr>RL imbalance and RL rotation  </vt:lpstr>
      <vt:lpstr>Designing Classes for AVL Trees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1995-06-10T17:31:50Z</dcterms:created>
  <dc:creator>Y. Daniel Liang</dc:creator>
  <cp:lastModifiedBy>opc</cp:lastModifiedBy>
  <dcterms:modified xsi:type="dcterms:W3CDTF">2026-02-23T23:57:16Z</dcterms:modified>
  <cp:revision>219</cp:revision>
  <dc:title>Chapter 9: Objects and Classes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pid="2" fmtid="{D5CDD505-2E9C-101B-9397-08002B2CF9AE}" name="data-panorama-remediation-history">
    <vt:lpwstr>[{"isReadingOrderVerified":"true","pageNumber":0,"geomIndex":-1,"issueTypeId":"ReadingOrderIssue:PPTX","dismiss":false,"pageNumbers":[1],"coordinatesList":[[10.0,10.0,2.0,2.0]]},{"isReadingOrderVerified":"true","pageNumber":0,"geomIndex":-1,"issueTypeId":"ReadingOrderIssue:PPTX","dismiss":false,"pageNumbers":[2],"coordinatesList":[[10.0,10.0,2.0,2.0]]},{"isReadingOrderVerified":"true","pageNumber":0,"geomIndex":-1,"issueTypeId":"ReadingOrderIssue:PPTX","dismiss":false,"pageNumbers":[3],"coordinatesList":[[10.0,10.0,2.0,2.0]]},{"isReadingOrderVerified":"true","pageNumber":0,"geomIndex":-1,"issueTypeId":"ReadingOrderIssue:PPTX","dismiss":false,"pageNumbers":[4],"coordinatesList":[[10.0,10.0,2.0,2.0]]},{"isReadingOrderVerified":"true","pageNumber":0,"geomIndex":-1,"issueTypeId":"ReadingOrderIssue:PPTX","dismiss":false,"pageNumbers":[5],"coordinatesList":[[10.0,10.0,2.0,2.0]]},{"pageNumber":0,"geomIndex":-1,"decorative":true,"imageIndex":15,"identifiers":{},"issueTypeId":"MissingAlternativeTextIssue:PPTX","dismiss":false,"pageNumbers":[5],"coordinatesList":[[24.0,477.5,672.0,327.5]]},{"isReadingOrderVerified":"true","pageNumber":0,"geomIndex":-1,"issueTypeId":"ReadingOrderIssue:PPTX","dismiss":false,"pageNumbers":[6],"coordinatesList":[[10.0,10.0,2.0,2.0]]},{"isReadingOrderVerified":"true","pageNumber":0,"geomIndex":-1,"issueTypeId":"ReadingOrderIssue:PPTX","dismiss":false,"pageNumbers":[7],"coordinatesList":[[10.0,10.0,2.0,2.0]]},{"isReadingOrderVerified":"true","pageNumber":0,"geomIndex":-1,"issueTypeId":"ReadingOrderIssue:PPTX","dismiss":false,"pageNumbers":[8],"coordinatesList":[[10.0,10.0,2.0,2.0]]},{"isReadingOrderVerified":"true","pageNumber":0,"geomIndex":-1,"issueTypeId":"ReadingOrderIssue:PPTX","dismiss":false,"pageNumbers":[9],"coordinatesList":[[10.0,10.0,2.0,2.0]]},{"isReadingOrderVerified":"true","pageNumber":0,"geomIndex":-1,"issueTypeId":"ReadingOrderIssue:PPTX","dismiss":false,"pageNumbers":[10],"coordinatesList":[[10.0,10.0,2.0,2.0]]},{"isReadingOrderVerified":"true","pageNumber":0,"geomIndex":-1,"issueTypeId":"ReadingOrderIssue:PPTX","dismiss":false,"pageNumbers":[11],"coordinatesList":[[10.0,10.0,2.0,2.0]]},{"isReadingOrderVerified":"true","pageNumber":0,"geomIndex":-1,"issueTypeId":"ReadingOrderIssue:PPTX","dismiss":false,"pageNumbers":[12],"coordinatesList":[[10.0,10.0,2.0,2.0]]},{"pageNumber":0,"geomIndex":2758,"lastGeomIndex":2769,"textElement":"TestAVLTree","tableIndex":-1,"rowIndex":-1,"cellIndex":-1,"fontColor":"#000000","identifiers":{"PARAGRAPH_ID":"44","RUN_ID":"0","SLIDE_ID":"11"},"issueDetails":{"luminance25":"0.316298551618885","isHeader":"true","luminance75":"0.316298551618885","textColor":"cbcbcb"},"issueTypeId":"LowContrastIssue:PPTX","dismiss":false,"pageNumbers":[12],"coordinatesList":[[557.739990234375,437.1400146484375,142.10382080078125,12.107999801635742]]},{"pageNumber":0,"geomIndex":2769,"lastGeomIndex":2776,"textElement":"AVLTree","tableIndex":-1,"rowIndex":-1,"cellIndex":-1,"fontColor":"#000000","identifiers":{"PARAGRAPH_ID":"45","RUN_ID":"0","SLIDE_ID":"11"},"issueDetails":{"luminance25":"0.316298551618885","isHeader":"true","luminance75":"0.316298551618885","textColor":"cbcbcb"},"issueTypeId":"LowContrastIssue:PPTX","dismiss":false,"pageNumbers":[12],"coordinatesList":[[584.9299926757812,158.05999755859375,97.873779296875,12.120107650756836]]},{"pageNumber":0,"geomIndex":-1,"decorative":true,"imageIndex":1,"identifiers":{},"issueTypeId":"MissingAlternativeTextIssue:PPTX","dismiss":false,"pageNumbers":[12],"coordinatesList":[[12.0,512.625,588.0,380.1199951171875]]}]</vt:lpwstr>
  </property>
  <property pid="3" fmtid="{D5CDD505-2E9C-101B-9397-08002B2CF9AE}" name="ReadingOrderVerifiedPages">
    <vt:lpwstr>1,2,3,4,5,6,7,8,9,10,11,12</vt:lpwstr>
  </property>
</Properties>
</file>